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line: we set out to study adiabatic logic in an open PDK. What we actually built is a measurement methodology, and the methodology is what found the interesting results. Two families, one axis, everything scripted.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second bullet. The single most valuable thing we produced is not a number, it is a definition of what is being measured. The out-of-scope list matters: it stops us over-claiming.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faculty asks one question it will be 'why should energy go UP with frequency, when CMOS dynamic power goes up with frequency too but energy PER OPERATION stays flat?' Answer: because in adiabatic logic the per-operation energy itself is a function of transition time. That is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left to right quickly. Land on step 6: three separate defects in our own measurement methodology, all found by testing assumptions rather than accepting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I is the foundation. Nothing in Part III is worth anything unless Part I is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crossing in the middle of the schematic. That is the cross-couple. Contrast with a static CMOS inverter: no VDD rail anywhere on this page, and the output is a pulse, not a level.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about this before showing any graph. A reviewer who assumes f_clock when we plot f_tr will misread every frequency on our axes by a factor of four. Both versions of every plot are in the repo.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units trap is worth 30 seconds. It is exactly the kind of thing that silently invalidates a comparison: two decks on two model sources with two unit conventions. We found it and moved both decks onto the same models before comparing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small step visible on the falling edge of each output: that is the threshold drop, the charge the pFET cannot recover. It is the C|Vtp|^2/2 floor showing up on the scope trace.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into the next slide from that last sentence. The window is where the bug was.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It shows the difference between a student who reports a number and one who interrogates it. Also make the point that the fix is reproducible in one command: hold the data static in the new deck and it reproduces the old 5.3622 fJ exactly — which is how we proved that was the cause.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this reproduces the TREND, not the numbers, of the 1996 paper. The numbers cannot match — different process, different supply, different device. Slide 28 covers that.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place to make the general point: a result that looks too clean should be treated as a suspected bug until proven otherwise. Six identical numbers is not physics.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three was believed by someone — by us, by our advice, or by the obvious reading of the literature — and each was wrong in a way that still simulates and still looks plausible if you only test one bit value.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that the cell is a reconstruction. It is self-consistent and it simulates correctly at both bit values, but if the faculty can point us at Figure 2 of the paper we would like to check it against the primary source.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saying: the four-device version is not a strawman, it is what we were advised to build and it is what the obvious reading of the figure suggests. It simulates. It just always returns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nice one to tell as a story. Everything worked. Every waveform looked right. Then we fed it a 0 and the whole chain reported 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static CMOS, inverting a differential signal really is just swapping the wires, because the rest state is symmetric. In 2LAL it is not symmetric, and that asymmetry is the whole trick. The quad-rail fix is free in transistors per cell but costs 2x the datapath — and we measured exactly 2.000x, which is a good sign the implementation is right.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2LAL counterpart of the ECRL waveform slide. Point at a 1 on node 3 and the 0 that appears on node 4 one tick later. The mutation results are in verification/mutation_report.txt; the non-inverting stage is the one to mention, because its energy is indistinguishable from the correct circuit.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2.000x is the strongest single piece of evidence that the quad-rail construction is implemented correctly. If it were wrong in some subtle way, there is no reason it would land on a clean factor of two at every frequency.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8-stage ring deck. An earlier version of this slide showed a minimum near 100 MHz and a 'leakage floor' below it; both came from the open-chain deck, whose last node was never restored. In both families width helps at high frequency; only 2LAL shows a width optimum at the slow end.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is the headline, but the seven matching conditions are what make it defensible. Lead with those.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and the last are the two that took real work. The model-file mismatch would have quietly invalidated everything; the activity check is the one people usually assume rather than measure.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reviewer challenges any single number in this deck, this is the slide that answers it. Same unit on both sides: one gate, one power cycle, one new data value.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earlier version of this slide reported a tie at 100 MHz and an ECRL win at low frequency. Both came from the open-chain 2LAL deck, whose last node was never restored; closing it into a ring removed them. The ordering now matches what quasi- versus fully-adiabatic theory predicts.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cell in this table is a row in a CSV that came out of a scripted ngspice run. Slide 27 shows the provenance chain for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to run any single point live if they want it. The whole sweep is about three minutes now, and one point is a second and a half.</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'so did you match the paper?' — the answer is no, and explaining why not is the better answer. Read the dark box out loud if the question comes.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first one if asked what is most important. On the inverter 2LAL wins on energy everywhere; real logic is where the topologies diverge, because a 2LAL gate does logic in the pass network while ECRL does it in the pull-down tree.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dark box. Then invite questions, and offer to run a point live.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Only go here if someone wants the raw grid.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481328"/>
            <a:ext cx="10058400" cy="274320"/>
          </a:xfrm>
          <a:prstGeom prst="rect">
            <a:avLst/>
          </a:prstGeom>
          <a:noFill/>
        </p:spPr>
        <p:txBody>
          <a:bodyPr wrap="square" lIns="0" rIns="0" tIns="0" bIns="0" anchor="t">
            <a:spAutoFit/>
          </a:bodyPr>
          <a:lstStyle/>
          <a:p>
            <a:pPr algn="l">
              <a:lnSpc>
                <a:spcPct val="114000"/>
              </a:lnSpc>
            </a:pPr>
            <a:r>
              <a:rPr sz="1150" b="1" i="0">
                <a:solidFill>
                  <a:srgbClr val="7FD1B9"/>
                </a:solidFill>
                <a:latin typeface="Calibri"/>
              </a:rPr>
              <a:t>S K Y 1 3 0   ·   n g s p i c e   ·   A D I A B A T I C   L O G I C</a:t>
            </a:r>
          </a:p>
        </p:txBody>
      </p:sp>
      <p:sp>
        <p:nvSpPr>
          <p:cNvPr id="5" name="TextBox 4"/>
          <p:cNvSpPr txBox="1"/>
          <p:nvPr/>
        </p:nvSpPr>
        <p:spPr>
          <a:xfrm>
            <a:off x="1005840" y="1847088"/>
            <a:ext cx="10241280" cy="1371600"/>
          </a:xfrm>
          <a:prstGeom prst="rect">
            <a:avLst/>
          </a:prstGeom>
          <a:noFill/>
        </p:spPr>
        <p:txBody>
          <a:bodyPr wrap="square" lIns="0" rIns="0" tIns="0" bIns="0" anchor="t">
            <a:spAutoFit/>
          </a:bodyPr>
          <a:lstStyle/>
          <a:p>
            <a:pPr algn="l">
              <a:lnSpc>
                <a:spcPct val="98000"/>
              </a:lnSpc>
            </a:pPr>
            <a:r>
              <a:rPr sz="4600" b="1" i="0">
                <a:solidFill>
                  <a:srgbClr val="FFFFFF"/>
                </a:solidFill>
                <a:latin typeface="Calibri"/>
              </a:rPr>
              <a:t>Adiabatic Logic in SKY130</a:t>
            </a:r>
          </a:p>
          <a:p>
            <a:pPr algn="l">
              <a:lnSpc>
                <a:spcPct val="98000"/>
              </a:lnSpc>
            </a:pPr>
            <a:r>
              <a:rPr sz="4600" b="1" i="0">
                <a:solidFill>
                  <a:srgbClr val="7FD1B9"/>
                </a:solidFill>
                <a:latin typeface="Calibri"/>
              </a:rPr>
              <a:t>ECRL and 2LAL</a:t>
            </a:r>
          </a:p>
        </p:txBody>
      </p:sp>
      <p:sp>
        <p:nvSpPr>
          <p:cNvPr id="6" name="Rectangle 5"/>
          <p:cNvSpPr/>
          <p:nvPr/>
        </p:nvSpPr>
        <p:spPr>
          <a:xfrm>
            <a:off x="1005840" y="3529584"/>
            <a:ext cx="2926080" cy="3175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05840" y="3749039"/>
            <a:ext cx="8778240" cy="822960"/>
          </a:xfrm>
          <a:prstGeom prst="rect">
            <a:avLst/>
          </a:prstGeom>
          <a:noFill/>
        </p:spPr>
        <p:txBody>
          <a:bodyPr wrap="square" lIns="0" rIns="0" tIns="0" bIns="0" anchor="t">
            <a:spAutoFit/>
          </a:bodyPr>
          <a:lstStyle/>
          <a:p>
            <a:pPr algn="l">
              <a:lnSpc>
                <a:spcPct val="125000"/>
              </a:lnSpc>
            </a:pPr>
            <a:r>
              <a:rPr sz="1650" b="0" i="0">
                <a:solidFill>
                  <a:srgbClr val="B4C1D1"/>
                </a:solidFill>
                <a:latin typeface="Calibri"/>
              </a:rPr>
              <a:t>Cell design, an energy-measurement methodology we can defend, and a matched-condition comparison of two adiabatic families</a:t>
            </a:r>
          </a:p>
        </p:txBody>
      </p:sp>
      <p:sp>
        <p:nvSpPr>
          <p:cNvPr id="8" name="TextBox 7"/>
          <p:cNvSpPr txBox="1"/>
          <p:nvPr/>
        </p:nvSpPr>
        <p:spPr>
          <a:xfrm>
            <a:off x="1005840" y="4846320"/>
            <a:ext cx="5486400" cy="822960"/>
          </a:xfrm>
          <a:prstGeom prst="rect">
            <a:avLst/>
          </a:prstGeom>
          <a:noFill/>
        </p:spPr>
        <p:txBody>
          <a:bodyPr wrap="square" lIns="0" rIns="0" tIns="0" bIns="0" anchor="t">
            <a:spAutoFit/>
          </a:bodyPr>
          <a:lstStyle/>
          <a:p>
            <a:pPr algn="l">
              <a:lnSpc>
                <a:spcPct val="114000"/>
              </a:lnSpc>
            </a:pPr>
            <a:r>
              <a:rPr sz="1500" b="1" i="0">
                <a:solidFill>
                  <a:srgbClr val="FFFFFF"/>
                </a:solidFill>
                <a:latin typeface="Calibri"/>
              </a:rPr>
              <a:t>Sairam Kesanapalli</a:t>
            </a:r>
          </a:p>
          <a:p>
            <a:pPr algn="l">
              <a:lnSpc>
                <a:spcPct val="114000"/>
              </a:lnSpc>
              <a:spcBef>
                <a:spcPts val="300"/>
              </a:spcBef>
            </a:pPr>
            <a:r>
              <a:rPr sz="1300" b="0" i="0">
                <a:solidFill>
                  <a:srgbClr val="B4C1D1"/>
                </a:solidFill>
                <a:latin typeface="Calibri"/>
              </a:rPr>
              <a:t>Faculty guide:  ______________</a:t>
            </a:r>
          </a:p>
          <a:p>
            <a:pPr algn="l">
              <a:lnSpc>
                <a:spcPct val="114000"/>
              </a:lnSpc>
              <a:spcBef>
                <a:spcPts val="100"/>
              </a:spcBef>
            </a:pPr>
            <a:r>
              <a:rPr sz="1300" b="0" i="0">
                <a:solidFill>
                  <a:srgbClr val="B4C1D1"/>
                </a:solidFill>
                <a:latin typeface="Calibri"/>
              </a:rPr>
              <a:t>Progress review</a:t>
            </a:r>
          </a:p>
        </p:txBody>
      </p:sp>
      <p:sp>
        <p:nvSpPr>
          <p:cNvPr id="9" name="TextBox 8"/>
          <p:cNvSpPr txBox="1"/>
          <p:nvPr/>
        </p:nvSpPr>
        <p:spPr>
          <a:xfrm>
            <a:off x="6995160" y="4828032"/>
            <a:ext cx="1188720" cy="731520"/>
          </a:xfrm>
          <a:prstGeom prst="rect">
            <a:avLst/>
          </a:prstGeom>
          <a:noFill/>
        </p:spPr>
        <p:txBody>
          <a:bodyPr wrap="square" lIns="0" rIns="0" tIns="0" bIns="0" anchor="t">
            <a:spAutoFit/>
          </a:bodyPr>
          <a:lstStyle/>
          <a:p>
            <a:pPr algn="l">
              <a:lnSpc>
                <a:spcPct val="95000"/>
              </a:lnSpc>
            </a:pPr>
            <a:r>
              <a:rPr sz="2600" b="1" i="0">
                <a:solidFill>
                  <a:srgbClr val="7FD1B9"/>
                </a:solidFill>
                <a:latin typeface="Calibri"/>
              </a:rPr>
              <a:t>2</a:t>
            </a:r>
          </a:p>
          <a:p>
            <a:pPr algn="l">
              <a:lnSpc>
                <a:spcPct val="105000"/>
              </a:lnSpc>
              <a:spcBef>
                <a:spcPts val="200"/>
              </a:spcBef>
            </a:pPr>
            <a:r>
              <a:rPr sz="1050" b="0" i="0">
                <a:solidFill>
                  <a:srgbClr val="B4C1D1"/>
                </a:solidFill>
                <a:latin typeface="Calibri"/>
              </a:rPr>
              <a:t>logic families</a:t>
            </a:r>
          </a:p>
        </p:txBody>
      </p:sp>
      <p:sp>
        <p:nvSpPr>
          <p:cNvPr id="10" name="TextBox 9"/>
          <p:cNvSpPr txBox="1"/>
          <p:nvPr/>
        </p:nvSpPr>
        <p:spPr>
          <a:xfrm>
            <a:off x="8238744" y="4828032"/>
            <a:ext cx="1188720" cy="731520"/>
          </a:xfrm>
          <a:prstGeom prst="rect">
            <a:avLst/>
          </a:prstGeom>
          <a:noFill/>
        </p:spPr>
        <p:txBody>
          <a:bodyPr wrap="square" lIns="0" rIns="0" tIns="0" bIns="0" anchor="t">
            <a:spAutoFit/>
          </a:bodyPr>
          <a:lstStyle/>
          <a:p>
            <a:pPr algn="l">
              <a:lnSpc>
                <a:spcPct val="95000"/>
              </a:lnSpc>
            </a:pPr>
            <a:r>
              <a:rPr sz="2600" b="1" i="0">
                <a:solidFill>
                  <a:srgbClr val="7FD1B9"/>
                </a:solidFill>
                <a:latin typeface="Calibri"/>
              </a:rPr>
              <a:t>6</a:t>
            </a:r>
          </a:p>
          <a:p>
            <a:pPr algn="l">
              <a:lnSpc>
                <a:spcPct val="105000"/>
              </a:lnSpc>
              <a:spcBef>
                <a:spcPts val="200"/>
              </a:spcBef>
            </a:pPr>
            <a:r>
              <a:rPr sz="1050" b="0" i="0">
                <a:solidFill>
                  <a:srgbClr val="B4C1D1"/>
                </a:solidFill>
                <a:latin typeface="Calibri"/>
              </a:rPr>
              <a:t>device widths</a:t>
            </a:r>
          </a:p>
        </p:txBody>
      </p:sp>
      <p:sp>
        <p:nvSpPr>
          <p:cNvPr id="11" name="TextBox 10"/>
          <p:cNvSpPr txBox="1"/>
          <p:nvPr/>
        </p:nvSpPr>
        <p:spPr>
          <a:xfrm>
            <a:off x="9482328" y="4828032"/>
            <a:ext cx="1188720" cy="731520"/>
          </a:xfrm>
          <a:prstGeom prst="rect">
            <a:avLst/>
          </a:prstGeom>
          <a:noFill/>
        </p:spPr>
        <p:txBody>
          <a:bodyPr wrap="square" lIns="0" rIns="0" tIns="0" bIns="0" anchor="t">
            <a:spAutoFit/>
          </a:bodyPr>
          <a:lstStyle/>
          <a:p>
            <a:pPr algn="l">
              <a:lnSpc>
                <a:spcPct val="95000"/>
              </a:lnSpc>
            </a:pPr>
            <a:r>
              <a:rPr sz="2600" b="1" i="0">
                <a:solidFill>
                  <a:srgbClr val="7FD1B9"/>
                </a:solidFill>
                <a:latin typeface="Calibri"/>
              </a:rPr>
              <a:t>7</a:t>
            </a:r>
          </a:p>
          <a:p>
            <a:pPr algn="l">
              <a:lnSpc>
                <a:spcPct val="105000"/>
              </a:lnSpc>
              <a:spcBef>
                <a:spcPts val="200"/>
              </a:spcBef>
            </a:pPr>
            <a:r>
              <a:rPr sz="1050" b="0" i="0">
                <a:solidFill>
                  <a:srgbClr val="B4C1D1"/>
                </a:solidFill>
                <a:latin typeface="Calibri"/>
              </a:rPr>
              <a:t>frequency points</a:t>
            </a:r>
          </a:p>
        </p:txBody>
      </p:sp>
      <p:sp>
        <p:nvSpPr>
          <p:cNvPr id="12" name="TextBox 11"/>
          <p:cNvSpPr txBox="1"/>
          <p:nvPr/>
        </p:nvSpPr>
        <p:spPr>
          <a:xfrm>
            <a:off x="10725912" y="4828032"/>
            <a:ext cx="1188720" cy="731520"/>
          </a:xfrm>
          <a:prstGeom prst="rect">
            <a:avLst/>
          </a:prstGeom>
          <a:noFill/>
        </p:spPr>
        <p:txBody>
          <a:bodyPr wrap="square" lIns="0" rIns="0" tIns="0" bIns="0" anchor="t">
            <a:spAutoFit/>
          </a:bodyPr>
          <a:lstStyle/>
          <a:p>
            <a:pPr algn="l">
              <a:lnSpc>
                <a:spcPct val="95000"/>
              </a:lnSpc>
            </a:pPr>
            <a:r>
              <a:rPr sz="2600" b="1" i="0">
                <a:solidFill>
                  <a:srgbClr val="7FD1B9"/>
                </a:solidFill>
                <a:latin typeface="Calibri"/>
              </a:rPr>
              <a:t>84</a:t>
            </a:r>
          </a:p>
          <a:p>
            <a:pPr algn="l">
              <a:lnSpc>
                <a:spcPct val="105000"/>
              </a:lnSpc>
              <a:spcBef>
                <a:spcPts val="200"/>
              </a:spcBef>
            </a:pPr>
            <a:r>
              <a:rPr sz="1050" b="0" i="0">
                <a:solidFill>
                  <a:srgbClr val="B4C1D1"/>
                </a:solidFill>
                <a:latin typeface="Calibri"/>
              </a:rPr>
              <a:t>SPICE sweep runs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OBJECTIVE AND SCOPE</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What we set out to do</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400800" cy="4480560"/>
          </a:xfrm>
          <a:prstGeom prst="rect">
            <a:avLst/>
          </a:prstGeom>
          <a:noFill/>
        </p:spPr>
        <p:txBody>
          <a:bodyPr wrap="square" lIns="0" rIns="0" tIns="0" bIns="0" anchor="t">
            <a:spAutoFit/>
          </a:bodyPr>
          <a:lstStyle/>
          <a:p>
            <a:pPr algn="l" marL="237744" indent="-237744">
              <a:lnSpc>
                <a:spcPct val="114000"/>
              </a:lnSpc>
              <a:spcBef>
                <a:spcPts val="1300"/>
              </a:spcBef>
              <a:buClr>
                <a:srgbClr val="A4237A"/>
              </a:buClr>
              <a:buFont typeface="Arial"/>
              <a:buChar char="▪"/>
            </a:pPr>
            <a:r>
              <a:rPr sz="1550" b="1" i="0">
                <a:solidFill>
                  <a:srgbClr val="1A2233"/>
                </a:solidFill>
                <a:latin typeface="Calibri"/>
              </a:rPr>
              <a:t>Design and verify an ECRL inverter in an open PDK.</a:t>
            </a:r>
            <a:r>
              <a:rPr sz="1550" b="0" i="0">
                <a:solidFill>
                  <a:srgbClr val="3D4756"/>
                </a:solidFill>
                <a:latin typeface="Calibri"/>
              </a:rPr>
              <a:t> Not a textbook sketch — a netlist in SKY130 that simulates and is correct at both bit values.</a:t>
            </a:r>
          </a:p>
          <a:p>
            <a:pPr algn="l" marL="237744" indent="-237744">
              <a:lnSpc>
                <a:spcPct val="114000"/>
              </a:lnSpc>
              <a:spcBef>
                <a:spcPts val="1300"/>
              </a:spcBef>
              <a:buClr>
                <a:srgbClr val="A4237A"/>
              </a:buClr>
              <a:buFont typeface="Arial"/>
              <a:buChar char="▪"/>
            </a:pPr>
            <a:r>
              <a:rPr sz="1550" b="1" i="0">
                <a:solidFill>
                  <a:srgbClr val="1A2233"/>
                </a:solidFill>
                <a:latin typeface="Calibri"/>
              </a:rPr>
              <a:t>Establish an energy metric that can be defended.</a:t>
            </a:r>
            <a:r>
              <a:rPr sz="1550" b="0" i="0">
                <a:solidFill>
                  <a:srgbClr val="3D4756"/>
                </a:solidFill>
                <a:latin typeface="Calibri"/>
              </a:rPr>
              <a:t> A number that is small is worthless if we cannot say exactly what operation it is the energy of.</a:t>
            </a:r>
          </a:p>
          <a:p>
            <a:pPr algn="l" marL="237744" indent="-237744">
              <a:lnSpc>
                <a:spcPct val="114000"/>
              </a:lnSpc>
              <a:spcBef>
                <a:spcPts val="1300"/>
              </a:spcBef>
              <a:buClr>
                <a:srgbClr val="A4237A"/>
              </a:buClr>
              <a:buFont typeface="Arial"/>
              <a:buChar char="▪"/>
            </a:pPr>
            <a:r>
              <a:rPr sz="1550" b="1" i="0">
                <a:solidFill>
                  <a:srgbClr val="1A2233"/>
                </a:solidFill>
                <a:latin typeface="Calibri"/>
              </a:rPr>
              <a:t>Measure how that energy moves with operating frequency and with device width.</a:t>
            </a:r>
            <a:r>
              <a:rPr sz="1550" b="0" i="0">
                <a:solidFill>
                  <a:srgbClr val="3D4756"/>
                </a:solidFill>
                <a:latin typeface="Calibri"/>
              </a:rPr>
              <a:t> These are the two axes the original ECRL paper uses.</a:t>
            </a:r>
          </a:p>
          <a:p>
            <a:pPr algn="l" marL="237744" indent="-237744">
              <a:lnSpc>
                <a:spcPct val="114000"/>
              </a:lnSpc>
              <a:spcBef>
                <a:spcPts val="1300"/>
              </a:spcBef>
              <a:buClr>
                <a:srgbClr val="A4237A"/>
              </a:buClr>
              <a:buFont typeface="Arial"/>
              <a:buChar char="▪"/>
            </a:pPr>
            <a:r>
              <a:rPr sz="1550" b="1" i="0">
                <a:solidFill>
                  <a:srgbClr val="1A2233"/>
                </a:solidFill>
                <a:latin typeface="Calibri"/>
              </a:rPr>
              <a:t>Repeat all of it for a second adiabatic family, 2LAL, and compare under matched conditions.</a:t>
            </a:r>
            <a:r>
              <a:rPr sz="1550" b="0" i="0">
                <a:solidFill>
                  <a:srgbClr val="3D4756"/>
                </a:solidFill>
                <a:latin typeface="Calibri"/>
              </a:rPr>
              <a:t> Matched meaning every one of seven variables held equal, and checked.</a:t>
            </a:r>
          </a:p>
        </p:txBody>
      </p:sp>
      <p:sp>
        <p:nvSpPr>
          <p:cNvPr id="8" name="Rounded Rectangle 7"/>
          <p:cNvSpPr/>
          <p:nvPr/>
        </p:nvSpPr>
        <p:spPr>
          <a:xfrm>
            <a:off x="7498079" y="1371600"/>
            <a:ext cx="4032504" cy="2633472"/>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35824" y="1591056"/>
            <a:ext cx="3566160" cy="2286000"/>
          </a:xfrm>
          <a:prstGeom prst="rect">
            <a:avLst/>
          </a:prstGeom>
          <a:noFill/>
        </p:spPr>
        <p:txBody>
          <a:bodyPr wrap="square" lIns="0" rIns="0" tIns="0" bIns="0" anchor="t">
            <a:spAutoFit/>
          </a:bodyPr>
          <a:lstStyle/>
          <a:p>
            <a:pPr algn="l">
              <a:lnSpc>
                <a:spcPct val="114000"/>
              </a:lnSpc>
            </a:pPr>
            <a:r>
              <a:rPr sz="1400" b="1" i="0">
                <a:solidFill>
                  <a:srgbClr val="1A2233"/>
                </a:solidFill>
                <a:latin typeface="Calibri"/>
              </a:rPr>
              <a:t>Deliberately out of scope, for now</a:t>
            </a:r>
          </a:p>
          <a:p>
            <a:pPr algn="l" marL="237744" indent="-237744">
              <a:lnSpc>
                <a:spcPct val="114000"/>
              </a:lnSpc>
              <a:spcBef>
                <a:spcPts val="900"/>
              </a:spcBef>
              <a:buClr>
                <a:srgbClr val="768295"/>
              </a:buClr>
              <a:buFont typeface="Arial"/>
              <a:buChar char="▪"/>
            </a:pPr>
            <a:r>
              <a:rPr sz="1350" b="0" i="0">
                <a:solidFill>
                  <a:srgbClr val="768295"/>
                </a:solidFill>
                <a:latin typeface="Calibri"/>
              </a:rPr>
              <a:t>Multi-gate logic — NAND, NOR, chains</a:t>
            </a:r>
          </a:p>
          <a:p>
            <a:pPr algn="l" marL="237744" indent="-237744">
              <a:lnSpc>
                <a:spcPct val="114000"/>
              </a:lnSpc>
              <a:spcBef>
                <a:spcPts val="900"/>
              </a:spcBef>
              <a:buClr>
                <a:srgbClr val="768295"/>
              </a:buClr>
              <a:buFont typeface="Arial"/>
              <a:buChar char="▪"/>
            </a:pPr>
            <a:r>
              <a:rPr sz="1350" b="0" i="0">
                <a:solidFill>
                  <a:srgbClr val="768295"/>
                </a:solidFill>
                <a:latin typeface="Calibri"/>
              </a:rPr>
              <a:t>Physical layout and extracted parasitics</a:t>
            </a:r>
          </a:p>
          <a:p>
            <a:pPr algn="l" marL="237744" indent="-237744">
              <a:lnSpc>
                <a:spcPct val="114000"/>
              </a:lnSpc>
              <a:spcBef>
                <a:spcPts val="900"/>
              </a:spcBef>
              <a:buClr>
                <a:srgbClr val="768295"/>
              </a:buClr>
              <a:buFont typeface="Arial"/>
              <a:buChar char="▪"/>
            </a:pPr>
            <a:r>
              <a:rPr sz="1350" b="0" i="0">
                <a:solidFill>
                  <a:srgbClr val="768295"/>
                </a:solidFill>
                <a:latin typeface="Calibri"/>
              </a:rPr>
              <a:t>Power-clock generator design</a:t>
            </a:r>
          </a:p>
          <a:p>
            <a:pPr algn="l" marL="237744" indent="-237744">
              <a:lnSpc>
                <a:spcPct val="114000"/>
              </a:lnSpc>
              <a:spcBef>
                <a:spcPts val="900"/>
              </a:spcBef>
              <a:buClr>
                <a:srgbClr val="768295"/>
              </a:buClr>
              <a:buFont typeface="Arial"/>
              <a:buChar char="▪"/>
            </a:pPr>
            <a:r>
              <a:rPr sz="1350" b="0" i="0">
                <a:solidFill>
                  <a:srgbClr val="768295"/>
                </a:solidFill>
                <a:latin typeface="Calibri"/>
              </a:rPr>
              <a:t>Corner and temperature spread beyond tt</a:t>
            </a:r>
          </a:p>
          <a:p>
            <a:pPr algn="l" marL="237744" indent="-237744">
              <a:lnSpc>
                <a:spcPct val="114000"/>
              </a:lnSpc>
              <a:spcBef>
                <a:spcPts val="900"/>
              </a:spcBef>
              <a:buClr>
                <a:srgbClr val="768295"/>
              </a:buClr>
              <a:buFont typeface="Arial"/>
              <a:buChar char="▪"/>
            </a:pPr>
            <a:r>
              <a:rPr sz="1350" b="0" i="0">
                <a:solidFill>
                  <a:srgbClr val="768295"/>
                </a:solidFill>
                <a:latin typeface="Calibri"/>
              </a:rPr>
              <a:t>Supply and load-capacitance sweeps</a:t>
            </a:r>
          </a:p>
          <a:p>
            <a:pPr algn="l">
              <a:lnSpc>
                <a:spcPct val="114000"/>
              </a:lnSpc>
              <a:spcBef>
                <a:spcPts val="1400"/>
              </a:spcBef>
            </a:pPr>
            <a:r>
              <a:rPr sz="1250" b="0" i="1">
                <a:solidFill>
                  <a:srgbClr val="768295"/>
                </a:solidFill>
                <a:latin typeface="Calibri"/>
              </a:rPr>
              <a:t>Each of these changes the answer, so none of them is quoted as if it had been done.</a:t>
            </a:r>
          </a:p>
        </p:txBody>
      </p:sp>
      <p:sp>
        <p:nvSpPr>
          <p:cNvPr id="10" name="Rounded Rectangle 9"/>
          <p:cNvSpPr/>
          <p:nvPr/>
        </p:nvSpPr>
        <p:spPr>
          <a:xfrm>
            <a:off x="7498079" y="4224528"/>
            <a:ext cx="4032504" cy="16459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498079" y="4224528"/>
            <a:ext cx="41148" cy="164592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699248" y="4352544"/>
            <a:ext cx="3648456" cy="1389888"/>
          </a:xfrm>
          <a:prstGeom prst="rect">
            <a:avLst/>
          </a:prstGeom>
          <a:noFill/>
        </p:spPr>
        <p:txBody>
          <a:bodyPr wrap="square" lIns="0" rIns="0" tIns="0" bIns="0" anchor="t">
            <a:spAutoFit/>
          </a:bodyPr>
          <a:lstStyle/>
          <a:p>
            <a:pPr algn="l">
              <a:lnSpc>
                <a:spcPct val="114000"/>
              </a:lnSpc>
            </a:pPr>
            <a:r>
              <a:rPr sz="1350" b="1" i="0">
                <a:solidFill>
                  <a:srgbClr val="A4237A"/>
                </a:solidFill>
                <a:latin typeface="Calibri"/>
              </a:rPr>
              <a:t>Status in one sentence</a:t>
            </a:r>
          </a:p>
          <a:p>
            <a:pPr algn="l">
              <a:lnSpc>
                <a:spcPct val="114000"/>
              </a:lnSpc>
              <a:spcBef>
                <a:spcPts val="400"/>
              </a:spcBef>
            </a:pPr>
            <a:r>
              <a:rPr sz="1250" b="0" i="0">
                <a:solidFill>
                  <a:srgbClr val="3D4756"/>
                </a:solidFill>
                <a:latin typeface="Calibri"/>
              </a:rPr>
              <a:t>The ECRL baseline is established and validated, the 2LAL cell is reconstructed and validated, and the two are compared under matched conditions. Next is real logic, not just an inverter.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3</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BACKGROUND</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Why adiabatic logic, in one slide</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309360" cy="4480560"/>
          </a:xfrm>
          <a:prstGeom prst="rect">
            <a:avLst/>
          </a:prstGeom>
          <a:noFill/>
        </p:spPr>
        <p:txBody>
          <a:bodyPr wrap="square" lIns="0" rIns="0" tIns="0" bIns="0" anchor="t">
            <a:spAutoFit/>
          </a:bodyPr>
          <a:lstStyle/>
          <a:p>
            <a:pPr algn="l" marL="237744" indent="-237744">
              <a:lnSpc>
                <a:spcPct val="114000"/>
              </a:lnSpc>
              <a:buClr>
                <a:srgbClr val="768295"/>
              </a:buClr>
              <a:buFont typeface="Arial"/>
              <a:buChar char="▪"/>
            </a:pPr>
            <a:r>
              <a:rPr sz="1550" b="1" i="0">
                <a:solidFill>
                  <a:srgbClr val="1A2233"/>
                </a:solidFill>
                <a:latin typeface="Calibri"/>
              </a:rPr>
              <a:t>Conventional CMOS. </a:t>
            </a:r>
            <a:r>
              <a:rPr sz="1550" b="0" i="0">
                <a:solidFill>
                  <a:srgbClr val="3D4756"/>
                </a:solidFill>
                <a:latin typeface="Calibri"/>
              </a:rPr>
              <a:t>Charging a node through a switch from a fixed supply costs ½CV², and it costs that no matter how slowly you do it. The other half is burned to ground on the way back down.</a:t>
            </a:r>
          </a:p>
          <a:p>
            <a:pPr algn="l" marL="237744" indent="-237744">
              <a:lnSpc>
                <a:spcPct val="114000"/>
              </a:lnSpc>
              <a:spcBef>
                <a:spcPts val="1400"/>
              </a:spcBef>
              <a:buClr>
                <a:srgbClr val="12866B"/>
              </a:buClr>
              <a:buFont typeface="Arial"/>
              <a:buChar char="▪"/>
            </a:pPr>
            <a:r>
              <a:rPr sz="1550" b="1" i="0">
                <a:solidFill>
                  <a:srgbClr val="1A2233"/>
                </a:solidFill>
                <a:latin typeface="Calibri"/>
              </a:rPr>
              <a:t>Adiabatic. </a:t>
            </a:r>
            <a:r>
              <a:rPr sz="1550" b="0" i="0">
                <a:solidFill>
                  <a:srgbClr val="3D4756"/>
                </a:solidFill>
                <a:latin typeface="Calibri"/>
              </a:rPr>
              <a:t>Drive the node from a supply that ramps instead. Now the loss is roughly (2RC/T)·CV² — it scales as 1/T. Stretch the transition and you dissipate less, and the charge that CMOS would have dumped to ground is drawn back into the clock.</a:t>
            </a:r>
          </a:p>
          <a:p>
            <a:pPr algn="l" marL="237744" indent="-237744">
              <a:lnSpc>
                <a:spcPct val="114000"/>
              </a:lnSpc>
              <a:spcBef>
                <a:spcPts val="1400"/>
              </a:spcBef>
              <a:buClr>
                <a:srgbClr val="C0242C"/>
              </a:buClr>
              <a:buFont typeface="Arial"/>
              <a:buChar char="▪"/>
            </a:pPr>
            <a:r>
              <a:rPr sz="1550" b="1" i="0">
                <a:solidFill>
                  <a:srgbClr val="1A2233"/>
                </a:solidFill>
                <a:latin typeface="Calibri"/>
              </a:rPr>
              <a:t>But it does not reach zero. </a:t>
            </a:r>
            <a:r>
              <a:rPr sz="1550" b="0" i="0">
                <a:solidFill>
                  <a:srgbClr val="3D4756"/>
                </a:solidFill>
                <a:latin typeface="Calibri"/>
              </a:rPr>
              <a:t>Two floors stop it: the threshold drop the switch cannot recover — in ECRL that is C·|Vtp|²/2 — and leakage, which gets worse the longer you hold the node, so it grows exactly where the RC term shrinks.</a:t>
            </a:r>
          </a:p>
          <a:p>
            <a:pPr algn="l">
              <a:lnSpc>
                <a:spcPct val="114000"/>
              </a:lnSpc>
              <a:spcBef>
                <a:spcPts val="1800"/>
              </a:spcBef>
            </a:pPr>
            <a:r>
              <a:rPr sz="1450" b="1" i="0">
                <a:solidFill>
                  <a:srgbClr val="1A2233"/>
                </a:solidFill>
                <a:latin typeface="Calibri"/>
              </a:rPr>
              <a:t>Every curve in this deck is that trade being measured: an RC term falling with T, and a leakage term rising with it.</a:t>
            </a:r>
          </a:p>
        </p:txBody>
      </p:sp>
      <p:pic>
        <p:nvPicPr>
          <p:cNvPr id="8" name="Picture 7" descr="fig_eq_regimes.png"/>
          <p:cNvPicPr>
            <a:picLocks noChangeAspect="1"/>
          </p:cNvPicPr>
          <p:nvPr/>
        </p:nvPicPr>
        <p:blipFill>
          <a:blip r:embed="rId2"/>
          <a:stretch>
            <a:fillRect/>
          </a:stretch>
        </p:blipFill>
        <p:spPr>
          <a:xfrm>
            <a:off x="7360920" y="1371600"/>
            <a:ext cx="4169663" cy="1453896"/>
          </a:xfrm>
          <a:prstGeom prst="rect">
            <a:avLst/>
          </a:prstGeom>
        </p:spPr>
      </p:pic>
      <p:sp>
        <p:nvSpPr>
          <p:cNvPr id="9" name="Rounded Rectangle 8"/>
          <p:cNvSpPr/>
          <p:nvPr/>
        </p:nvSpPr>
        <p:spPr>
          <a:xfrm>
            <a:off x="7360920" y="3054096"/>
            <a:ext cx="4169663" cy="1883664"/>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360920" y="3054096"/>
            <a:ext cx="41148" cy="1883664"/>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562088" y="3182112"/>
            <a:ext cx="3785615" cy="1627632"/>
          </a:xfrm>
          <a:prstGeom prst="rect">
            <a:avLst/>
          </a:prstGeom>
          <a:noFill/>
        </p:spPr>
        <p:txBody>
          <a:bodyPr wrap="square" lIns="0" rIns="0" tIns="0" bIns="0" anchor="t">
            <a:spAutoFit/>
          </a:bodyPr>
          <a:lstStyle/>
          <a:p>
            <a:pPr algn="l">
              <a:lnSpc>
                <a:spcPct val="114000"/>
              </a:lnSpc>
            </a:pPr>
            <a:r>
              <a:rPr sz="1350" b="1" i="0">
                <a:solidFill>
                  <a:srgbClr val="A4237A"/>
                </a:solidFill>
                <a:latin typeface="Calibri"/>
              </a:rPr>
              <a:t>What that means for the graphs</a:t>
            </a:r>
          </a:p>
          <a:p>
            <a:pPr algn="l">
              <a:lnSpc>
                <a:spcPct val="114000"/>
              </a:lnSpc>
              <a:spcBef>
                <a:spcPts val="400"/>
              </a:spcBef>
            </a:pPr>
            <a:r>
              <a:rPr sz="1250" b="0" i="0">
                <a:solidFill>
                  <a:srgbClr val="3D4756"/>
                </a:solidFill>
                <a:latin typeface="Calibri"/>
              </a:rPr>
              <a:t>Energy per operation should rise with frequency — the shorter the transition, the less adiabatic it is. That rising trend is the signature we are looking for, and it is the qualitative result the 1996 ECRL paper reports.</a:t>
            </a:r>
          </a:p>
        </p:txBody>
      </p:sp>
      <p:sp>
        <p:nvSpPr>
          <p:cNvPr id="12" name="Rounded Rectangle 11"/>
          <p:cNvSpPr/>
          <p:nvPr/>
        </p:nvSpPr>
        <p:spPr>
          <a:xfrm>
            <a:off x="7360920" y="5084064"/>
            <a:ext cx="4169663" cy="1133856"/>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5084064"/>
            <a:ext cx="41148" cy="1133856"/>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62088" y="5212079"/>
            <a:ext cx="3785615" cy="877824"/>
          </a:xfrm>
          <a:prstGeom prst="rect">
            <a:avLst/>
          </a:prstGeom>
          <a:noFill/>
        </p:spPr>
        <p:txBody>
          <a:bodyPr wrap="square" lIns="0" rIns="0" tIns="0" bIns="0" anchor="t">
            <a:spAutoFit/>
          </a:bodyPr>
          <a:lstStyle/>
          <a:p>
            <a:pPr algn="l">
              <a:lnSpc>
                <a:spcPct val="114000"/>
              </a:lnSpc>
            </a:pPr>
            <a:r>
              <a:rPr sz="1250" b="1" i="0">
                <a:solidFill>
                  <a:srgbClr val="C0242C"/>
                </a:solidFill>
                <a:latin typeface="Calibri"/>
              </a:rPr>
              <a:t>The two floors underneath it</a:t>
            </a:r>
          </a:p>
          <a:p>
            <a:pPr algn="l">
              <a:lnSpc>
                <a:spcPct val="114000"/>
              </a:lnSpc>
              <a:spcBef>
                <a:spcPts val="400"/>
              </a:spcBef>
            </a:pPr>
            <a:r>
              <a:rPr sz="1200" b="0" i="0">
                <a:solidFill>
                  <a:srgbClr val="3D4756"/>
                </a:solidFill>
                <a:latin typeface="Calibri"/>
              </a:rPr>
              <a:t>Threshold: C·|Vtp|²/2, independent of speed. Leakage: it grows with T, so it fights the RC term from the other side.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4</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ROADMAP</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How the work actually went</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flow.png"/>
          <p:cNvPicPr>
            <a:picLocks noChangeAspect="1"/>
          </p:cNvPicPr>
          <p:nvPr/>
        </p:nvPicPr>
        <p:blipFill>
          <a:blip r:embed="rId2"/>
          <a:stretch>
            <a:fillRect/>
          </a:stretch>
        </p:blipFill>
        <p:spPr>
          <a:xfrm>
            <a:off x="873067" y="1389888"/>
            <a:ext cx="10445560" cy="4160520"/>
          </a:xfrm>
          <a:prstGeom prst="rect">
            <a:avLst/>
          </a:prstGeom>
        </p:spPr>
      </p:pic>
      <p:sp>
        <p:nvSpPr>
          <p:cNvPr id="8" name="TextBox 7"/>
          <p:cNvSpPr txBox="1"/>
          <p:nvPr/>
        </p:nvSpPr>
        <p:spPr>
          <a:xfrm>
            <a:off x="658368" y="5650992"/>
            <a:ext cx="10874959" cy="585216"/>
          </a:xfrm>
          <a:prstGeom prst="rect">
            <a:avLst/>
          </a:prstGeom>
          <a:noFill/>
        </p:spPr>
        <p:txBody>
          <a:bodyPr wrap="square" lIns="0" rIns="0" tIns="0" bIns="0" anchor="t">
            <a:spAutoFit/>
          </a:bodyPr>
          <a:lstStyle/>
          <a:p>
            <a:pPr algn="ctr">
              <a:lnSpc>
                <a:spcPct val="114000"/>
              </a:lnSpc>
            </a:pPr>
            <a:r>
              <a:rPr sz="1400" b="1" i="0">
                <a:solidFill>
                  <a:srgbClr val="1A2233"/>
                </a:solidFill>
                <a:latin typeface="Calibri"/>
              </a:rPr>
              <a:t>Steps 4 to 9 each produced a correction to something we or our sources believed. Those corrections, not the raw energy numbers, are the substance of this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5A6B82"/>
                </a:solidFill>
                <a:latin typeface="Calibri"/>
              </a:rPr>
              <a:t>ECRL &amp; 2LAL in SKY130  ·  progress review</a:t>
            </a:r>
          </a:p>
        </p:txBody>
      </p:sp>
      <p:sp>
        <p:nvSpPr>
          <p:cNvPr id="4" name="TextBox 3"/>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5A6B82"/>
                </a:solidFill>
                <a:latin typeface="Calibri"/>
              </a:rPr>
              <a:t>5</a:t>
            </a:r>
          </a:p>
        </p:txBody>
      </p:sp>
      <p:sp>
        <p:nvSpPr>
          <p:cNvPr id="5" name="Rectangle 4"/>
          <p:cNvSpPr/>
          <p:nvPr/>
        </p:nvSpPr>
        <p:spPr>
          <a:xfrm>
            <a:off x="0" y="0"/>
            <a:ext cx="146304" cy="685800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8720" y="2606040"/>
            <a:ext cx="9144000" cy="1554480"/>
          </a:xfrm>
          <a:prstGeom prst="rect">
            <a:avLst/>
          </a:prstGeom>
          <a:noFill/>
        </p:spPr>
        <p:txBody>
          <a:bodyPr wrap="square" lIns="0" rIns="0" tIns="0" bIns="0" anchor="t">
            <a:spAutoFit/>
          </a:bodyPr>
          <a:lstStyle/>
          <a:p>
            <a:pPr algn="l">
              <a:lnSpc>
                <a:spcPct val="114000"/>
              </a:lnSpc>
            </a:pPr>
            <a:r>
              <a:rPr sz="1300" b="1" i="0">
                <a:solidFill>
                  <a:srgbClr val="7FD1B9"/>
                </a:solidFill>
                <a:latin typeface="Calibri"/>
              </a:rPr>
              <a:t>PART I</a:t>
            </a:r>
          </a:p>
          <a:p>
            <a:pPr algn="l">
              <a:lnSpc>
                <a:spcPct val="100000"/>
              </a:lnSpc>
              <a:spcBef>
                <a:spcPts val="800"/>
              </a:spcBef>
            </a:pPr>
            <a:r>
              <a:rPr sz="4200" b="1" i="0">
                <a:solidFill>
                  <a:srgbClr val="FFFFFF"/>
                </a:solidFill>
                <a:latin typeface="Calibri"/>
              </a:rPr>
              <a:t>The ECRL baseline</a:t>
            </a:r>
          </a:p>
          <a:p>
            <a:pPr algn="l">
              <a:lnSpc>
                <a:spcPct val="114000"/>
              </a:lnSpc>
              <a:spcBef>
                <a:spcPts val="1200"/>
              </a:spcBef>
            </a:pPr>
            <a:r>
              <a:rPr sz="1550" b="0" i="0">
                <a:solidFill>
                  <a:srgbClr val="B4C1D1"/>
                </a:solidFill>
                <a:latin typeface="Calibri"/>
              </a:rPr>
              <a:t>Cell → setup → functional proof → energy definition → the defect it exposed → sweeps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6</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TOPOLOGY</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The ECRL cell: four transistors and no DC supply</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ecrl_cell.png"/>
          <p:cNvPicPr>
            <a:picLocks noChangeAspect="1"/>
          </p:cNvPicPr>
          <p:nvPr/>
        </p:nvPicPr>
        <p:blipFill>
          <a:blip r:embed="rId2"/>
          <a:stretch>
            <a:fillRect/>
          </a:stretch>
        </p:blipFill>
        <p:spPr>
          <a:xfrm>
            <a:off x="566928" y="1449324"/>
            <a:ext cx="6446520" cy="4526279"/>
          </a:xfrm>
          <a:prstGeom prst="rect">
            <a:avLst/>
          </a:prstGeom>
        </p:spPr>
      </p:pic>
      <p:sp>
        <p:nvSpPr>
          <p:cNvPr id="8" name="TextBox 7"/>
          <p:cNvSpPr txBox="1"/>
          <p:nvPr/>
        </p:nvSpPr>
        <p:spPr>
          <a:xfrm>
            <a:off x="7269480" y="1426464"/>
            <a:ext cx="4261104" cy="3895344"/>
          </a:xfrm>
          <a:prstGeom prst="rect">
            <a:avLst/>
          </a:prstGeom>
          <a:noFill/>
        </p:spPr>
        <p:txBody>
          <a:bodyPr wrap="square" lIns="0" rIns="0" tIns="0" bIns="0" anchor="t">
            <a:spAutoFit/>
          </a:bodyPr>
          <a:lstStyle/>
          <a:p>
            <a:pPr algn="l" marL="237744" indent="-237744">
              <a:lnSpc>
                <a:spcPct val="114000"/>
              </a:lnSpc>
              <a:buClr>
                <a:srgbClr val="A4237A"/>
              </a:buClr>
              <a:buFont typeface="Arial"/>
              <a:buChar char="▪"/>
            </a:pPr>
            <a:r>
              <a:rPr sz="1450" b="1" i="0">
                <a:solidFill>
                  <a:srgbClr val="1A2233"/>
                </a:solidFill>
                <a:latin typeface="Calibri"/>
              </a:rPr>
              <a:t>Four devices. </a:t>
            </a:r>
            <a:r>
              <a:rPr sz="1450" b="0" i="0">
                <a:solidFill>
                  <a:srgbClr val="3D4756"/>
                </a:solidFill>
                <a:latin typeface="Calibri"/>
              </a:rPr>
              <a:t>A cross-coupled PMOS pair sitting on the power clock, and two NMOS pull-downs driven by the differential input.</a:t>
            </a:r>
          </a:p>
          <a:p>
            <a:pPr algn="l" marL="237744" indent="-237744">
              <a:lnSpc>
                <a:spcPct val="114000"/>
              </a:lnSpc>
              <a:spcBef>
                <a:spcPts val="1100"/>
              </a:spcBef>
              <a:buClr>
                <a:srgbClr val="A4237A"/>
              </a:buClr>
              <a:buFont typeface="Arial"/>
              <a:buChar char="▪"/>
            </a:pPr>
            <a:r>
              <a:rPr sz="1450" b="1" i="0">
                <a:solidFill>
                  <a:srgbClr val="1A2233"/>
                </a:solidFill>
                <a:latin typeface="Calibri"/>
              </a:rPr>
              <a:t>The clock is the supply. </a:t>
            </a:r>
            <a:r>
              <a:rPr sz="1450" b="0" i="0">
                <a:solidFill>
                  <a:srgbClr val="3D4756"/>
                </a:solidFill>
                <a:latin typeface="Calibri"/>
              </a:rPr>
              <a:t>Φ ramps up, the selected output follows it up, Φ ramps back down and pulls the charge back out. There is no rail to dump charge into.</a:t>
            </a:r>
          </a:p>
          <a:p>
            <a:pPr algn="l" marL="237744" indent="-237744">
              <a:lnSpc>
                <a:spcPct val="114000"/>
              </a:lnSpc>
              <a:spcBef>
                <a:spcPts val="1100"/>
              </a:spcBef>
              <a:buClr>
                <a:srgbClr val="A4237A"/>
              </a:buClr>
              <a:buFont typeface="Arial"/>
              <a:buChar char="▪"/>
            </a:pPr>
            <a:r>
              <a:rPr sz="1450" b="1" i="0">
                <a:solidFill>
                  <a:srgbClr val="1A2233"/>
                </a:solidFill>
                <a:latin typeface="Calibri"/>
              </a:rPr>
              <a:t>Differential by construction. </a:t>
            </a:r>
            <a:r>
              <a:rPr sz="1450" b="0" i="0">
                <a:solidFill>
                  <a:srgbClr val="3D4756"/>
                </a:solidFill>
                <a:latin typeface="Calibri"/>
              </a:rPr>
              <a:t>OUT = NOT IN and OUTB = IN. Exactly one of the two outputs pulses on every cycle, whatever the data is doing.</a:t>
            </a:r>
          </a:p>
          <a:p>
            <a:pPr algn="l" marL="237744" indent="-237744">
              <a:lnSpc>
                <a:spcPct val="114000"/>
              </a:lnSpc>
              <a:spcBef>
                <a:spcPts val="1100"/>
              </a:spcBef>
              <a:buClr>
                <a:srgbClr val="A4237A"/>
              </a:buClr>
              <a:buFont typeface="Arial"/>
              <a:buChar char="▪"/>
            </a:pPr>
            <a:r>
              <a:rPr sz="1450" b="1" i="0">
                <a:solidFill>
                  <a:srgbClr val="1A2233"/>
                </a:solidFill>
                <a:latin typeface="Calibri"/>
              </a:rPr>
              <a:t>The cross-coupling is what latches. </a:t>
            </a:r>
            <a:r>
              <a:rPr sz="1450" b="0" i="0">
                <a:solidFill>
                  <a:srgbClr val="3D4756"/>
                </a:solidFill>
                <a:latin typeface="Calibri"/>
              </a:rPr>
              <a:t>Each PMOS gate is tied to the opposite output, so once one side rises it holds the other down.</a:t>
            </a:r>
          </a:p>
        </p:txBody>
      </p:sp>
      <p:sp>
        <p:nvSpPr>
          <p:cNvPr id="9" name="Rounded Rectangle 8"/>
          <p:cNvSpPr/>
          <p:nvPr/>
        </p:nvSpPr>
        <p:spPr>
          <a:xfrm>
            <a:off x="7269480" y="5431536"/>
            <a:ext cx="4261104" cy="969264"/>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52360" y="5532120"/>
            <a:ext cx="3931920" cy="768096"/>
          </a:xfrm>
          <a:prstGeom prst="rect">
            <a:avLst/>
          </a:prstGeom>
          <a:noFill/>
        </p:spPr>
        <p:txBody>
          <a:bodyPr wrap="square" lIns="0" rIns="0" tIns="0" bIns="0" anchor="t">
            <a:spAutoFit/>
          </a:bodyPr>
          <a:lstStyle/>
          <a:p>
            <a:pPr algn="l">
              <a:lnSpc>
                <a:spcPct val="105000"/>
              </a:lnSpc>
            </a:pPr>
            <a:r>
              <a:rPr sz="1050" b="0" i="0">
                <a:solidFill>
                  <a:srgbClr val="2B3545"/>
                </a:solidFill>
                <a:latin typeface="Consolas"/>
              </a:rPr>
              <a:t>XMP1 OUTB OUT  PHI PHI  pfet_01v8</a:t>
            </a:r>
          </a:p>
          <a:p>
            <a:pPr algn="l">
              <a:lnSpc>
                <a:spcPct val="105000"/>
              </a:lnSpc>
            </a:pPr>
            <a:r>
              <a:rPr sz="1050" b="0" i="0">
                <a:solidFill>
                  <a:srgbClr val="2B3545"/>
                </a:solidFill>
                <a:latin typeface="Consolas"/>
              </a:rPr>
              <a:t>XMP2 OUT  OUTB PHI PHI  pfet_01v8</a:t>
            </a:r>
          </a:p>
          <a:p>
            <a:pPr algn="l">
              <a:lnSpc>
                <a:spcPct val="105000"/>
              </a:lnSpc>
            </a:pPr>
            <a:r>
              <a:rPr sz="1050" b="0" i="0">
                <a:solidFill>
                  <a:srgbClr val="2B3545"/>
                </a:solidFill>
                <a:latin typeface="Consolas"/>
              </a:rPr>
              <a:t>XMN1 OUTB INB  0   0    nfet_01v8</a:t>
            </a:r>
          </a:p>
          <a:p>
            <a:pPr algn="l">
              <a:lnSpc>
                <a:spcPct val="105000"/>
              </a:lnSpc>
            </a:pPr>
            <a:r>
              <a:rPr sz="1050" b="0" i="0">
                <a:solidFill>
                  <a:srgbClr val="2B3545"/>
                </a:solidFill>
                <a:latin typeface="Consolas"/>
              </a:rPr>
              <a:t>XMN2 OUT  IN   0   0    nfet_01v8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7</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TIMING</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The power clock, and the two frequencies it defines</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phi_phases.png"/>
          <p:cNvPicPr>
            <a:picLocks noChangeAspect="1"/>
          </p:cNvPicPr>
          <p:nvPr/>
        </p:nvPicPr>
        <p:blipFill>
          <a:blip r:embed="rId2"/>
          <a:stretch>
            <a:fillRect/>
          </a:stretch>
        </p:blipFill>
        <p:spPr>
          <a:xfrm>
            <a:off x="658368" y="1432825"/>
            <a:ext cx="6720840" cy="2629893"/>
          </a:xfrm>
          <a:prstGeom prst="rect">
            <a:avLst/>
          </a:prstGeom>
        </p:spPr>
      </p:pic>
      <p:sp>
        <p:nvSpPr>
          <p:cNvPr id="8" name="Rounded Rectangle 7"/>
          <p:cNvSpPr/>
          <p:nvPr/>
        </p:nvSpPr>
        <p:spPr>
          <a:xfrm>
            <a:off x="658368" y="4279392"/>
            <a:ext cx="6720840" cy="173736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4279392"/>
            <a:ext cx="41148" cy="1737360"/>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59536" y="4407407"/>
            <a:ext cx="6336792" cy="1481328"/>
          </a:xfrm>
          <a:prstGeom prst="rect">
            <a:avLst/>
          </a:prstGeom>
          <a:noFill/>
        </p:spPr>
        <p:txBody>
          <a:bodyPr wrap="square" lIns="0" rIns="0" tIns="0" bIns="0" anchor="t">
            <a:spAutoFit/>
          </a:bodyPr>
          <a:lstStyle/>
          <a:p>
            <a:pPr algn="l">
              <a:lnSpc>
                <a:spcPct val="114000"/>
              </a:lnSpc>
            </a:pPr>
            <a:r>
              <a:rPr sz="1350" b="1" i="0">
                <a:solidFill>
                  <a:srgbClr val="A4237A"/>
                </a:solidFill>
                <a:latin typeface="Calibri"/>
              </a:rPr>
              <a:t>Why four phases and not two</a:t>
            </a:r>
          </a:p>
          <a:p>
            <a:pPr algn="l">
              <a:lnSpc>
                <a:spcPct val="114000"/>
              </a:lnSpc>
              <a:spcBef>
                <a:spcPts val="400"/>
              </a:spcBef>
            </a:pPr>
            <a:r>
              <a:rPr sz="1250" b="0" i="0">
                <a:solidFill>
                  <a:srgbClr val="3D4756"/>
                </a:solidFill>
                <a:latin typeface="Calibri"/>
              </a:rPr>
              <a:t>The wait phase is what lets the input settle before evaluation begins, so the gate never sees a moving input while it is charging. The hold phase is what lets the next stage sample a stable value. Drop either one and the cell stops being adiabatic.</a:t>
            </a:r>
          </a:p>
        </p:txBody>
      </p:sp>
      <p:sp>
        <p:nvSpPr>
          <p:cNvPr id="11" name="TextBox 10"/>
          <p:cNvSpPr txBox="1"/>
          <p:nvPr/>
        </p:nvSpPr>
        <p:spPr>
          <a:xfrm>
            <a:off x="7699248" y="1389888"/>
            <a:ext cx="3831336" cy="137160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Two rates, four times apart</a:t>
            </a:r>
          </a:p>
          <a:p>
            <a:pPr algn="l">
              <a:lnSpc>
                <a:spcPct val="114000"/>
              </a:lnSpc>
              <a:spcBef>
                <a:spcPts val="600"/>
              </a:spcBef>
            </a:pPr>
            <a:r>
              <a:rPr sz="1300" b="0" i="0">
                <a:solidFill>
                  <a:srgbClr val="768295"/>
                </a:solidFill>
                <a:latin typeface="Calibri"/>
              </a:rPr>
              <a:t>Confusing these two is the single easiest way to misread an adiabatic-logic graph, so every plot here says which one it uses.</a:t>
            </a:r>
          </a:p>
        </p:txBody>
      </p:sp>
      <p:graphicFrame>
        <p:nvGraphicFramePr>
          <p:cNvPr id="12" name="Table 11"/>
          <p:cNvGraphicFramePr>
            <a:graphicFrameLocks noGrp="1"/>
          </p:cNvGraphicFramePr>
          <p:nvPr/>
        </p:nvGraphicFramePr>
        <p:xfrm>
          <a:off x="7699248" y="2651760"/>
          <a:ext cx="3831335" cy="969264"/>
        </p:xfrm>
        <a:graphic>
          <a:graphicData uri="http://schemas.openxmlformats.org/drawingml/2006/table">
            <a:tbl>
              <a:tblPr firstRow="0" bandRow="0" lastRow="0" firstCol="0" bandCol="0" lastCol="0">
                <a:tableStyleId>{2D5ABB26-0587-4C30-8999-92F81FD0307C}</a:tableStyleId>
              </a:tblPr>
              <a:tblGrid>
                <a:gridCol w="1094667"/>
                <a:gridCol w="1258867"/>
                <a:gridCol w="1477801"/>
              </a:tblGrid>
              <a:tr h="310896">
                <a:tc>
                  <a:txBody>
                    <a:bodyPr wrap="square"/>
                    <a:lstStyle/>
                    <a:p>
                      <a:pPr algn="l"/>
                      <a:r>
                        <a:rPr sz="1100" b="1">
                          <a:solidFill>
                            <a:srgbClr val="FFFFFF"/>
                          </a:solidFill>
                          <a:latin typeface="Calibri"/>
                        </a:rPr>
                        <a:t/>
                      </a:r>
                    </a:p>
                  </a:txBody>
                  <a:tcPr marL="91440" marR="73152" marT="27432" marB="27432" anchor="ctr">
                    <a:solidFill>
                      <a:srgbClr val="1A2233"/>
                    </a:solidFill>
                  </a:tcPr>
                </a:tc>
                <a:tc>
                  <a:txBody>
                    <a:bodyPr wrap="square"/>
                    <a:lstStyle/>
                    <a:p>
                      <a:pPr algn="l"/>
                      <a:r>
                        <a:rPr sz="1100" b="1">
                          <a:solidFill>
                            <a:srgbClr val="FFFFFF"/>
                          </a:solidFill>
                          <a:latin typeface="Calibri"/>
                        </a:rPr>
                        <a:t>definition</a:t>
                      </a:r>
                    </a:p>
                  </a:txBody>
                  <a:tcPr marL="91440" marR="73152" marT="27432" marB="27432" anchor="ctr">
                    <a:solidFill>
                      <a:srgbClr val="1A2233"/>
                    </a:solidFill>
                  </a:tcPr>
                </a:tc>
                <a:tc>
                  <a:txBody>
                    <a:bodyPr wrap="square"/>
                    <a:lstStyle/>
                    <a:p>
                      <a:pPr algn="l"/>
                      <a:r>
                        <a:rPr sz="1100" b="1">
                          <a:solidFill>
                            <a:srgbClr val="FFFFFF"/>
                          </a:solidFill>
                          <a:latin typeface="Calibri"/>
                        </a:rPr>
                        <a:t>at Tp = 10 ns</a:t>
                      </a:r>
                    </a:p>
                  </a:txBody>
                  <a:tcPr marL="91440" marR="73152" marT="27432" marB="27432" anchor="ctr">
                    <a:solidFill>
                      <a:srgbClr val="1A2233"/>
                    </a:solidFill>
                  </a:tcPr>
                </a:tc>
              </a:tr>
              <a:tr h="329184">
                <a:tc>
                  <a:txBody>
                    <a:bodyPr wrap="square"/>
                    <a:lstStyle/>
                    <a:p>
                      <a:pPr algn="l"/>
                      <a:r>
                        <a:rPr sz="1250" b="1">
                          <a:solidFill>
                            <a:srgbClr val="A4237A"/>
                          </a:solidFill>
                          <a:latin typeface="Calibri"/>
                        </a:rPr>
                        <a:t>f_tr</a:t>
                      </a:r>
                    </a:p>
                  </a:txBody>
                  <a:tcPr marL="91440" marR="73152" marT="27432" marB="27432" anchor="ctr">
                    <a:solidFill>
                      <a:srgbClr val="FFFFFF"/>
                    </a:solidFill>
                  </a:tcPr>
                </a:tc>
                <a:tc>
                  <a:txBody>
                    <a:bodyPr wrap="square"/>
                    <a:lstStyle/>
                    <a:p>
                      <a:pPr algn="l"/>
                      <a:r>
                        <a:rPr sz="1250" b="0">
                          <a:solidFill>
                            <a:srgbClr val="3D4756"/>
                          </a:solidFill>
                          <a:latin typeface="Calibri"/>
                        </a:rPr>
                        <a:t>1 / Tp</a:t>
                      </a:r>
                    </a:p>
                  </a:txBody>
                  <a:tcPr marL="91440" marR="73152" marT="27432" marB="27432" anchor="ctr">
                    <a:solidFill>
                      <a:srgbClr val="FFFFFF"/>
                    </a:solidFill>
                  </a:tcPr>
                </a:tc>
                <a:tc>
                  <a:txBody>
                    <a:bodyPr wrap="square"/>
                    <a:lstStyle/>
                    <a:p>
                      <a:pPr algn="l"/>
                      <a:r>
                        <a:rPr sz="1250" b="0">
                          <a:solidFill>
                            <a:srgbClr val="3D4756"/>
                          </a:solidFill>
                          <a:latin typeface="Calibri"/>
                        </a:rPr>
                        <a:t>100 MHz</a:t>
                      </a:r>
                    </a:p>
                  </a:txBody>
                  <a:tcPr marL="91440" marR="73152" marT="27432" marB="27432" anchor="ctr">
                    <a:solidFill>
                      <a:srgbClr val="FFFFFF"/>
                    </a:solidFill>
                  </a:tcPr>
                </a:tc>
              </a:tr>
              <a:tr h="329184">
                <a:tc>
                  <a:txBody>
                    <a:bodyPr wrap="square"/>
                    <a:lstStyle/>
                    <a:p>
                      <a:pPr algn="l"/>
                      <a:r>
                        <a:rPr sz="1250" b="1">
                          <a:solidFill>
                            <a:srgbClr val="0969DA"/>
                          </a:solidFill>
                          <a:latin typeface="Calibri"/>
                        </a:rPr>
                        <a:t>f_clock</a:t>
                      </a:r>
                    </a:p>
                  </a:txBody>
                  <a:tcPr marL="91440" marR="73152" marT="27432" marB="27432" anchor="ctr">
                    <a:solidFill>
                      <a:srgbClr val="F4F6F9"/>
                    </a:solidFill>
                  </a:tcPr>
                </a:tc>
                <a:tc>
                  <a:txBody>
                    <a:bodyPr wrap="square"/>
                    <a:lstStyle/>
                    <a:p>
                      <a:pPr algn="l"/>
                      <a:r>
                        <a:rPr sz="1250" b="0">
                          <a:solidFill>
                            <a:srgbClr val="3D4756"/>
                          </a:solidFill>
                          <a:latin typeface="Calibri"/>
                        </a:rPr>
                        <a:t>1 / 4Tp</a:t>
                      </a:r>
                    </a:p>
                  </a:txBody>
                  <a:tcPr marL="91440" marR="73152" marT="27432" marB="27432" anchor="ctr">
                    <a:solidFill>
                      <a:srgbClr val="F4F6F9"/>
                    </a:solidFill>
                  </a:tcPr>
                </a:tc>
                <a:tc>
                  <a:txBody>
                    <a:bodyPr wrap="square"/>
                    <a:lstStyle/>
                    <a:p>
                      <a:pPr algn="l"/>
                      <a:r>
                        <a:rPr sz="1250" b="0">
                          <a:solidFill>
                            <a:srgbClr val="3D4756"/>
                          </a:solidFill>
                          <a:latin typeface="Calibri"/>
                        </a:rPr>
                        <a:t>25 MHz</a:t>
                      </a:r>
                    </a:p>
                  </a:txBody>
                  <a:tcPr marL="91440" marR="73152" marT="27432" marB="27432" anchor="ctr">
                    <a:solidFill>
                      <a:srgbClr val="F4F6F9"/>
                    </a:solidFill>
                  </a:tcPr>
                </a:tc>
              </a:tr>
            </a:tbl>
          </a:graphicData>
        </a:graphic>
      </p:graphicFrame>
      <p:sp>
        <p:nvSpPr>
          <p:cNvPr id="13" name="TextBox 12"/>
          <p:cNvSpPr txBox="1"/>
          <p:nvPr/>
        </p:nvSpPr>
        <p:spPr>
          <a:xfrm>
            <a:off x="7699248" y="3968496"/>
            <a:ext cx="3831336" cy="2011680"/>
          </a:xfrm>
          <a:prstGeom prst="rect">
            <a:avLst/>
          </a:prstGeom>
          <a:noFill/>
        </p:spPr>
        <p:txBody>
          <a:bodyPr wrap="square" lIns="0" rIns="0" tIns="0" bIns="0" anchor="t">
            <a:spAutoFit/>
          </a:bodyPr>
          <a:lstStyle/>
          <a:p>
            <a:pPr algn="l">
              <a:lnSpc>
                <a:spcPct val="114000"/>
              </a:lnSpc>
            </a:pPr>
            <a:r>
              <a:rPr sz="1300" b="1" i="0">
                <a:solidFill>
                  <a:srgbClr val="A4237A"/>
                </a:solidFill>
                <a:latin typeface="Calibri"/>
              </a:rPr>
              <a:t>f_tr</a:t>
            </a:r>
            <a:r>
              <a:rPr sz="1300" b="0" i="0">
                <a:solidFill>
                  <a:srgbClr val="3D4756"/>
                </a:solidFill>
                <a:latin typeface="Calibri"/>
              </a:rPr>
              <a:t> is the transition frequency — the inverse of a single phase. It is the axis the 1996 paper uses, and the default axis in this deck.</a:t>
            </a:r>
          </a:p>
          <a:p>
            <a:pPr algn="l">
              <a:lnSpc>
                <a:spcPct val="114000"/>
              </a:lnSpc>
              <a:spcBef>
                <a:spcPts val="800"/>
              </a:spcBef>
            </a:pPr>
            <a:r>
              <a:rPr sz="1300" b="1" i="0">
                <a:solidFill>
                  <a:srgbClr val="0969DA"/>
                </a:solidFill>
                <a:latin typeface="Calibri"/>
              </a:rPr>
              <a:t>f_clock</a:t>
            </a:r>
            <a:r>
              <a:rPr sz="1300" b="0" i="0">
                <a:solidFill>
                  <a:srgbClr val="3D4756"/>
                </a:solidFill>
                <a:latin typeface="Calibri"/>
              </a:rPr>
              <a:t> is the power-clock frequency, which is also the operation rate: one new result per T_clock. Every plot here also exists in an f_clock version.</a:t>
            </a:r>
          </a:p>
          <a:p>
            <a:pPr algn="l">
              <a:lnSpc>
                <a:spcPct val="114000"/>
              </a:lnSpc>
              <a:spcBef>
                <a:spcPts val="1000"/>
              </a:spcBef>
            </a:pPr>
            <a:r>
              <a:rPr sz="1350" b="1" i="0">
                <a:solidFill>
                  <a:srgbClr val="1A2233"/>
                </a:solidFill>
                <a:latin typeface="Calibri"/>
              </a:rPr>
              <a:t>T_clock = 4 · T_phase  →  f_tr = 4 · f_clock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8</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METHOD</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Simulation setup</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7" name="Table 6"/>
          <p:cNvGraphicFramePr>
            <a:graphicFrameLocks noGrp="1"/>
          </p:cNvGraphicFramePr>
          <p:nvPr/>
        </p:nvGraphicFramePr>
        <p:xfrm>
          <a:off x="658368" y="1353312"/>
          <a:ext cx="6720839" cy="3758184"/>
        </p:xfrm>
        <a:graphic>
          <a:graphicData uri="http://schemas.openxmlformats.org/drawingml/2006/table">
            <a:tbl>
              <a:tblPr firstRow="0" bandRow="0" lastRow="0" firstCol="0" bandCol="0" lastCol="0">
                <a:tableStyleId>{2D5ABB26-0587-4C30-8999-92F81FD0307C}</a:tableStyleId>
              </a:tblPr>
              <a:tblGrid>
                <a:gridCol w="2203554"/>
                <a:gridCol w="4517285"/>
              </a:tblGrid>
              <a:tr h="329184">
                <a:tc>
                  <a:txBody>
                    <a:bodyPr wrap="square"/>
                    <a:lstStyle/>
                    <a:p>
                      <a:pPr algn="l"/>
                      <a:r>
                        <a:rPr sz="1200" b="1">
                          <a:solidFill>
                            <a:srgbClr val="FFFFFF"/>
                          </a:solidFill>
                          <a:latin typeface="Calibri"/>
                        </a:rPr>
                        <a:t>parameter</a:t>
                      </a:r>
                    </a:p>
                  </a:txBody>
                  <a:tcPr marL="91440" marR="73152" marT="27432" marB="27432" anchor="ctr">
                    <a:solidFill>
                      <a:srgbClr val="1A2233"/>
                    </a:solidFill>
                  </a:tcPr>
                </a:tc>
                <a:tc>
                  <a:txBody>
                    <a:bodyPr wrap="square"/>
                    <a:lstStyle/>
                    <a:p>
                      <a:pPr algn="l"/>
                      <a:r>
                        <a:rPr sz="1200" b="1">
                          <a:solidFill>
                            <a:srgbClr val="FFFFFF"/>
                          </a:solidFill>
                          <a:latin typeface="Calibri"/>
                        </a:rPr>
                        <a:t>value</a:t>
                      </a:r>
                    </a:p>
                  </a:txBody>
                  <a:tcPr marL="91440" marR="73152" marT="27432" marB="27432" anchor="ctr">
                    <a:solidFill>
                      <a:srgbClr val="1A2233"/>
                    </a:solidFill>
                  </a:tcPr>
                </a:tc>
              </a:tr>
              <a:tr h="342900">
                <a:tc>
                  <a:txBody>
                    <a:bodyPr wrap="square"/>
                    <a:lstStyle/>
                    <a:p>
                      <a:pPr algn="l"/>
                      <a:r>
                        <a:rPr sz="1300" b="0">
                          <a:solidFill>
                            <a:srgbClr val="3D4756"/>
                          </a:solidFill>
                          <a:latin typeface="Calibri"/>
                        </a:rPr>
                        <a:t>Technology</a:t>
                      </a:r>
                    </a:p>
                  </a:txBody>
                  <a:tcPr marL="91440" marR="73152" marT="27432" marB="27432" anchor="ctr">
                    <a:solidFill>
                      <a:srgbClr val="FFFFFF"/>
                    </a:solidFill>
                  </a:tcPr>
                </a:tc>
                <a:tc>
                  <a:txBody>
                    <a:bodyPr wrap="square"/>
                    <a:lstStyle/>
                    <a:p>
                      <a:pPr algn="l"/>
                      <a:r>
                        <a:rPr sz="1300" b="0">
                          <a:solidFill>
                            <a:srgbClr val="3D4756"/>
                          </a:solidFill>
                          <a:latin typeface="Calibri"/>
                        </a:rPr>
                        <a:t>SKY130 open PDK, tt corner</a:t>
                      </a:r>
                    </a:p>
                  </a:txBody>
                  <a:tcPr marL="91440" marR="73152" marT="27432" marB="27432" anchor="ctr">
                    <a:solidFill>
                      <a:srgbClr val="FFFFFF"/>
                    </a:solidFill>
                  </a:tcPr>
                </a:tc>
              </a:tr>
              <a:tr h="342900">
                <a:tc>
                  <a:txBody>
                    <a:bodyPr wrap="square"/>
                    <a:lstStyle/>
                    <a:p>
                      <a:pPr algn="l"/>
                      <a:r>
                        <a:rPr sz="1300" b="0">
                          <a:solidFill>
                            <a:srgbClr val="3D4756"/>
                          </a:solidFill>
                          <a:latin typeface="Calibri"/>
                        </a:rPr>
                        <a:t>Simulator</a:t>
                      </a:r>
                    </a:p>
                  </a:txBody>
                  <a:tcPr marL="91440" marR="73152" marT="27432" marB="27432" anchor="ctr">
                    <a:solidFill>
                      <a:srgbClr val="F4F6F9"/>
                    </a:solidFill>
                  </a:tcPr>
                </a:tc>
                <a:tc>
                  <a:txBody>
                    <a:bodyPr wrap="square"/>
                    <a:lstStyle/>
                    <a:p>
                      <a:pPr algn="l"/>
                      <a:r>
                        <a:rPr sz="1300" b="0">
                          <a:solidFill>
                            <a:srgbClr val="3D4756"/>
                          </a:solidFill>
                          <a:latin typeface="Calibri"/>
                        </a:rPr>
                        <a:t>ngspice 42 / 45.2, batch mode (-b)</a:t>
                      </a:r>
                    </a:p>
                  </a:txBody>
                  <a:tcPr marL="91440" marR="73152" marT="27432" marB="27432" anchor="ctr">
                    <a:solidFill>
                      <a:srgbClr val="F4F6F9"/>
                    </a:solidFill>
                  </a:tcPr>
                </a:tc>
              </a:tr>
              <a:tr h="342900">
                <a:tc>
                  <a:txBody>
                    <a:bodyPr wrap="square"/>
                    <a:lstStyle/>
                    <a:p>
                      <a:pPr algn="l"/>
                      <a:r>
                        <a:rPr sz="1300" b="0">
                          <a:solidFill>
                            <a:srgbClr val="3D4756"/>
                          </a:solidFill>
                          <a:latin typeface="Calibri"/>
                        </a:rPr>
                        <a:t>Supply VDD</a:t>
                      </a:r>
                    </a:p>
                  </a:txBody>
                  <a:tcPr marL="91440" marR="73152" marT="27432" marB="27432" anchor="ctr">
                    <a:solidFill>
                      <a:srgbClr val="FFFFFF"/>
                    </a:solidFill>
                  </a:tcPr>
                </a:tc>
                <a:tc>
                  <a:txBody>
                    <a:bodyPr wrap="square"/>
                    <a:lstStyle/>
                    <a:p>
                      <a:pPr algn="l"/>
                      <a:r>
                        <a:rPr sz="1300" b="0">
                          <a:solidFill>
                            <a:srgbClr val="3D4756"/>
                          </a:solidFill>
                          <a:latin typeface="Calibri"/>
                        </a:rPr>
                        <a:t>1.8 V</a:t>
                      </a:r>
                    </a:p>
                  </a:txBody>
                  <a:tcPr marL="91440" marR="73152" marT="27432" marB="27432" anchor="ctr">
                    <a:solidFill>
                      <a:srgbClr val="FFFFFF"/>
                    </a:solidFill>
                  </a:tcPr>
                </a:tc>
              </a:tr>
              <a:tr h="342900">
                <a:tc>
                  <a:txBody>
                    <a:bodyPr wrap="square"/>
                    <a:lstStyle/>
                    <a:p>
                      <a:pPr algn="l"/>
                      <a:r>
                        <a:rPr sz="1300" b="0">
                          <a:solidFill>
                            <a:srgbClr val="3D4756"/>
                          </a:solidFill>
                          <a:latin typeface="Calibri"/>
                        </a:rPr>
                        <a:t>Channel length L</a:t>
                      </a:r>
                    </a:p>
                  </a:txBody>
                  <a:tcPr marL="91440" marR="73152" marT="27432" marB="27432" anchor="ctr">
                    <a:solidFill>
                      <a:srgbClr val="F4F6F9"/>
                    </a:solidFill>
                  </a:tcPr>
                </a:tc>
                <a:tc>
                  <a:txBody>
                    <a:bodyPr wrap="square"/>
                    <a:lstStyle/>
                    <a:p>
                      <a:pPr algn="l"/>
                      <a:r>
                        <a:rPr sz="1300" b="0">
                          <a:solidFill>
                            <a:srgbClr val="3D4756"/>
                          </a:solidFill>
                          <a:latin typeface="Calibri"/>
                        </a:rPr>
                        <a:t>0.15 µm, nFET and pFET</a:t>
                      </a:r>
                    </a:p>
                  </a:txBody>
                  <a:tcPr marL="91440" marR="73152" marT="27432" marB="27432" anchor="ctr">
                    <a:solidFill>
                      <a:srgbClr val="F4F6F9"/>
                    </a:solidFill>
                  </a:tcPr>
                </a:tc>
              </a:tr>
              <a:tr h="342900">
                <a:tc>
                  <a:txBody>
                    <a:bodyPr wrap="square"/>
                    <a:lstStyle/>
                    <a:p>
                      <a:pPr algn="l"/>
                      <a:r>
                        <a:rPr sz="1300" b="0">
                          <a:solidFill>
                            <a:srgbClr val="3D4756"/>
                          </a:solidFill>
                          <a:latin typeface="Calibri"/>
                        </a:rPr>
                        <a:t>Width W</a:t>
                      </a:r>
                    </a:p>
                  </a:txBody>
                  <a:tcPr marL="91440" marR="73152" marT="27432" marB="27432" anchor="ctr">
                    <a:solidFill>
                      <a:srgbClr val="FFFFFF"/>
                    </a:solidFill>
                  </a:tcPr>
                </a:tc>
                <a:tc>
                  <a:txBody>
                    <a:bodyPr wrap="square"/>
                    <a:lstStyle/>
                    <a:p>
                      <a:pPr algn="l"/>
                      <a:r>
                        <a:rPr sz="1300" b="0">
                          <a:solidFill>
                            <a:srgbClr val="3D4756"/>
                          </a:solidFill>
                          <a:latin typeface="Calibri"/>
                        </a:rPr>
                        <a:t>0.84 / 1.0 / 1.2 / 1.5 / 2.0 / 3.0 µm</a:t>
                      </a:r>
                    </a:p>
                  </a:txBody>
                  <a:tcPr marL="91440" marR="73152" marT="27432" marB="27432" anchor="ctr">
                    <a:solidFill>
                      <a:srgbClr val="FFFFFF"/>
                    </a:solidFill>
                  </a:tcPr>
                </a:tc>
              </a:tr>
              <a:tr h="342900">
                <a:tc>
                  <a:txBody>
                    <a:bodyPr wrap="square"/>
                    <a:lstStyle/>
                    <a:p>
                      <a:pPr algn="l"/>
                      <a:r>
                        <a:rPr sz="1300" b="0">
                          <a:solidFill>
                            <a:srgbClr val="3D4756"/>
                          </a:solidFill>
                          <a:latin typeface="Calibri"/>
                        </a:rPr>
                        <a:t>Load</a:t>
                      </a:r>
                    </a:p>
                  </a:txBody>
                  <a:tcPr marL="91440" marR="73152" marT="27432" marB="27432" anchor="ctr">
                    <a:solidFill>
                      <a:srgbClr val="F4F6F9"/>
                    </a:solidFill>
                  </a:tcPr>
                </a:tc>
                <a:tc>
                  <a:txBody>
                    <a:bodyPr wrap="square"/>
                    <a:lstStyle/>
                    <a:p>
                      <a:pPr algn="l"/>
                      <a:r>
                        <a:rPr sz="1300" b="0">
                          <a:solidFill>
                            <a:srgbClr val="3D4756"/>
                          </a:solidFill>
                          <a:latin typeface="Calibri"/>
                        </a:rPr>
                        <a:t>25 fF on every metered output node</a:t>
                      </a:r>
                    </a:p>
                  </a:txBody>
                  <a:tcPr marL="91440" marR="73152" marT="27432" marB="27432" anchor="ctr">
                    <a:solidFill>
                      <a:srgbClr val="F4F6F9"/>
                    </a:solidFill>
                  </a:tcPr>
                </a:tc>
              </a:tr>
              <a:tr h="342900">
                <a:tc>
                  <a:txBody>
                    <a:bodyPr wrap="square"/>
                    <a:lstStyle/>
                    <a:p>
                      <a:pPr algn="l"/>
                      <a:r>
                        <a:rPr sz="1300" b="0">
                          <a:solidFill>
                            <a:srgbClr val="3D4756"/>
                          </a:solidFill>
                          <a:latin typeface="Calibri"/>
                        </a:rPr>
                        <a:t>Power clock</a:t>
                      </a:r>
                    </a:p>
                  </a:txBody>
                  <a:tcPr marL="91440" marR="73152" marT="27432" marB="27432" anchor="ctr">
                    <a:solidFill>
                      <a:srgbClr val="FFFFFF"/>
                    </a:solidFill>
                  </a:tcPr>
                </a:tc>
                <a:tc>
                  <a:txBody>
                    <a:bodyPr wrap="square"/>
                    <a:lstStyle/>
                    <a:p>
                      <a:pPr algn="l"/>
                      <a:r>
                        <a:rPr sz="1300" b="0">
                          <a:solidFill>
                            <a:srgbClr val="3D4756"/>
                          </a:solidFill>
                          <a:latin typeface="Calibri"/>
                        </a:rPr>
                        <a:t>trapezoid, four equal phases, T_clock = 4·T_phase</a:t>
                      </a:r>
                    </a:p>
                  </a:txBody>
                  <a:tcPr marL="91440" marR="73152" marT="27432" marB="27432" anchor="ctr">
                    <a:solidFill>
                      <a:srgbClr val="FFFFFF"/>
                    </a:solidFill>
                  </a:tcPr>
                </a:tc>
              </a:tr>
              <a:tr h="342900">
                <a:tc>
                  <a:txBody>
                    <a:bodyPr wrap="square"/>
                    <a:lstStyle/>
                    <a:p>
                      <a:pPr algn="l"/>
                      <a:r>
                        <a:rPr sz="1300" b="0">
                          <a:solidFill>
                            <a:srgbClr val="3D4756"/>
                          </a:solidFill>
                          <a:latin typeface="Calibri"/>
                        </a:rPr>
                        <a:t>T_phase swept</a:t>
                      </a:r>
                    </a:p>
                  </a:txBody>
                  <a:tcPr marL="91440" marR="73152" marT="27432" marB="27432" anchor="ctr">
                    <a:solidFill>
                      <a:srgbClr val="F4F6F9"/>
                    </a:solidFill>
                  </a:tcPr>
                </a:tc>
                <a:tc>
                  <a:txBody>
                    <a:bodyPr wrap="square"/>
                    <a:lstStyle/>
                    <a:p>
                      <a:pPr algn="l"/>
                      <a:r>
                        <a:rPr sz="1300" b="0">
                          <a:solidFill>
                            <a:srgbClr val="3D4756"/>
                          </a:solidFill>
                          <a:latin typeface="Calibri"/>
                        </a:rPr>
                        <a:t>1, 2, 5, 10, 20, 50, 100 ns</a:t>
                      </a:r>
                    </a:p>
                  </a:txBody>
                  <a:tcPr marL="91440" marR="73152" marT="27432" marB="27432" anchor="ctr">
                    <a:solidFill>
                      <a:srgbClr val="F4F6F9"/>
                    </a:solidFill>
                  </a:tcPr>
                </a:tc>
              </a:tr>
              <a:tr h="342900">
                <a:tc>
                  <a:txBody>
                    <a:bodyPr wrap="square"/>
                    <a:lstStyle/>
                    <a:p>
                      <a:pPr algn="l"/>
                      <a:r>
                        <a:rPr sz="1300" b="0">
                          <a:solidFill>
                            <a:srgbClr val="3D4756"/>
                          </a:solidFill>
                          <a:latin typeface="Calibri"/>
                        </a:rPr>
                        <a:t>f_transition</a:t>
                      </a:r>
                    </a:p>
                  </a:txBody>
                  <a:tcPr marL="91440" marR="73152" marT="27432" marB="27432" anchor="ctr">
                    <a:solidFill>
                      <a:srgbClr val="FFFFFF"/>
                    </a:solidFill>
                  </a:tcPr>
                </a:tc>
                <a:tc>
                  <a:txBody>
                    <a:bodyPr wrap="square"/>
                    <a:lstStyle/>
                    <a:p>
                      <a:pPr algn="l"/>
                      <a:r>
                        <a:rPr sz="1300" b="0">
                          <a:solidFill>
                            <a:srgbClr val="3D4756"/>
                          </a:solidFill>
                          <a:latin typeface="Calibri"/>
                        </a:rPr>
                        <a:t>1000 down to 10 MHz</a:t>
                      </a:r>
                    </a:p>
                  </a:txBody>
                  <a:tcPr marL="91440" marR="73152" marT="27432" marB="27432" anchor="ctr">
                    <a:solidFill>
                      <a:srgbClr val="FFFFFF"/>
                    </a:solidFill>
                  </a:tcPr>
                </a:tc>
              </a:tr>
              <a:tr h="342900">
                <a:tc>
                  <a:txBody>
                    <a:bodyPr wrap="square"/>
                    <a:lstStyle/>
                    <a:p>
                      <a:pPr algn="l"/>
                      <a:r>
                        <a:rPr sz="1300" b="0">
                          <a:solidFill>
                            <a:srgbClr val="3D4756"/>
                          </a:solidFill>
                          <a:latin typeface="Calibri"/>
                        </a:rPr>
                        <a:t>Energy metric</a:t>
                      </a:r>
                    </a:p>
                  </a:txBody>
                  <a:tcPr marL="91440" marR="73152" marT="27432" marB="27432" anchor="ctr">
                    <a:solidFill>
                      <a:srgbClr val="F4F6F9"/>
                    </a:solidFill>
                  </a:tcPr>
                </a:tc>
                <a:tc>
                  <a:txBody>
                    <a:bodyPr wrap="square"/>
                    <a:lstStyle/>
                    <a:p>
                      <a:pPr algn="l"/>
                      <a:r>
                        <a:rPr sz="1300" b="0">
                          <a:solidFill>
                            <a:srgbClr val="3D4756"/>
                          </a:solidFill>
                          <a:latin typeface="Calibri"/>
                        </a:rPr>
                        <a:t>integral of -V_PHI · I_PHI dt, over one full clock period</a:t>
                      </a:r>
                    </a:p>
                  </a:txBody>
                  <a:tcPr marL="91440" marR="73152" marT="27432" marB="27432" anchor="ctr">
                    <a:solidFill>
                      <a:srgbClr val="F4F6F9"/>
                    </a:solidFill>
                  </a:tcPr>
                </a:tc>
              </a:tr>
            </a:tbl>
          </a:graphicData>
        </a:graphic>
      </p:graphicFrame>
      <p:sp>
        <p:nvSpPr>
          <p:cNvPr id="8" name="Rounded Rectangle 7"/>
          <p:cNvSpPr/>
          <p:nvPr/>
        </p:nvSpPr>
        <p:spPr>
          <a:xfrm>
            <a:off x="7699248" y="1353312"/>
            <a:ext cx="3831336" cy="2103120"/>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699248" y="1353312"/>
            <a:ext cx="41148" cy="2103120"/>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00416" y="1481328"/>
            <a:ext cx="3447288" cy="1847087"/>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A units trap worth knowing about</a:t>
            </a:r>
          </a:p>
          <a:p>
            <a:pPr algn="l">
              <a:lnSpc>
                <a:spcPct val="114000"/>
              </a:lnSpc>
              <a:spcBef>
                <a:spcPts val="400"/>
              </a:spcBef>
            </a:pPr>
            <a:r>
              <a:rPr sz="1250" b="0" i="0">
                <a:solidFill>
                  <a:srgbClr val="3D4756"/>
                </a:solidFill>
                <a:latin typeface="Calibri"/>
              </a:rPr>
              <a:t>The ngspice-flavoured SKY130 models set .option scale=1.0u, so device widths are written in microns: w=1 means 1 µm. Writing w=1u fails with “could not find a valid modelname”, and the trimmed model files vendored by some repos take metres instead.</a:t>
            </a:r>
          </a:p>
        </p:txBody>
      </p:sp>
      <p:sp>
        <p:nvSpPr>
          <p:cNvPr id="11" name="Rounded Rectangle 10"/>
          <p:cNvSpPr/>
          <p:nvPr/>
        </p:nvSpPr>
        <p:spPr>
          <a:xfrm>
            <a:off x="7699248" y="3657600"/>
            <a:ext cx="3831336" cy="2331720"/>
          </a:xfrm>
          <a:prstGeom prst="roundRect">
            <a:avLst>
              <a:gd name="adj" fmla="val 8000"/>
            </a:avLst>
          </a:prstGeom>
          <a:solidFill>
            <a:srgbClr val="EFF5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7699248" y="3657600"/>
            <a:ext cx="41148" cy="2331720"/>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900416" y="3785615"/>
            <a:ext cx="3447288" cy="2075687"/>
          </a:xfrm>
          <a:prstGeom prst="rect">
            <a:avLst/>
          </a:prstGeom>
          <a:noFill/>
        </p:spPr>
        <p:txBody>
          <a:bodyPr wrap="square" lIns="0" rIns="0" tIns="0" bIns="0" anchor="t">
            <a:spAutoFit/>
          </a:bodyPr>
          <a:lstStyle/>
          <a:p>
            <a:pPr algn="l">
              <a:lnSpc>
                <a:spcPct val="114000"/>
              </a:lnSpc>
            </a:pPr>
            <a:r>
              <a:rPr sz="1350" b="1" i="0">
                <a:solidFill>
                  <a:srgbClr val="0969DA"/>
                </a:solidFill>
                <a:latin typeface="Calibri"/>
              </a:rPr>
              <a:t>Why 25 fF and why these widths</a:t>
            </a:r>
          </a:p>
          <a:p>
            <a:pPr algn="l">
              <a:lnSpc>
                <a:spcPct val="114000"/>
              </a:lnSpc>
              <a:spcBef>
                <a:spcPts val="400"/>
              </a:spcBef>
            </a:pPr>
            <a:r>
              <a:rPr sz="1250" b="0" i="0">
                <a:solidFill>
                  <a:srgbClr val="3D4756"/>
                </a:solidFill>
                <a:latin typeface="Calibri"/>
              </a:rPr>
              <a:t>25 fF is a deliberately generous load, chosen so the switched capacitance dominates the device's own parasitics and the comparison between families is about the topology rather than about layout we have not done. 0.84 µm is the SKY130 minimum-ish width; 3.0 µm is far enough out to see the resistive trend flatten.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9</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CORRECTNESS</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Functional verification comes before any energy number</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ecrl_waveform.png"/>
          <p:cNvPicPr>
            <a:picLocks noChangeAspect="1"/>
          </p:cNvPicPr>
          <p:nvPr/>
        </p:nvPicPr>
        <p:blipFill>
          <a:blip r:embed="rId2"/>
          <a:stretch>
            <a:fillRect/>
          </a:stretch>
        </p:blipFill>
        <p:spPr>
          <a:xfrm>
            <a:off x="1466697" y="1280160"/>
            <a:ext cx="9258300" cy="3703320"/>
          </a:xfrm>
          <a:prstGeom prst="rect">
            <a:avLst/>
          </a:prstGeom>
        </p:spPr>
      </p:pic>
      <p:sp>
        <p:nvSpPr>
          <p:cNvPr id="8" name="TextBox 7"/>
          <p:cNvSpPr txBox="1"/>
          <p:nvPr/>
        </p:nvSpPr>
        <p:spPr>
          <a:xfrm>
            <a:off x="658368" y="5120640"/>
            <a:ext cx="6720840" cy="1143000"/>
          </a:xfrm>
          <a:prstGeom prst="rect">
            <a:avLst/>
          </a:prstGeom>
          <a:noFill/>
        </p:spPr>
        <p:txBody>
          <a:bodyPr wrap="square" lIns="0" rIns="0" tIns="0" bIns="0" anchor="t">
            <a:spAutoFit/>
          </a:bodyPr>
          <a:lstStyle/>
          <a:p>
            <a:pPr algn="l">
              <a:lnSpc>
                <a:spcPct val="114000"/>
              </a:lnSpc>
            </a:pPr>
            <a:r>
              <a:rPr sz="1400" b="0" i="0">
                <a:solidFill>
                  <a:srgbClr val="3D4756"/>
                </a:solidFill>
                <a:latin typeface="Calibri"/>
              </a:rPr>
              <a:t>IN low → OUT pulses with the clock and OUTB stays down. IN high → the opposite. The input only ever moves inside Φ's wait window, so the gate never evaluates on a moving input.</a:t>
            </a:r>
          </a:p>
          <a:p>
            <a:pPr algn="l">
              <a:lnSpc>
                <a:spcPct val="114000"/>
              </a:lnSpc>
              <a:spcBef>
                <a:spcPts val="600"/>
              </a:spcBef>
            </a:pPr>
            <a:r>
              <a:rPr sz="1400" b="1" i="0">
                <a:solidFill>
                  <a:srgbClr val="1A2233"/>
                </a:solidFill>
                <a:latin typeface="Calibri"/>
              </a:rPr>
              <a:t>Checked by .meas sampling mid-hold, at both bit values, at every T_phase in the sweep — not by looking at the picture.</a:t>
            </a:r>
          </a:p>
        </p:txBody>
      </p:sp>
      <p:sp>
        <p:nvSpPr>
          <p:cNvPr id="9" name="Rounded Rectangle 8"/>
          <p:cNvSpPr/>
          <p:nvPr/>
        </p:nvSpPr>
        <p:spPr>
          <a:xfrm>
            <a:off x="7863840" y="5120640"/>
            <a:ext cx="3666744" cy="772668"/>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19" y="5221224"/>
            <a:ext cx="3337560" cy="571500"/>
          </a:xfrm>
          <a:prstGeom prst="rect">
            <a:avLst/>
          </a:prstGeom>
          <a:noFill/>
        </p:spPr>
        <p:txBody>
          <a:bodyPr wrap="square" lIns="0" rIns="0" tIns="0" bIns="0" anchor="t">
            <a:spAutoFit/>
          </a:bodyPr>
          <a:lstStyle/>
          <a:p>
            <a:pPr algn="l">
              <a:lnSpc>
                <a:spcPct val="105000"/>
              </a:lnSpc>
            </a:pPr>
            <a:r>
              <a:rPr sz="950" b="0" i="0">
                <a:solidFill>
                  <a:srgbClr val="2B3545"/>
                </a:solidFill>
                <a:latin typeface="Consolas"/>
              </a:rPr>
              <a:t>.meas tran OUT_A  FIND V(OUT)  AT=14.5*TPHASE</a:t>
            </a:r>
          </a:p>
          <a:p>
            <a:pPr algn="l">
              <a:lnSpc>
                <a:spcPct val="105000"/>
              </a:lnSpc>
            </a:pPr>
            <a:r>
              <a:rPr sz="950" b="0" i="0">
                <a:solidFill>
                  <a:srgbClr val="2B3545"/>
                </a:solidFill>
                <a:latin typeface="Consolas"/>
              </a:rPr>
              <a:t>.meas tran OUTB_A FIND V(OUTB) AT=14.5*TPHASE</a:t>
            </a:r>
          </a:p>
          <a:p>
            <a:pPr algn="l">
              <a:lnSpc>
                <a:spcPct val="105000"/>
              </a:lnSpc>
            </a:pPr>
            <a:r>
              <a:rPr sz="950" b="0" i="0">
                <a:solidFill>
                  <a:srgbClr val="2B3545"/>
                </a:solidFill>
                <a:latin typeface="Consolas"/>
              </a:rPr>
              <a:t>   IN=1  -&gt;  OUT ~ 0     OUTB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10</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THE METRIC</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How the energy is measured</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583680" cy="1280160"/>
          </a:xfrm>
          <a:prstGeom prst="rect">
            <a:avLst/>
          </a:prstGeom>
          <a:noFill/>
        </p:spPr>
        <p:txBody>
          <a:bodyPr wrap="square" lIns="0" rIns="0" tIns="0" bIns="0" anchor="t">
            <a:spAutoFit/>
          </a:bodyPr>
          <a:lstStyle/>
          <a:p>
            <a:pPr algn="l">
              <a:lnSpc>
                <a:spcPct val="114000"/>
              </a:lnSpc>
            </a:pPr>
            <a:r>
              <a:rPr sz="1600" b="1" i="0">
                <a:solidFill>
                  <a:srgbClr val="1A2233"/>
                </a:solidFill>
                <a:latin typeface="Calibri"/>
              </a:rPr>
              <a:t>We do not sample V·I at an instant. We integrate the power the power clock actually delivers, across one complete clock period.</a:t>
            </a:r>
          </a:p>
          <a:p>
            <a:pPr algn="l">
              <a:lnSpc>
                <a:spcPct val="114000"/>
              </a:lnSpc>
              <a:spcBef>
                <a:spcPts val="800"/>
              </a:spcBef>
            </a:pPr>
            <a:r>
              <a:rPr sz="1400" b="0" i="0">
                <a:solidFill>
                  <a:srgbClr val="3D4756"/>
                </a:solidFill>
                <a:latin typeface="Calibri"/>
              </a:rPr>
              <a:t>ngspice defines a source's current as flowing into its positive terminal, so the power delivered to the circuit is -V·I. A behavioural source turns that product into a node voltage, which .meas can then integrate.</a:t>
            </a:r>
          </a:p>
        </p:txBody>
      </p:sp>
      <p:sp>
        <p:nvSpPr>
          <p:cNvPr id="8" name="Rounded Rectangle 7"/>
          <p:cNvSpPr/>
          <p:nvPr/>
        </p:nvSpPr>
        <p:spPr>
          <a:xfrm>
            <a:off x="658368" y="2907792"/>
            <a:ext cx="6583680" cy="1952244"/>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3008376"/>
            <a:ext cx="6254496" cy="1751076"/>
          </a:xfrm>
          <a:prstGeom prst="rect">
            <a:avLst/>
          </a:prstGeom>
          <a:noFill/>
        </p:spPr>
        <p:txBody>
          <a:bodyPr wrap="square" lIns="0" rIns="0" tIns="0" bIns="0" anchor="t">
            <a:spAutoFit/>
          </a:bodyPr>
          <a:lstStyle/>
          <a:p>
            <a:pPr algn="l">
              <a:lnSpc>
                <a:spcPct val="105000"/>
              </a:lnSpc>
            </a:pPr>
            <a:r>
              <a:rPr sz="1150" b="0" i="0">
                <a:solidFill>
                  <a:srgbClr val="2B3545"/>
                </a:solidFill>
                <a:latin typeface="Consolas"/>
              </a:rPr>
              <a:t>BPCPOWER PCLK 0 V={-V(PHI)*I(VPHI)}</a:t>
            </a:r>
          </a:p>
          <a:p>
            <a:pPr algn="l">
              <a:lnSpc>
                <a:spcPct val="105000"/>
              </a:lnSpc>
            </a:pPr>
            <a:r>
              <a:rPr sz="1150" b="0" i="0">
                <a:solidFill>
                  <a:srgbClr val="2B3545"/>
                </a:solidFill>
                <a:latin typeface="Consolas"/>
              </a:rPr>
              <a:t/>
            </a:r>
          </a:p>
          <a:p>
            <a:pPr algn="l">
              <a:lnSpc>
                <a:spcPct val="105000"/>
              </a:lnSpc>
            </a:pPr>
            <a:r>
              <a:rPr sz="1150" b="0" i="0">
                <a:solidFill>
                  <a:srgbClr val="2B3545"/>
                </a:solidFill>
                <a:latin typeface="Consolas"/>
              </a:rPr>
              <a:t>.meas tran E_A INTEG V(PCLK) FROM={12*TPHASE} TO={16*TPHASE}</a:t>
            </a:r>
          </a:p>
          <a:p>
            <a:pPr algn="l">
              <a:lnSpc>
                <a:spcPct val="105000"/>
              </a:lnSpc>
            </a:pPr>
            <a:r>
              <a:rPr sz="1150" b="0" i="0">
                <a:solidFill>
                  <a:srgbClr val="2B3545"/>
                </a:solidFill>
                <a:latin typeface="Consolas"/>
              </a:rPr>
              <a:t>.meas tran E_B INTEG V(PCLK) FROM={16*TPHASE} TO={20*TPHASE}</a:t>
            </a:r>
          </a:p>
          <a:p>
            <a:pPr algn="l">
              <a:lnSpc>
                <a:spcPct val="105000"/>
              </a:lnSpc>
            </a:pPr>
            <a:r>
              <a:rPr sz="1150" b="0" i="0">
                <a:solidFill>
                  <a:srgbClr val="2B3545"/>
                </a:solidFill>
                <a:latin typeface="Consolas"/>
              </a:rPr>
              <a:t>.meas tran E_C PARAM='(E_A+E_B)/2'</a:t>
            </a:r>
          </a:p>
          <a:p>
            <a:pPr algn="l">
              <a:lnSpc>
                <a:spcPct val="105000"/>
              </a:lnSpc>
            </a:pPr>
            <a:r>
              <a:rPr sz="1150" b="0" i="0">
                <a:solidFill>
                  <a:srgbClr val="2B3545"/>
                </a:solidFill>
                <a:latin typeface="Consolas"/>
              </a:rPr>
              <a:t/>
            </a:r>
          </a:p>
          <a:p>
            <a:pPr algn="l">
              <a:lnSpc>
                <a:spcPct val="105000"/>
              </a:lnSpc>
            </a:pPr>
            <a:r>
              <a:rPr sz="1150" b="0" i="0">
                <a:solidFill>
                  <a:srgbClr val="2B3545"/>
                </a:solidFill>
                <a:latin typeface="Consolas"/>
              </a:rPr>
              <a:t>* settling check: the same two cycles, two periods earlier</a:t>
            </a:r>
          </a:p>
          <a:p>
            <a:pPr algn="l">
              <a:lnSpc>
                <a:spcPct val="105000"/>
              </a:lnSpc>
            </a:pPr>
            <a:r>
              <a:rPr sz="1150" b="0" i="0">
                <a:solidFill>
                  <a:srgbClr val="2B3545"/>
                </a:solidFill>
                <a:latin typeface="Consolas"/>
              </a:rPr>
              <a:t>.meas tran E_A0 INTEG V(PCLK) FROM={4*TPHASE}  TO={8*TPHASE}</a:t>
            </a:r>
          </a:p>
          <a:p>
            <a:pPr algn="l">
              <a:lnSpc>
                <a:spcPct val="105000"/>
              </a:lnSpc>
            </a:pPr>
            <a:r>
              <a:rPr sz="1150" b="0" i="0">
                <a:solidFill>
                  <a:srgbClr val="2B3545"/>
                </a:solidFill>
                <a:latin typeface="Consolas"/>
              </a:rPr>
              <a:t>.meas tran E_B0 INTEG V(PCLK) FROM={8*TPHASE}  TO={12*TPHASE}</a:t>
            </a:r>
          </a:p>
        </p:txBody>
      </p:sp>
      <p:sp>
        <p:nvSpPr>
          <p:cNvPr id="10" name="TextBox 9"/>
          <p:cNvSpPr txBox="1"/>
          <p:nvPr/>
        </p:nvSpPr>
        <p:spPr>
          <a:xfrm>
            <a:off x="658368" y="5029200"/>
            <a:ext cx="6583680" cy="1170432"/>
          </a:xfrm>
          <a:prstGeom prst="rect">
            <a:avLst/>
          </a:prstGeom>
          <a:noFill/>
        </p:spPr>
        <p:txBody>
          <a:bodyPr wrap="square" lIns="0" rIns="0" tIns="0" bIns="0" anchor="t">
            <a:spAutoFit/>
          </a:bodyPr>
          <a:lstStyle/>
          <a:p>
            <a:pPr algn="l">
              <a:lnSpc>
                <a:spcPct val="114000"/>
              </a:lnSpc>
            </a:pPr>
            <a:r>
              <a:rPr sz="1350" b="0" i="0">
                <a:solidFill>
                  <a:srgbClr val="3D4756"/>
                </a:solidFill>
                <a:latin typeface="Calibri"/>
              </a:rPr>
              <a:t>E_A is the cycle in which the data goes 0→1, E_B the cycle in which it goes 1→0, E_C their average. E_A0 and E_B0 repeat the measurement two periods earlier: if they disagree, the circuit has not settled and the run is discarded.</a:t>
            </a:r>
          </a:p>
        </p:txBody>
      </p:sp>
      <p:pic>
        <p:nvPicPr>
          <p:cNvPr id="11" name="Picture 10" descr="fig_eq_measure.png"/>
          <p:cNvPicPr>
            <a:picLocks noChangeAspect="1"/>
          </p:cNvPicPr>
          <p:nvPr/>
        </p:nvPicPr>
        <p:blipFill>
          <a:blip r:embed="rId2"/>
          <a:stretch>
            <a:fillRect/>
          </a:stretch>
        </p:blipFill>
        <p:spPr>
          <a:xfrm>
            <a:off x="7699248" y="1373896"/>
            <a:ext cx="3831336" cy="1568174"/>
          </a:xfrm>
          <a:prstGeom prst="rect">
            <a:avLst/>
          </a:prstGeom>
        </p:spPr>
      </p:pic>
      <p:sp>
        <p:nvSpPr>
          <p:cNvPr id="12" name="Rounded Rectangle 11"/>
          <p:cNvSpPr/>
          <p:nvPr/>
        </p:nvSpPr>
        <p:spPr>
          <a:xfrm>
            <a:off x="7699248" y="3145536"/>
            <a:ext cx="3831336" cy="2340864"/>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699248" y="3145536"/>
            <a:ext cx="41148" cy="2340864"/>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900416" y="3273552"/>
            <a:ext cx="3447288" cy="2084832"/>
          </a:xfrm>
          <a:prstGeom prst="rect">
            <a:avLst/>
          </a:prstGeom>
          <a:noFill/>
        </p:spPr>
        <p:txBody>
          <a:bodyPr wrap="square" lIns="0" rIns="0" tIns="0" bIns="0" anchor="t">
            <a:spAutoFit/>
          </a:bodyPr>
          <a:lstStyle/>
          <a:p>
            <a:pPr algn="l">
              <a:lnSpc>
                <a:spcPct val="114000"/>
              </a:lnSpc>
            </a:pPr>
            <a:r>
              <a:rPr sz="1350" b="1" i="0">
                <a:solidFill>
                  <a:srgbClr val="A4237A"/>
                </a:solidFill>
                <a:latin typeface="Calibri"/>
              </a:rPr>
              <a:t>Why integrate, and not just multiply</a:t>
            </a:r>
          </a:p>
          <a:p>
            <a:pPr algn="l">
              <a:lnSpc>
                <a:spcPct val="114000"/>
              </a:lnSpc>
              <a:spcBef>
                <a:spcPts val="400"/>
              </a:spcBef>
            </a:pPr>
            <a:r>
              <a:rPr sz="1250" b="0" i="0">
                <a:solidFill>
                  <a:srgbClr val="3D4756"/>
                </a:solidFill>
                <a:latin typeface="Calibri"/>
              </a:rPr>
              <a:t>The clock is a trapezoid and the current is not in phase with it. A point sample of V·I is meaningless here, and an average over the wrong window is worse than meaningless — it looks like a real number. Choosing the window turned out to be the hardest part of this project.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11</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PART I · THE DEFECT WE FOUND</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Two suspects, one culprit</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measurement_bug.png"/>
          <p:cNvPicPr>
            <a:picLocks noChangeAspect="1"/>
          </p:cNvPicPr>
          <p:nvPr/>
        </p:nvPicPr>
        <p:blipFill>
          <a:blip r:embed="rId2"/>
          <a:stretch>
            <a:fillRect/>
          </a:stretch>
        </p:blipFill>
        <p:spPr>
          <a:xfrm>
            <a:off x="603503" y="1380743"/>
            <a:ext cx="5760720" cy="4032504"/>
          </a:xfrm>
          <a:prstGeom prst="rect">
            <a:avLst/>
          </a:prstGeom>
        </p:spPr>
      </p:pic>
      <p:sp>
        <p:nvSpPr>
          <p:cNvPr id="8" name="TextBox 7"/>
          <p:cNvSpPr txBox="1"/>
          <p:nvPr/>
        </p:nvSpPr>
        <p:spPr>
          <a:xfrm>
            <a:off x="6446520" y="1353312"/>
            <a:ext cx="5084064" cy="566928"/>
          </a:xfrm>
          <a:prstGeom prst="rect">
            <a:avLst/>
          </a:prstGeom>
          <a:noFill/>
        </p:spPr>
        <p:txBody>
          <a:bodyPr wrap="square" lIns="0" rIns="0" tIns="0" bIns="0" anchor="t">
            <a:spAutoFit/>
          </a:bodyPr>
          <a:lstStyle/>
          <a:p>
            <a:pPr algn="l">
              <a:lnSpc>
                <a:spcPct val="114000"/>
              </a:lnSpc>
            </a:pPr>
            <a:r>
              <a:rPr sz="1450" b="1" i="0">
                <a:solidFill>
                  <a:srgbClr val="1A2233"/>
                </a:solidFill>
                <a:latin typeface="Calibri"/>
              </a:rPr>
              <a:t>Our early ECRL curve looked plausible. We suspected the input edge. We tested both suspects instead of assuming.</a:t>
            </a:r>
          </a:p>
        </p:txBody>
      </p:sp>
      <p:sp>
        <p:nvSpPr>
          <p:cNvPr id="9" name="Rounded Rectangle 8"/>
          <p:cNvSpPr/>
          <p:nvPr/>
        </p:nvSpPr>
        <p:spPr>
          <a:xfrm>
            <a:off x="6446520" y="1956816"/>
            <a:ext cx="5084064" cy="1481328"/>
          </a:xfrm>
          <a:prstGeom prst="roundRect">
            <a:avLst>
              <a:gd name="adj" fmla="val 6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446520" y="1956816"/>
            <a:ext cx="41148" cy="1481328"/>
          </a:xfrm>
          <a:prstGeom prst="rect">
            <a:avLst/>
          </a:prstGeom>
          <a:solidFill>
            <a:srgbClr val="7682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647688" y="2084831"/>
            <a:ext cx="4663440" cy="1243584"/>
          </a:xfrm>
          <a:prstGeom prst="rect">
            <a:avLst/>
          </a:prstGeom>
          <a:noFill/>
        </p:spPr>
        <p:txBody>
          <a:bodyPr wrap="square" lIns="0" rIns="0" tIns="0" bIns="0" anchor="t">
            <a:spAutoFit/>
          </a:bodyPr>
          <a:lstStyle/>
          <a:p>
            <a:pPr algn="l">
              <a:lnSpc>
                <a:spcPct val="114000"/>
              </a:lnSpc>
            </a:pPr>
            <a:r>
              <a:rPr sz="1250" b="1" i="0">
                <a:solidFill>
                  <a:srgbClr val="768295"/>
                </a:solidFill>
                <a:latin typeface="Calibri"/>
              </a:rPr>
              <a:t>Suspect 1 — the input edge.  </a:t>
            </a:r>
            <a:r>
              <a:rPr sz="1250" b="0" i="0">
                <a:solidFill>
                  <a:srgbClr val="3D4756"/>
                </a:solidFill>
                <a:latin typeface="Calibri"/>
              </a:rPr>
              <a:t>The baseline used a fixed 100 ps input transition whatever T_phase was. At T_phase = 100 ns that edge is a thousand times faster than the clock — precisely what adiabatic operation is supposed to avoid.</a:t>
            </a:r>
          </a:p>
          <a:p>
            <a:pPr algn="l">
              <a:lnSpc>
                <a:spcPct val="114000"/>
              </a:lnSpc>
              <a:spcBef>
                <a:spcPts val="500"/>
              </a:spcBef>
            </a:pPr>
            <a:r>
              <a:rPr sz="1250" b="1" i="0">
                <a:solidFill>
                  <a:srgbClr val="768295"/>
                </a:solidFill>
                <a:latin typeface="Calibri"/>
              </a:rPr>
              <a:t>Tested: replacing it with a full-phase ramp changed the energy by essentially nothing.</a:t>
            </a:r>
          </a:p>
        </p:txBody>
      </p:sp>
      <p:sp>
        <p:nvSpPr>
          <p:cNvPr id="12" name="Rounded Rectangle 11"/>
          <p:cNvSpPr/>
          <p:nvPr/>
        </p:nvSpPr>
        <p:spPr>
          <a:xfrm>
            <a:off x="6446520" y="3547872"/>
            <a:ext cx="5084064" cy="1609344"/>
          </a:xfrm>
          <a:prstGeom prst="roundRect">
            <a:avLst>
              <a:gd name="adj" fmla="val 6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46520" y="3547872"/>
            <a:ext cx="41148" cy="1609344"/>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647688" y="3675887"/>
            <a:ext cx="4663440" cy="1371600"/>
          </a:xfrm>
          <a:prstGeom prst="rect">
            <a:avLst/>
          </a:prstGeom>
          <a:noFill/>
        </p:spPr>
        <p:txBody>
          <a:bodyPr wrap="square" lIns="0" rIns="0" tIns="0" bIns="0" anchor="t">
            <a:spAutoFit/>
          </a:bodyPr>
          <a:lstStyle/>
          <a:p>
            <a:pPr algn="l">
              <a:lnSpc>
                <a:spcPct val="114000"/>
              </a:lnSpc>
            </a:pPr>
            <a:r>
              <a:rPr sz="1250" b="1" i="0">
                <a:solidFill>
                  <a:srgbClr val="C0242C"/>
                </a:solidFill>
                <a:latin typeface="Calibri"/>
              </a:rPr>
              <a:t>Suspect 2 — the measurement window.  </a:t>
            </a:r>
            <a:r>
              <a:rPr sz="1250" b="0" i="0">
                <a:solidFill>
                  <a:srgbClr val="3D4756"/>
                </a:solidFill>
                <a:latin typeface="Calibri"/>
              </a:rPr>
              <a:t>The input had already flipped back during the previous cycle, so the metered window contained no data transition at all.</a:t>
            </a:r>
          </a:p>
          <a:p>
            <a:pPr algn="l">
              <a:lnSpc>
                <a:spcPct val="114000"/>
              </a:lnSpc>
              <a:spcBef>
                <a:spcPts val="500"/>
              </a:spcBef>
            </a:pPr>
            <a:r>
              <a:rPr sz="1250" b="1" i="0">
                <a:solidFill>
                  <a:srgbClr val="C0242C"/>
                </a:solidFill>
                <a:latin typeface="Calibri"/>
              </a:rPr>
              <a:t>This was the entire gap. The old numbers were the energy of a gate whose input never changes: correct per power cycle, meaningless per data transaction.</a:t>
            </a:r>
          </a:p>
        </p:txBody>
      </p:sp>
      <p:sp>
        <p:nvSpPr>
          <p:cNvPr id="15" name="TextBox 14"/>
          <p:cNvSpPr txBox="1"/>
          <p:nvPr/>
        </p:nvSpPr>
        <p:spPr>
          <a:xfrm>
            <a:off x="6446520" y="5285232"/>
            <a:ext cx="5084064" cy="10058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The fix, now in every ECRL run</a:t>
            </a:r>
          </a:p>
          <a:p>
            <a:pPr algn="l">
              <a:lnSpc>
                <a:spcPct val="114000"/>
              </a:lnSpc>
              <a:spcBef>
                <a:spcPts val="500"/>
              </a:spcBef>
            </a:pPr>
            <a:r>
              <a:rPr sz="1250" b="0" i="0">
                <a:solidFill>
                  <a:srgbClr val="3D4756"/>
                </a:solidFill>
                <a:latin typeface="Calibri"/>
              </a:rPr>
              <a:t>Input ramps over a full phase, inside Φ's wait window · data alternates 1,0,1,0 every cycle · the 0→1 and 1→0 cycles are metered separately · 5.36 → 12.46 fJ at 10 MHz.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12</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RESULT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ECRL: energy per operation against frequency</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ecrl_slowramp_energy_vs_ftr.png"/>
          <p:cNvPicPr>
            <a:picLocks noChangeAspect="1"/>
          </p:cNvPicPr>
          <p:nvPr/>
        </p:nvPicPr>
        <p:blipFill>
          <a:blip r:embed="rId2"/>
          <a:stretch>
            <a:fillRect/>
          </a:stretch>
        </p:blipFill>
        <p:spPr>
          <a:xfrm>
            <a:off x="837036" y="1298448"/>
            <a:ext cx="6683542" cy="4617720"/>
          </a:xfrm>
          <a:prstGeom prst="rect">
            <a:avLst/>
          </a:prstGeom>
        </p:spPr>
      </p:pic>
      <p:sp>
        <p:nvSpPr>
          <p:cNvPr id="8" name="TextBox 7"/>
          <p:cNvSpPr txBox="1"/>
          <p:nvPr/>
        </p:nvSpPr>
        <p:spPr>
          <a:xfrm>
            <a:off x="7589520" y="1389888"/>
            <a:ext cx="3941063" cy="274320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What the curve says</a:t>
            </a:r>
          </a:p>
          <a:p>
            <a:pPr algn="l" marL="237744" indent="-237744">
              <a:lnSpc>
                <a:spcPct val="114000"/>
              </a:lnSpc>
              <a:spcBef>
                <a:spcPts val="1000"/>
              </a:spcBef>
              <a:buClr>
                <a:srgbClr val="A4237A"/>
              </a:buClr>
              <a:buFont typeface="Arial"/>
              <a:buChar char="▪"/>
            </a:pPr>
            <a:r>
              <a:rPr sz="1350" b="0" i="0">
                <a:solidFill>
                  <a:srgbClr val="3D4756"/>
                </a:solidFill>
                <a:latin typeface="Calibri"/>
              </a:rPr>
              <a:t>Energy rises monotonically with frequency at every width — the qualitative behaviour the 1996 ECRL paper reports.</a:t>
            </a:r>
          </a:p>
          <a:p>
            <a:pPr algn="l" marL="237744" indent="-237744">
              <a:lnSpc>
                <a:spcPct val="114000"/>
              </a:lnSpc>
              <a:spcBef>
                <a:spcPts val="900"/>
              </a:spcBef>
              <a:buClr>
                <a:srgbClr val="A4237A"/>
              </a:buClr>
              <a:buFont typeface="Arial"/>
              <a:buChar char="▪"/>
            </a:pPr>
            <a:r>
              <a:rPr sz="1350" b="0" i="0">
                <a:solidFill>
                  <a:srgbClr val="3D4756"/>
                </a:solidFill>
                <a:latin typeface="Calibri"/>
              </a:rPr>
              <a:t>At W = 1.0 µm the energy goes 12.46 → 54.69 fJ, a 4.4× rise across a 100× rise in frequency. Sub-linear, as an RC/T loss should be.</a:t>
            </a:r>
          </a:p>
          <a:p>
            <a:pPr algn="l" marL="237744" indent="-237744">
              <a:lnSpc>
                <a:spcPct val="114000"/>
              </a:lnSpc>
              <a:spcBef>
                <a:spcPts val="900"/>
              </a:spcBef>
              <a:buClr>
                <a:srgbClr val="A4237A"/>
              </a:buClr>
              <a:buFont typeface="Arial"/>
              <a:buChar char="▪"/>
            </a:pPr>
            <a:r>
              <a:rPr sz="1350" b="0" i="0">
                <a:solidFill>
                  <a:srgbClr val="3D4756"/>
                </a:solidFill>
                <a:latin typeface="Calibri"/>
              </a:rPr>
              <a:t>It does not extrapolate to zero. The threshold drop and leakage floors are still underneath.</a:t>
            </a:r>
          </a:p>
        </p:txBody>
      </p:sp>
      <p:graphicFrame>
        <p:nvGraphicFramePr>
          <p:cNvPr id="9" name="Table 8"/>
          <p:cNvGraphicFramePr>
            <a:graphicFrameLocks noGrp="1"/>
          </p:cNvGraphicFramePr>
          <p:nvPr/>
        </p:nvGraphicFramePr>
        <p:xfrm>
          <a:off x="7589520" y="4187952"/>
          <a:ext cx="3941062" cy="1243584"/>
        </p:xfrm>
        <a:graphic>
          <a:graphicData uri="http://schemas.openxmlformats.org/drawingml/2006/table">
            <a:tbl>
              <a:tblPr firstRow="0" bandRow="0" lastRow="0" firstCol="0" bandCol="0" lastCol="0">
                <a:tableStyleId>{2D5ABB26-0587-4C30-8999-92F81FD0307C}</a:tableStyleId>
              </a:tblPr>
              <a:tblGrid>
                <a:gridCol w="1751583"/>
                <a:gridCol w="2189479"/>
              </a:tblGrid>
              <a:tr h="310896">
                <a:tc>
                  <a:txBody>
                    <a:bodyPr wrap="square"/>
                    <a:lstStyle/>
                    <a:p>
                      <a:pPr algn="l"/>
                      <a:r>
                        <a:rPr sz="1100" b="1">
                          <a:solidFill>
                            <a:srgbClr val="FFFFFF"/>
                          </a:solidFill>
                          <a:latin typeface="Calibri"/>
                        </a:rPr>
                        <a:t>f_tr</a:t>
                      </a:r>
                    </a:p>
                  </a:txBody>
                  <a:tcPr marL="91440" marR="73152" marT="27432" marB="27432" anchor="ctr">
                    <a:solidFill>
                      <a:srgbClr val="A4237A"/>
                    </a:solidFill>
                  </a:tcPr>
                </a:tc>
                <a:tc>
                  <a:txBody>
                    <a:bodyPr wrap="square"/>
                    <a:lstStyle/>
                    <a:p>
                      <a:pPr algn="l"/>
                      <a:r>
                        <a:rPr sz="1100" b="1">
                          <a:solidFill>
                            <a:srgbClr val="FFFFFF"/>
                          </a:solidFill>
                          <a:latin typeface="Calibri"/>
                        </a:rPr>
                        <a:t>E per operation</a:t>
                      </a:r>
                    </a:p>
                  </a:txBody>
                  <a:tcPr marL="91440" marR="73152" marT="27432" marB="27432" anchor="ctr">
                    <a:solidFill>
                      <a:srgbClr val="A4237A"/>
                    </a:solidFill>
                  </a:tcPr>
                </a:tc>
              </a:tr>
              <a:tr h="310896">
                <a:tc>
                  <a:txBody>
                    <a:bodyPr wrap="square"/>
                    <a:lstStyle/>
                    <a:p>
                      <a:pPr algn="l"/>
                      <a:r>
                        <a:rPr sz="1250" b="0">
                          <a:solidFill>
                            <a:srgbClr val="3D4756"/>
                          </a:solidFill>
                          <a:latin typeface="Calibri"/>
                        </a:rPr>
                        <a:t>10 MHz</a:t>
                      </a:r>
                    </a:p>
                  </a:txBody>
                  <a:tcPr marL="91440" marR="73152" marT="27432" marB="27432" anchor="ctr">
                    <a:solidFill>
                      <a:srgbClr val="FFFFFF"/>
                    </a:solidFill>
                  </a:tcPr>
                </a:tc>
                <a:tc>
                  <a:txBody>
                    <a:bodyPr wrap="square"/>
                    <a:lstStyle/>
                    <a:p>
                      <a:pPr algn="l"/>
                      <a:r>
                        <a:rPr sz="1250" b="0">
                          <a:solidFill>
                            <a:srgbClr val="3D4756"/>
                          </a:solidFill>
                          <a:latin typeface="Calibri"/>
                        </a:rPr>
                        <a:t>12.46 fJ</a:t>
                      </a:r>
                    </a:p>
                  </a:txBody>
                  <a:tcPr marL="91440" marR="73152" marT="27432" marB="27432" anchor="ctr">
                    <a:solidFill>
                      <a:srgbClr val="FFFFFF"/>
                    </a:solidFill>
                  </a:tcPr>
                </a:tc>
              </a:tr>
              <a:tr h="310896">
                <a:tc>
                  <a:txBody>
                    <a:bodyPr wrap="square"/>
                    <a:lstStyle/>
                    <a:p>
                      <a:pPr algn="l"/>
                      <a:r>
                        <a:rPr sz="1250" b="0">
                          <a:solidFill>
                            <a:srgbClr val="3D4756"/>
                          </a:solidFill>
                          <a:latin typeface="Calibri"/>
                        </a:rPr>
                        <a:t>100 MHz</a:t>
                      </a:r>
                    </a:p>
                  </a:txBody>
                  <a:tcPr marL="91440" marR="73152" marT="27432" marB="27432" anchor="ctr">
                    <a:solidFill>
                      <a:srgbClr val="F4F6F9"/>
                    </a:solidFill>
                  </a:tcPr>
                </a:tc>
                <a:tc>
                  <a:txBody>
                    <a:bodyPr wrap="square"/>
                    <a:lstStyle/>
                    <a:p>
                      <a:pPr algn="l"/>
                      <a:r>
                        <a:rPr sz="1250" b="0">
                          <a:solidFill>
                            <a:srgbClr val="3D4756"/>
                          </a:solidFill>
                          <a:latin typeface="Calibri"/>
                        </a:rPr>
                        <a:t>21.66 fJ</a:t>
                      </a:r>
                    </a:p>
                  </a:txBody>
                  <a:tcPr marL="91440" marR="73152" marT="27432" marB="27432" anchor="ctr">
                    <a:solidFill>
                      <a:srgbClr val="F4F6F9"/>
                    </a:solidFill>
                  </a:tcPr>
                </a:tc>
              </a:tr>
              <a:tr h="310896">
                <a:tc>
                  <a:txBody>
                    <a:bodyPr wrap="square"/>
                    <a:lstStyle/>
                    <a:p>
                      <a:pPr algn="l"/>
                      <a:r>
                        <a:rPr sz="1250" b="0">
                          <a:solidFill>
                            <a:srgbClr val="3D4756"/>
                          </a:solidFill>
                          <a:latin typeface="Calibri"/>
                        </a:rPr>
                        <a:t>1000 MHz</a:t>
                      </a:r>
                    </a:p>
                  </a:txBody>
                  <a:tcPr marL="91440" marR="73152" marT="27432" marB="27432" anchor="ctr">
                    <a:solidFill>
                      <a:srgbClr val="FFFFFF"/>
                    </a:solidFill>
                  </a:tcPr>
                </a:tc>
                <a:tc>
                  <a:txBody>
                    <a:bodyPr wrap="square"/>
                    <a:lstStyle/>
                    <a:p>
                      <a:pPr algn="l"/>
                      <a:r>
                        <a:rPr sz="1250" b="0">
                          <a:solidFill>
                            <a:srgbClr val="3D4756"/>
                          </a:solidFill>
                          <a:latin typeface="Calibri"/>
                        </a:rPr>
                        <a:t>54.69 fJ</a:t>
                      </a:r>
                    </a:p>
                  </a:txBody>
                  <a:tcPr marL="91440" marR="73152" marT="27432" marB="27432" anchor="ctr">
                    <a:solidFill>
                      <a:srgbClr val="FFFFFF"/>
                    </a:solidFill>
                  </a:tcPr>
                </a:tc>
              </a:tr>
            </a:tbl>
          </a:graphicData>
        </a:graphic>
      </p:graphicFrame>
      <p:sp>
        <p:nvSpPr>
          <p:cNvPr id="10" name="TextBox 9"/>
          <p:cNvSpPr txBox="1"/>
          <p:nvPr/>
        </p:nvSpPr>
        <p:spPr>
          <a:xfrm>
            <a:off x="7589520" y="5632704"/>
            <a:ext cx="3941063" cy="457200"/>
          </a:xfrm>
          <a:prstGeom prst="rect">
            <a:avLst/>
          </a:prstGeom>
          <a:noFill/>
        </p:spPr>
        <p:txBody>
          <a:bodyPr wrap="square" lIns="0" rIns="0" tIns="0" bIns="0" anchor="t">
            <a:spAutoFit/>
          </a:bodyPr>
          <a:lstStyle/>
          <a:p>
            <a:pPr algn="l">
              <a:lnSpc>
                <a:spcPct val="114000"/>
              </a:lnSpc>
            </a:pPr>
            <a:r>
              <a:rPr sz="1150" b="0" i="1">
                <a:solidFill>
                  <a:srgbClr val="768295"/>
                </a:solidFill>
                <a:latin typeface="Calibri"/>
              </a:rPr>
              <a:t>W = 1.0 µm column of ecrl_slowramp_sweep.csv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13</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 · RESULT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ECRL: sizing only helps where the loss is resistive</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width_sweep.png"/>
          <p:cNvPicPr>
            <a:picLocks noChangeAspect="1"/>
          </p:cNvPicPr>
          <p:nvPr/>
        </p:nvPicPr>
        <p:blipFill>
          <a:blip r:embed="rId2"/>
          <a:stretch>
            <a:fillRect/>
          </a:stretch>
        </p:blipFill>
        <p:spPr>
          <a:xfrm>
            <a:off x="566928" y="1303019"/>
            <a:ext cx="6720840" cy="4608576"/>
          </a:xfrm>
          <a:prstGeom prst="rect">
            <a:avLst/>
          </a:prstGeom>
        </p:spPr>
      </p:pic>
      <p:sp>
        <p:nvSpPr>
          <p:cNvPr id="8" name="TextBox 7"/>
          <p:cNvSpPr txBox="1"/>
          <p:nvPr/>
        </p:nvSpPr>
        <p:spPr>
          <a:xfrm>
            <a:off x="7223760" y="1389888"/>
            <a:ext cx="4306824" cy="2377440"/>
          </a:xfrm>
          <a:prstGeom prst="rect">
            <a:avLst/>
          </a:prstGeom>
          <a:noFill/>
        </p:spPr>
        <p:txBody>
          <a:bodyPr wrap="square" lIns="0" rIns="0" tIns="0" bIns="0" anchor="t">
            <a:spAutoFit/>
          </a:bodyPr>
          <a:lstStyle/>
          <a:p>
            <a:pPr algn="l">
              <a:lnSpc>
                <a:spcPct val="114000"/>
              </a:lnSpc>
            </a:pPr>
            <a:r>
              <a:rPr sz="1400" b="0" i="0">
                <a:solidFill>
                  <a:srgbClr val="3D4756"/>
                </a:solidFill>
                <a:latin typeface="Calibri"/>
              </a:rPr>
              <a:t>Wider devices lower the channel resistance, and the adiabatic loss term is proportional to RC/T. So sizing should buy a lot at short T and almost nothing at long T — and it does.</a:t>
            </a:r>
          </a:p>
          <a:p>
            <a:pPr algn="l" marL="237744" indent="-237744">
              <a:lnSpc>
                <a:spcPct val="114000"/>
              </a:lnSpc>
              <a:spcBef>
                <a:spcPts val="1100"/>
              </a:spcBef>
              <a:buClr>
                <a:srgbClr val="A4237A"/>
              </a:buClr>
              <a:buFont typeface="Arial"/>
              <a:buChar char="▪"/>
            </a:pPr>
            <a:r>
              <a:rPr sz="1400" b="1" i="0">
                <a:solidFill>
                  <a:srgbClr val="1A2233"/>
                </a:solidFill>
                <a:latin typeface="Calibri"/>
              </a:rPr>
              <a:t>At 1000 MHz</a:t>
            </a:r>
            <a:r>
              <a:rPr sz="1400" b="0" i="0">
                <a:solidFill>
                  <a:srgbClr val="3D4756"/>
                </a:solidFill>
                <a:latin typeface="Calibri"/>
              </a:rPr>
              <a:t>, going 0.84 → 3.0 µm buys 39%.</a:t>
            </a:r>
          </a:p>
          <a:p>
            <a:pPr algn="l" marL="237744" indent="-237744">
              <a:lnSpc>
                <a:spcPct val="114000"/>
              </a:lnSpc>
              <a:spcBef>
                <a:spcPts val="800"/>
              </a:spcBef>
              <a:buClr>
                <a:srgbClr val="0969DA"/>
              </a:buClr>
              <a:buFont typeface="Arial"/>
              <a:buChar char="▪"/>
            </a:pPr>
            <a:r>
              <a:rPr sz="1400" b="1" i="0">
                <a:solidFill>
                  <a:srgbClr val="1A2233"/>
                </a:solidFill>
                <a:latin typeface="Calibri"/>
              </a:rPr>
              <a:t>At 10 MHz</a:t>
            </a:r>
            <a:r>
              <a:rPr sz="1400" b="0" i="0">
                <a:solidFill>
                  <a:srgbClr val="3D4756"/>
                </a:solidFill>
                <a:latin typeface="Calibri"/>
              </a:rPr>
              <a:t>, the same change buys 8% — the curve is essentially flat.</a:t>
            </a:r>
          </a:p>
        </p:txBody>
      </p:sp>
      <p:sp>
        <p:nvSpPr>
          <p:cNvPr id="9" name="Rounded Rectangle 8"/>
          <p:cNvSpPr/>
          <p:nvPr/>
        </p:nvSpPr>
        <p:spPr>
          <a:xfrm>
            <a:off x="7223760" y="3858768"/>
            <a:ext cx="4306824" cy="2359152"/>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223760" y="3858768"/>
            <a:ext cx="41148" cy="2359152"/>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24928" y="3986783"/>
            <a:ext cx="3922776" cy="2103120"/>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A bug we caught, and how</a:t>
            </a:r>
          </a:p>
          <a:p>
            <a:pPr algn="l">
              <a:lnSpc>
                <a:spcPct val="114000"/>
              </a:lnSpc>
              <a:spcBef>
                <a:spcPts val="400"/>
              </a:spcBef>
            </a:pPr>
            <a:r>
              <a:rPr sz="1250" b="0" i="0">
                <a:solidFill>
                  <a:srgbClr val="3D4756"/>
                </a:solidFill>
                <a:latin typeface="Calibri"/>
              </a:rPr>
              <a:t>The first version of the width sweep edited .param WNMOS while the transistor instance lines still read w=1, so every point simulated the same device. We noticed because the energies were identical to four significant figures — a sweep that produces no spread is a broken sweep, not a null result. Fixed by rewriting the instance widths; the widths now demonstrably move the answer.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5A6B82"/>
                </a:solidFill>
                <a:latin typeface="Calibri"/>
              </a:rPr>
              <a:t>ECRL &amp; 2LAL in SKY130  ·  progress review</a:t>
            </a:r>
          </a:p>
        </p:txBody>
      </p:sp>
      <p:sp>
        <p:nvSpPr>
          <p:cNvPr id="4" name="TextBox 3"/>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5A6B82"/>
                </a:solidFill>
                <a:latin typeface="Calibri"/>
              </a:rPr>
              <a:t>14</a:t>
            </a:r>
          </a:p>
        </p:txBody>
      </p:sp>
      <p:sp>
        <p:nvSpPr>
          <p:cNvPr id="5" name="Rectangle 4"/>
          <p:cNvSpPr/>
          <p:nvPr/>
        </p:nvSpPr>
        <p:spPr>
          <a:xfrm>
            <a:off x="0" y="0"/>
            <a:ext cx="146304" cy="6858000"/>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8720" y="2359152"/>
            <a:ext cx="9601200" cy="2011680"/>
          </a:xfrm>
          <a:prstGeom prst="rect">
            <a:avLst/>
          </a:prstGeom>
          <a:noFill/>
        </p:spPr>
        <p:txBody>
          <a:bodyPr wrap="square" lIns="0" rIns="0" tIns="0" bIns="0" anchor="t">
            <a:spAutoFit/>
          </a:bodyPr>
          <a:lstStyle/>
          <a:p>
            <a:pPr algn="l">
              <a:lnSpc>
                <a:spcPct val="114000"/>
              </a:lnSpc>
            </a:pPr>
            <a:r>
              <a:rPr sz="1300" b="1" i="0">
                <a:solidFill>
                  <a:srgbClr val="7FD1B9"/>
                </a:solidFill>
                <a:latin typeface="Calibri"/>
              </a:rPr>
              <a:t>PART II</a:t>
            </a:r>
          </a:p>
          <a:p>
            <a:pPr algn="l">
              <a:lnSpc>
                <a:spcPct val="100000"/>
              </a:lnSpc>
              <a:spcBef>
                <a:spcPts val="800"/>
              </a:spcBef>
            </a:pPr>
            <a:r>
              <a:rPr sz="4000" b="1" i="0">
                <a:solidFill>
                  <a:srgbClr val="FFFFFF"/>
                </a:solidFill>
                <a:latin typeface="Calibri"/>
              </a:rPr>
              <a:t>2LAL, and three things we had to correct</a:t>
            </a:r>
          </a:p>
          <a:p>
            <a:pPr algn="l">
              <a:lnSpc>
                <a:spcPct val="114000"/>
              </a:lnSpc>
              <a:spcBef>
                <a:spcPts val="1200"/>
              </a:spcBef>
            </a:pPr>
            <a:r>
              <a:rPr sz="1550" b="0" i="0">
                <a:solidFill>
                  <a:srgbClr val="B4C1D1"/>
                </a:solidFill>
                <a:latin typeface="Calibri"/>
              </a:rPr>
              <a:t>The cell is not 4 transistors · a logic 0 is not a pulse · inversion is not a wire crossing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15</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12866B"/>
                </a:solidFill>
                <a:latin typeface="Calibri"/>
              </a:rPr>
              <a:t>PART II · BACKGROUND</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What 2LAL is</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2lal_clocks.png"/>
          <p:cNvPicPr>
            <a:picLocks noChangeAspect="1"/>
          </p:cNvPicPr>
          <p:nvPr/>
        </p:nvPicPr>
        <p:blipFill>
          <a:blip r:embed="rId2"/>
          <a:stretch>
            <a:fillRect/>
          </a:stretch>
        </p:blipFill>
        <p:spPr>
          <a:xfrm>
            <a:off x="730213" y="1316736"/>
            <a:ext cx="6760028" cy="3291840"/>
          </a:xfrm>
          <a:prstGeom prst="rect">
            <a:avLst/>
          </a:prstGeom>
        </p:spPr>
      </p:pic>
      <p:sp>
        <p:nvSpPr>
          <p:cNvPr id="8" name="TextBox 7"/>
          <p:cNvSpPr txBox="1"/>
          <p:nvPr/>
        </p:nvSpPr>
        <p:spPr>
          <a:xfrm>
            <a:off x="658368" y="4846320"/>
            <a:ext cx="6903720" cy="1188720"/>
          </a:xfrm>
          <a:prstGeom prst="rect">
            <a:avLst/>
          </a:prstGeom>
          <a:noFill/>
        </p:spPr>
        <p:txBody>
          <a:bodyPr wrap="square" lIns="0" rIns="0" tIns="0" bIns="0" anchor="t">
            <a:spAutoFit/>
          </a:bodyPr>
          <a:lstStyle/>
          <a:p>
            <a:pPr algn="l">
              <a:lnSpc>
                <a:spcPct val="114000"/>
              </a:lnSpc>
            </a:pPr>
            <a:r>
              <a:rPr sz="1350" b="0" i="0">
                <a:solidFill>
                  <a:srgbClr val="3D4756"/>
                </a:solidFill>
                <a:latin typeface="Calibri"/>
              </a:rPr>
              <a:t>Each stage is clocked one phase tick later than the one before it. T_rail = 4·T_phase — the same period as ECRL's T_clock, which is exactly what lets both families sit on one axis.</a:t>
            </a:r>
          </a:p>
        </p:txBody>
      </p:sp>
      <p:sp>
        <p:nvSpPr>
          <p:cNvPr id="9" name="TextBox 8"/>
          <p:cNvSpPr txBox="1"/>
          <p:nvPr/>
        </p:nvSpPr>
        <p:spPr>
          <a:xfrm>
            <a:off x="7882127" y="1371600"/>
            <a:ext cx="3648456" cy="3054096"/>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Two-Level Adiabatic Logic</a:t>
            </a:r>
          </a:p>
          <a:p>
            <a:pPr algn="l">
              <a:lnSpc>
                <a:spcPct val="114000"/>
              </a:lnSpc>
              <a:spcBef>
                <a:spcPts val="600"/>
              </a:spcBef>
            </a:pPr>
            <a:r>
              <a:rPr sz="1350" b="0" i="0">
                <a:solidFill>
                  <a:srgbClr val="3D4756"/>
                </a:solidFill>
                <a:latin typeface="Calibri"/>
              </a:rPr>
              <a:t>Frank et al. Data is carried dual-rail; the logic itself is done with transmission gates driven by a four-phase trapezoidal rail set rather than by a single power clock.</a:t>
            </a:r>
          </a:p>
          <a:p>
            <a:pPr algn="l" marL="237744" indent="-237744">
              <a:lnSpc>
                <a:spcPct val="114000"/>
              </a:lnSpc>
              <a:spcBef>
                <a:spcPts val="1300"/>
              </a:spcBef>
              <a:buClr>
                <a:srgbClr val="12866B"/>
              </a:buClr>
              <a:buFont typeface="Arial"/>
              <a:buChar char="▪"/>
            </a:pPr>
            <a:r>
              <a:rPr sz="1350" b="1" i="0">
                <a:solidFill>
                  <a:srgbClr val="1A2233"/>
                </a:solidFill>
                <a:latin typeface="Calibri"/>
              </a:rPr>
              <a:t>A pair rests at FALSE. </a:t>
            </a:r>
            <a:r>
              <a:rPr sz="1350" b="0" i="0">
                <a:solidFill>
                  <a:srgbClr val="3D4756"/>
                </a:solidFill>
                <a:latin typeface="Calibri"/>
              </a:rPr>
              <a:t>A dual-rail pair (T, C) sits at (0, VDD) when idle.</a:t>
            </a:r>
          </a:p>
          <a:p>
            <a:pPr algn="l" marL="237744" indent="-237744">
              <a:lnSpc>
                <a:spcPct val="114000"/>
              </a:lnSpc>
              <a:spcBef>
                <a:spcPts val="900"/>
              </a:spcBef>
              <a:buClr>
                <a:srgbClr val="12866B"/>
              </a:buClr>
              <a:buFont typeface="Arial"/>
              <a:buChar char="▪"/>
            </a:pPr>
            <a:r>
              <a:rPr sz="1350" b="1" i="0">
                <a:solidFill>
                  <a:srgbClr val="1A2233"/>
                </a:solidFill>
                <a:latin typeface="Calibri"/>
              </a:rPr>
              <a:t>A TRUE is a pulse. </a:t>
            </a:r>
            <a:r>
              <a:rPr sz="1350" b="0" i="0">
                <a:solidFill>
                  <a:srgbClr val="3D4756"/>
                </a:solidFill>
                <a:latin typeface="Calibri"/>
              </a:rPr>
              <a:t>The T rail pulses up on phi_t while C is pulled down by the antiphase rail.</a:t>
            </a:r>
          </a:p>
          <a:p>
            <a:pPr algn="l" marL="237744" indent="-237744">
              <a:lnSpc>
                <a:spcPct val="114000"/>
              </a:lnSpc>
              <a:spcBef>
                <a:spcPts val="900"/>
              </a:spcBef>
              <a:buClr>
                <a:srgbClr val="12866B"/>
              </a:buClr>
              <a:buFont typeface="Arial"/>
              <a:buChar char="▪"/>
            </a:pPr>
            <a:r>
              <a:rPr sz="1350" b="1" i="0">
                <a:solidFill>
                  <a:srgbClr val="1A2233"/>
                </a:solidFill>
                <a:latin typeface="Calibri"/>
              </a:rPr>
              <a:t>Activity is data-independent. </a:t>
            </a:r>
            <a:r>
              <a:rPr sz="1350" b="0" i="0">
                <a:solidFill>
                  <a:srgbClr val="3D4756"/>
                </a:solidFill>
                <a:latin typeface="Calibri"/>
              </a:rPr>
              <a:t>A column always has one sub-chain carrying a TRUE, so it pulses every period, like ECRL.</a:t>
            </a:r>
          </a:p>
        </p:txBody>
      </p:sp>
      <p:sp>
        <p:nvSpPr>
          <p:cNvPr id="10" name="Rounded Rectangle 9"/>
          <p:cNvSpPr/>
          <p:nvPr/>
        </p:nvSpPr>
        <p:spPr>
          <a:xfrm>
            <a:off x="7882127" y="4590288"/>
            <a:ext cx="3648456" cy="1627632"/>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882127" y="4590288"/>
            <a:ext cx="41148" cy="1627632"/>
          </a:xfrm>
          <a:prstGeom prst="rect">
            <a:avLst/>
          </a:prstGeom>
          <a:solidFill>
            <a:srgbClr val="7682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83296" y="4718303"/>
            <a:ext cx="3264408" cy="1371600"/>
          </a:xfrm>
          <a:prstGeom prst="rect">
            <a:avLst/>
          </a:prstGeom>
          <a:noFill/>
        </p:spPr>
        <p:txBody>
          <a:bodyPr wrap="square" lIns="0" rIns="0" tIns="0" bIns="0" anchor="t">
            <a:spAutoFit/>
          </a:bodyPr>
          <a:lstStyle/>
          <a:p>
            <a:pPr algn="l">
              <a:lnSpc>
                <a:spcPct val="114000"/>
              </a:lnSpc>
            </a:pPr>
            <a:r>
              <a:rPr sz="1250" b="1" i="0">
                <a:solidFill>
                  <a:srgbClr val="768295"/>
                </a:solidFill>
                <a:latin typeface="Calibri"/>
              </a:rPr>
              <a:t>Where our cell came from</a:t>
            </a:r>
          </a:p>
          <a:p>
            <a:pPr algn="l">
              <a:lnSpc>
                <a:spcPct val="114000"/>
              </a:lnSpc>
              <a:spcBef>
                <a:spcPts val="400"/>
              </a:spcBef>
            </a:pPr>
            <a:r>
              <a:rPr sz="1150" b="0" i="0">
                <a:solidFill>
                  <a:srgbClr val="3D4756"/>
                </a:solidFill>
                <a:latin typeface="Calibri"/>
              </a:rPr>
              <a:t>Reconstructed from Frank's slides, a DeBenedictis technical report, and the PHAS2 cell in the 4lc repository. We have not seen Figure 2 of the source paper.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16</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PART II · CORRECTION</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Correction 1: the cell is eight transistors, not four</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2lal_cell.png"/>
          <p:cNvPicPr>
            <a:picLocks noChangeAspect="1"/>
          </p:cNvPicPr>
          <p:nvPr/>
        </p:nvPicPr>
        <p:blipFill>
          <a:blip r:embed="rId2"/>
          <a:stretch>
            <a:fillRect/>
          </a:stretch>
        </p:blipFill>
        <p:spPr>
          <a:xfrm>
            <a:off x="566928" y="1613467"/>
            <a:ext cx="6903720" cy="3384176"/>
          </a:xfrm>
          <a:prstGeom prst="rect">
            <a:avLst/>
          </a:prstGeom>
        </p:spPr>
      </p:pic>
      <p:sp>
        <p:nvSpPr>
          <p:cNvPr id="8" name="TextBox 7"/>
          <p:cNvSpPr txBox="1"/>
          <p:nvPr/>
        </p:nvSpPr>
        <p:spPr>
          <a:xfrm>
            <a:off x="7360920" y="1389888"/>
            <a:ext cx="4169663" cy="4663440"/>
          </a:xfrm>
          <a:prstGeom prst="rect">
            <a:avLst/>
          </a:prstGeom>
          <a:noFill/>
        </p:spPr>
        <p:txBody>
          <a:bodyPr wrap="square" lIns="0" rIns="0" tIns="0" bIns="0" anchor="t">
            <a:spAutoFit/>
          </a:bodyPr>
          <a:lstStyle/>
          <a:p/>
        </p:txBody>
      </p:sp>
      <p:sp>
        <p:nvSpPr>
          <p:cNvPr id="9" name="Rounded Rectangle 8"/>
          <p:cNvSpPr/>
          <p:nvPr/>
        </p:nvSpPr>
        <p:spPr>
          <a:xfrm>
            <a:off x="7360920" y="1371600"/>
            <a:ext cx="4169663" cy="1755648"/>
          </a:xfrm>
          <a:prstGeom prst="roundRect">
            <a:avLst>
              <a:gd name="adj" fmla="val 6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360920" y="1371600"/>
            <a:ext cx="41148" cy="1755648"/>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562088" y="1517904"/>
            <a:ext cx="3749039" cy="1508760"/>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What we were told</a:t>
            </a:r>
          </a:p>
          <a:p>
            <a:pPr algn="l">
              <a:lnSpc>
                <a:spcPct val="114000"/>
              </a:lnSpc>
              <a:spcBef>
                <a:spcPts val="500"/>
              </a:spcBef>
            </a:pPr>
            <a:r>
              <a:rPr sz="1250" b="0" i="0">
                <a:solidFill>
                  <a:srgbClr val="3D4756"/>
                </a:solidFill>
                <a:latin typeface="Calibri"/>
              </a:rPr>
              <a:t>Four devices per stage: two nFETs and two pFETs. A forward-only 4-transistor cell has no way to pull its own output back down — by the time the clock falls, the input has already retracted and the gate is off.</a:t>
            </a:r>
          </a:p>
        </p:txBody>
      </p:sp>
      <p:sp>
        <p:nvSpPr>
          <p:cNvPr id="12" name="TextBox 11"/>
          <p:cNvSpPr txBox="1"/>
          <p:nvPr/>
        </p:nvSpPr>
        <p:spPr>
          <a:xfrm>
            <a:off x="7360920" y="3291840"/>
            <a:ext cx="4169663" cy="1097280"/>
          </a:xfrm>
          <a:prstGeom prst="rect">
            <a:avLst/>
          </a:prstGeom>
          <a:noFill/>
        </p:spPr>
        <p:txBody>
          <a:bodyPr wrap="square" lIns="0" rIns="0" tIns="0" bIns="0" anchor="t">
            <a:spAutoFit/>
          </a:bodyPr>
          <a:lstStyle/>
          <a:p>
            <a:pPr algn="l">
              <a:lnSpc>
                <a:spcPct val="114000"/>
              </a:lnSpc>
            </a:pPr>
            <a:r>
              <a:rPr sz="1300" b="1" i="0">
                <a:solidFill>
                  <a:srgbClr val="C0242C"/>
                </a:solidFill>
                <a:latin typeface="Calibri"/>
              </a:rPr>
              <a:t>In simulation every node latched high and stayed there, reporting “1” for both bit values.</a:t>
            </a:r>
          </a:p>
        </p:txBody>
      </p:sp>
      <p:sp>
        <p:nvSpPr>
          <p:cNvPr id="13" name="Rounded Rectangle 12"/>
          <p:cNvSpPr/>
          <p:nvPr/>
        </p:nvSpPr>
        <p:spPr>
          <a:xfrm>
            <a:off x="7360920" y="3931920"/>
            <a:ext cx="4169663" cy="2267712"/>
          </a:xfrm>
          <a:prstGeom prst="roundRect">
            <a:avLst>
              <a:gd name="adj" fmla="val 6000"/>
            </a:avLst>
          </a:prstGeom>
          <a:solidFill>
            <a:srgbClr val="F1F9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360920" y="3931920"/>
            <a:ext cx="41148" cy="226771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562088" y="4078224"/>
            <a:ext cx="3749039" cy="2011680"/>
          </a:xfrm>
          <a:prstGeom prst="rect">
            <a:avLst/>
          </a:prstGeom>
          <a:noFill/>
        </p:spPr>
        <p:txBody>
          <a:bodyPr wrap="square" lIns="0" rIns="0" tIns="0" bIns="0" anchor="t">
            <a:spAutoFit/>
          </a:bodyPr>
          <a:lstStyle/>
          <a:p>
            <a:pPr algn="l">
              <a:lnSpc>
                <a:spcPct val="114000"/>
              </a:lnSpc>
            </a:pPr>
            <a:r>
              <a:rPr sz="1350" b="1" i="0">
                <a:solidFill>
                  <a:srgbClr val="12866B"/>
                </a:solidFill>
                <a:latin typeface="Calibri"/>
              </a:rPr>
              <a:t>What actually works</a:t>
            </a:r>
          </a:p>
          <a:p>
            <a:pPr algn="l">
              <a:lnSpc>
                <a:spcPct val="114000"/>
              </a:lnSpc>
              <a:spcBef>
                <a:spcPts val="500"/>
              </a:spcBef>
            </a:pPr>
            <a:r>
              <a:rPr sz="1250" b="0" i="0">
                <a:solidFill>
                  <a:srgbClr val="3D4756"/>
                </a:solidFill>
                <a:latin typeface="Calibri"/>
              </a:rPr>
              <a:t>Eight transistors: the forward pair, plus a reverse pair that restores the previous stage once this stage's output is valid.</a:t>
            </a:r>
          </a:p>
          <a:p>
            <a:pPr algn="l">
              <a:lnSpc>
                <a:spcPct val="114000"/>
              </a:lnSpc>
              <a:spcBef>
                <a:spcPts val="500"/>
              </a:spcBef>
            </a:pPr>
            <a:r>
              <a:rPr sz="1250" b="1" i="0">
                <a:solidFill>
                  <a:srgbClr val="12866B"/>
                </a:solidFill>
                <a:latin typeface="Calibri"/>
              </a:rPr>
              <a:t>That reverse pair recovers the charge the forward pair cannot. It is the entire reason 2LAL is adiabatic — and it is exactly what the 4lc PHAS2 cell has.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17</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PART II · CORRECTION</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Correction 2: a logic 0 is the absence of a pulse</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10874959" cy="548640"/>
          </a:xfrm>
          <a:prstGeom prst="rect">
            <a:avLst/>
          </a:prstGeom>
          <a:noFill/>
        </p:spPr>
        <p:txBody>
          <a:bodyPr wrap="square" lIns="0" rIns="0" tIns="0" bIns="0" anchor="t">
            <a:spAutoFit/>
          </a:bodyPr>
          <a:lstStyle/>
          <a:p>
            <a:pPr algn="ctr">
              <a:lnSpc>
                <a:spcPct val="114000"/>
              </a:lnSpc>
            </a:pPr>
            <a:r>
              <a:rPr sz="1600" b="1" i="0">
                <a:solidFill>
                  <a:srgbClr val="1A2233"/>
                </a:solidFill>
                <a:latin typeface="Calibri"/>
              </a:rPr>
              <a:t>A dual-rail 2LAL pair rests at FALSE = (0, VDD). Encoding a 0 as a pulse on the complement rail is the obvious guess, and it is silently wrong.</a:t>
            </a:r>
          </a:p>
        </p:txBody>
      </p:sp>
      <p:sp>
        <p:nvSpPr>
          <p:cNvPr id="8" name="Rounded Rectangle 7"/>
          <p:cNvSpPr/>
          <p:nvPr/>
        </p:nvSpPr>
        <p:spPr>
          <a:xfrm>
            <a:off x="658368" y="2084831"/>
            <a:ext cx="5303520" cy="3246120"/>
          </a:xfrm>
          <a:prstGeom prst="roundRect">
            <a:avLst>
              <a:gd name="adj" fmla="val 5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084831"/>
            <a:ext cx="50292" cy="3246120"/>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9264" y="2340864"/>
            <a:ext cx="4709160" cy="2788920"/>
          </a:xfrm>
          <a:prstGeom prst="rect">
            <a:avLst/>
          </a:prstGeom>
          <a:noFill/>
        </p:spPr>
        <p:txBody>
          <a:bodyPr wrap="square" lIns="0" rIns="0" tIns="0" bIns="0" anchor="t">
            <a:spAutoFit/>
          </a:bodyPr>
          <a:lstStyle/>
          <a:p>
            <a:pPr algn="l">
              <a:lnSpc>
                <a:spcPct val="114000"/>
              </a:lnSpc>
            </a:pPr>
            <a:r>
              <a:rPr sz="1600" b="1" i="0">
                <a:solidFill>
                  <a:srgbClr val="C0242C"/>
                </a:solidFill>
                <a:latin typeface="Calibri"/>
              </a:rPr>
              <a:t>WRONG  —  what we first built</a:t>
            </a:r>
          </a:p>
          <a:p>
            <a:pPr algn="l">
              <a:lnSpc>
                <a:spcPct val="130000"/>
              </a:lnSpc>
              <a:spcBef>
                <a:spcPts val="1200"/>
              </a:spcBef>
            </a:pPr>
            <a:r>
              <a:rPr sz="1500" b="1" i="0">
                <a:solidFill>
                  <a:srgbClr val="1A2233"/>
                </a:solidFill>
                <a:latin typeface="Consolas"/>
              </a:rPr>
              <a:t>0  →  pulse the C rail
1  →  pulse the T rail</a:t>
            </a:r>
          </a:p>
          <a:p>
            <a:pPr algn="l">
              <a:lnSpc>
                <a:spcPct val="114000"/>
              </a:lnSpc>
              <a:spcBef>
                <a:spcPts val="1400"/>
              </a:spcBef>
            </a:pPr>
            <a:r>
              <a:rPr sz="1350" b="0" i="0">
                <a:solidFill>
                  <a:srgbClr val="3D4756"/>
                </a:solidFill>
                <a:latin typeface="Calibri"/>
              </a:rPr>
              <a:t>The complement pulse falls while the clock is still high. The pass gate's pFET conducts through that window, and every downstream stage latches a spurious 1.</a:t>
            </a:r>
          </a:p>
          <a:p>
            <a:pPr algn="l">
              <a:lnSpc>
                <a:spcPct val="114000"/>
              </a:lnSpc>
              <a:spcBef>
                <a:spcPts val="1000"/>
              </a:spcBef>
            </a:pPr>
            <a:r>
              <a:rPr sz="1350" b="1" i="0">
                <a:solidFill>
                  <a:srgbClr val="C0242C"/>
                </a:solidFill>
                <a:latin typeface="Calibri"/>
              </a:rPr>
              <a:t>It looked completely fine — because we had only ever tested the 1 bit.</a:t>
            </a:r>
          </a:p>
        </p:txBody>
      </p:sp>
      <p:sp>
        <p:nvSpPr>
          <p:cNvPr id="11" name="Rounded Rectangle 10"/>
          <p:cNvSpPr/>
          <p:nvPr/>
        </p:nvSpPr>
        <p:spPr>
          <a:xfrm>
            <a:off x="6446520" y="2084831"/>
            <a:ext cx="5084064" cy="3246120"/>
          </a:xfrm>
          <a:prstGeom prst="roundRect">
            <a:avLst>
              <a:gd name="adj" fmla="val 5000"/>
            </a:avLst>
          </a:prstGeom>
          <a:solidFill>
            <a:srgbClr val="F1F9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446520" y="2084831"/>
            <a:ext cx="50292" cy="3246120"/>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757416" y="2340864"/>
            <a:ext cx="4480560" cy="2788920"/>
          </a:xfrm>
          <a:prstGeom prst="rect">
            <a:avLst/>
          </a:prstGeom>
          <a:noFill/>
        </p:spPr>
        <p:txBody>
          <a:bodyPr wrap="square" lIns="0" rIns="0" tIns="0" bIns="0" anchor="t">
            <a:spAutoFit/>
          </a:bodyPr>
          <a:lstStyle/>
          <a:p>
            <a:pPr algn="l">
              <a:lnSpc>
                <a:spcPct val="114000"/>
              </a:lnSpc>
            </a:pPr>
            <a:r>
              <a:rPr sz="1600" b="1" i="0">
                <a:solidFill>
                  <a:srgbClr val="12866B"/>
                </a:solidFill>
                <a:latin typeface="Calibri"/>
              </a:rPr>
              <a:t>CORRECT  —  what actually works</a:t>
            </a:r>
          </a:p>
          <a:p>
            <a:pPr algn="l">
              <a:lnSpc>
                <a:spcPct val="130000"/>
              </a:lnSpc>
              <a:spcBef>
                <a:spcPts val="1200"/>
              </a:spcBef>
            </a:pPr>
            <a:r>
              <a:rPr sz="1500" b="1" i="0">
                <a:solidFill>
                  <a:srgbClr val="1A2233"/>
                </a:solidFill>
                <a:latin typeface="Consolas"/>
              </a:rPr>
              <a:t>0  →  no pulse at all
1  →  pulse the T rail</a:t>
            </a:r>
          </a:p>
          <a:p>
            <a:pPr algn="l">
              <a:lnSpc>
                <a:spcPct val="114000"/>
              </a:lnSpc>
              <a:spcBef>
                <a:spcPts val="1400"/>
              </a:spcBef>
            </a:pPr>
            <a:r>
              <a:rPr sz="1350" b="0" i="0">
                <a:solidFill>
                  <a:srgbClr val="3D4756"/>
                </a:solidFill>
                <a:latin typeface="Calibri"/>
              </a:rPr>
              <a:t>The pair simply stays at rest. Nothing moves, nothing conducts, and nothing downstream is fooled.</a:t>
            </a:r>
          </a:p>
          <a:p>
            <a:pPr algn="l">
              <a:lnSpc>
                <a:spcPct val="114000"/>
              </a:lnSpc>
              <a:spcBef>
                <a:spcPts val="1000"/>
              </a:spcBef>
            </a:pPr>
            <a:r>
              <a:rPr sz="1350" b="1" i="0">
                <a:solidFill>
                  <a:srgbClr val="12866B"/>
                </a:solidFill>
                <a:latin typeface="Calibri"/>
              </a:rPr>
              <a:t>Every stage is now checked at both bit values, at every frequency point in the sweep — which is the only reason this was ever caught.</a:t>
            </a:r>
          </a:p>
        </p:txBody>
      </p:sp>
      <p:sp>
        <p:nvSpPr>
          <p:cNvPr id="14" name="TextBox 13"/>
          <p:cNvSpPr txBox="1"/>
          <p:nvPr/>
        </p:nvSpPr>
        <p:spPr>
          <a:xfrm>
            <a:off x="658368" y="5541264"/>
            <a:ext cx="10874959" cy="548640"/>
          </a:xfrm>
          <a:prstGeom prst="rect">
            <a:avLst/>
          </a:prstGeom>
          <a:noFill/>
        </p:spPr>
        <p:txBody>
          <a:bodyPr wrap="square" lIns="0" rIns="0" tIns="0" bIns="0" anchor="t">
            <a:spAutoFit/>
          </a:bodyPr>
          <a:lstStyle/>
          <a:p>
            <a:pPr algn="ctr">
              <a:lnSpc>
                <a:spcPct val="114000"/>
              </a:lnSpc>
            </a:pPr>
            <a:r>
              <a:rPr sz="1400" b="1" i="0">
                <a:solidFill>
                  <a:srgbClr val="1A2233"/>
                </a:solidFill>
                <a:latin typeface="Calibri"/>
              </a:rPr>
              <a:t>The lesson we are taking from this: a logic family whose FALSE is “do nothing” cannot be validated by testing TRUE.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18</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PART II · CORRECTION</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Correction 3: inversion is not a wire crossing</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quadrail.png"/>
          <p:cNvPicPr>
            <a:picLocks noChangeAspect="1"/>
          </p:cNvPicPr>
          <p:nvPr/>
        </p:nvPicPr>
        <p:blipFill>
          <a:blip r:embed="rId2"/>
          <a:stretch>
            <a:fillRect/>
          </a:stretch>
        </p:blipFill>
        <p:spPr>
          <a:xfrm>
            <a:off x="1249527" y="1298448"/>
            <a:ext cx="9692640" cy="4297680"/>
          </a:xfrm>
          <a:prstGeom prst="rect">
            <a:avLst/>
          </a:prstGeom>
        </p:spPr>
      </p:pic>
      <p:sp>
        <p:nvSpPr>
          <p:cNvPr id="8" name="TextBox 7"/>
          <p:cNvSpPr txBox="1"/>
          <p:nvPr/>
        </p:nvSpPr>
        <p:spPr>
          <a:xfrm>
            <a:off x="658368" y="5687568"/>
            <a:ext cx="10874959" cy="502920"/>
          </a:xfrm>
          <a:prstGeom prst="rect">
            <a:avLst/>
          </a:prstGeom>
          <a:noFill/>
        </p:spPr>
        <p:txBody>
          <a:bodyPr wrap="square" lIns="0" rIns="0" tIns="0" bIns="0" anchor="t">
            <a:spAutoFit/>
          </a:bodyPr>
          <a:lstStyle/>
          <a:p>
            <a:pPr algn="ctr">
              <a:lnSpc>
                <a:spcPct val="114000"/>
              </a:lnSpc>
            </a:pPr>
            <a:r>
              <a:rPr sz="1350" b="0" i="0">
                <a:solidFill>
                  <a:srgbClr val="3D4756"/>
                </a:solidFill>
                <a:latin typeface="Calibri"/>
              </a:rPr>
              <a:t>Because the rest state (0, VDD) is lopsided between the two rails, crossing them turns “rest” into (VDD, 0) — which the next stage reads as a permanent TRUE. The fix costs no transistors in the cell, but it doubles the datapath.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19</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12866B"/>
                </a:solidFill>
                <a:latin typeface="Calibri"/>
              </a:rPr>
              <a:t>PART II · CORRECTNESS</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The quad-rail inverter, checked at the waveform</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2lal_inverter_stage_T10.png"/>
          <p:cNvPicPr>
            <a:picLocks noChangeAspect="1"/>
          </p:cNvPicPr>
          <p:nvPr/>
        </p:nvPicPr>
        <p:blipFill>
          <a:blip r:embed="rId2"/>
          <a:stretch>
            <a:fillRect/>
          </a:stretch>
        </p:blipFill>
        <p:spPr>
          <a:xfrm>
            <a:off x="566928" y="1310550"/>
            <a:ext cx="6949440" cy="3679115"/>
          </a:xfrm>
          <a:prstGeom prst="rect">
            <a:avLst/>
          </a:prstGeom>
        </p:spPr>
      </p:pic>
      <p:sp>
        <p:nvSpPr>
          <p:cNvPr id="8" name="TextBox 7"/>
          <p:cNvSpPr txBox="1"/>
          <p:nvPr/>
        </p:nvSpPr>
        <p:spPr>
          <a:xfrm>
            <a:off x="658368" y="5102352"/>
            <a:ext cx="6766560" cy="1097280"/>
          </a:xfrm>
          <a:prstGeom prst="rect">
            <a:avLst/>
          </a:prstGeom>
          <a:noFill/>
        </p:spPr>
        <p:txBody>
          <a:bodyPr wrap="square" lIns="0" rIns="0" tIns="0" bIns="0" anchor="t">
            <a:spAutoFit/>
          </a:bodyPr>
          <a:lstStyle/>
          <a:p>
            <a:pPr algn="l">
              <a:lnSpc>
                <a:spcPct val="114000"/>
              </a:lnSpc>
            </a:pPr>
            <a:r>
              <a:rPr sz="1350" b="0" i="0">
                <a:solidFill>
                  <a:srgbClr val="3D4756"/>
                </a:solidFill>
                <a:latin typeface="Calibri"/>
              </a:rPr>
              <a:t>One stage inside the 8-stage ring, T_phase = 10 ns. When node 3 carries a 1 (its a sub-chain pulses), node 4 carries a 0 one T_phase later (its n sub-chain pulses), and the other way round. The idle sub-chain never leaves rest.</a:t>
            </a:r>
          </a:p>
        </p:txBody>
      </p:sp>
      <p:sp>
        <p:nvSpPr>
          <p:cNvPr id="9" name="TextBox 8"/>
          <p:cNvSpPr txBox="1"/>
          <p:nvPr/>
        </p:nvSpPr>
        <p:spPr>
          <a:xfrm>
            <a:off x="7589520" y="1371600"/>
            <a:ext cx="3941063" cy="283464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Checked two independent ways</a:t>
            </a:r>
          </a:p>
          <a:p>
            <a:pPr algn="l" marL="237744" indent="-237744">
              <a:lnSpc>
                <a:spcPct val="114000"/>
              </a:lnSpc>
              <a:spcBef>
                <a:spcPts val="800"/>
              </a:spcBef>
              <a:buClr>
                <a:srgbClr val="12866B"/>
              </a:buClr>
              <a:buFont typeface="Arial"/>
              <a:buChar char="▪"/>
            </a:pPr>
            <a:r>
              <a:rPr sz="1250" b="1" i="0">
                <a:solidFill>
                  <a:srgbClr val="1A2233"/>
                </a:solidFill>
                <a:latin typeface="Calibri"/>
              </a:rPr>
              <a:t>96 .meas checks in the deck, </a:t>
            </a:r>
            <a:r>
              <a:rPr sz="1250" b="0" i="0">
                <a:solidFill>
                  <a:srgbClr val="3D4756"/>
                </a:solidFill>
                <a:latin typeface="Calibri"/>
              </a:rPr>
              <a:t>enforced at all 42 sweep points: every node, both data values; TRUE sub-chain high then back at rest, idle one never moves.</a:t>
            </a:r>
          </a:p>
          <a:p>
            <a:pPr algn="l" marL="237744" indent="-237744">
              <a:lnSpc>
                <a:spcPct val="114000"/>
              </a:lnSpc>
              <a:spcBef>
                <a:spcPts val="800"/>
              </a:spcBef>
              <a:buClr>
                <a:srgbClr val="12866B"/>
              </a:buClr>
              <a:buFont typeface="Arial"/>
              <a:buChar char="▪"/>
            </a:pPr>
            <a:r>
              <a:rPr sz="1250" b="1" i="0">
                <a:solidFill>
                  <a:srgbClr val="1A2233"/>
                </a:solidFill>
                <a:latin typeface="Calibri"/>
              </a:rPr>
              <a:t>An independent decoder </a:t>
            </a:r>
            <a:r>
              <a:rPr sz="1250" b="0" i="0">
                <a:solidFill>
                  <a:srgbClr val="3D4756"/>
                </a:solidFill>
                <a:latin typeface="Calibri"/>
              </a:rPr>
              <a:t>reads every node in every rail period: output = NOT input on 42 / 42 stage transfers at T_phase = 1, 10 and 100 ns, and 154 / 154 over 20 periods at 100 ns.</a:t>
            </a:r>
          </a:p>
          <a:p>
            <a:pPr algn="l" marL="237744" indent="-237744">
              <a:lnSpc>
                <a:spcPct val="114000"/>
              </a:lnSpc>
              <a:spcBef>
                <a:spcPts val="800"/>
              </a:spcBef>
              <a:buClr>
                <a:srgbClr val="0969DA"/>
              </a:buClr>
              <a:buFont typeface="Arial"/>
              <a:buChar char="▪"/>
            </a:pPr>
            <a:r>
              <a:rPr sz="1250" b="1" i="0">
                <a:solidFill>
                  <a:srgbClr val="1A2233"/>
                </a:solidFill>
                <a:latin typeface="Calibri"/>
              </a:rPr>
              <a:t>Constant data holds. </a:t>
            </a:r>
            <a:r>
              <a:rPr sz="1250" b="0" i="0">
                <a:solidFill>
                  <a:srgbClr val="3D4756"/>
                </a:solidFill>
                <a:latin typeface="Calibri"/>
              </a:rPr>
              <a:t>Seed the same value twice and every node keeps it: the output follows the data, it does not just toggle.</a:t>
            </a:r>
          </a:p>
        </p:txBody>
      </p:sp>
      <p:sp>
        <p:nvSpPr>
          <p:cNvPr id="10" name="Rounded Rectangle 9"/>
          <p:cNvSpPr/>
          <p:nvPr/>
        </p:nvSpPr>
        <p:spPr>
          <a:xfrm>
            <a:off x="7589520" y="4315968"/>
            <a:ext cx="3941063" cy="1901952"/>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589520" y="4315968"/>
            <a:ext cx="41148" cy="1901952"/>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90688" y="4443983"/>
            <a:ext cx="3557015" cy="1645920"/>
          </a:xfrm>
          <a:prstGeom prst="rect">
            <a:avLst/>
          </a:prstGeom>
          <a:noFill/>
        </p:spPr>
        <p:txBody>
          <a:bodyPr wrap="square" lIns="0" rIns="0" tIns="0" bIns="0" anchor="t">
            <a:spAutoFit/>
          </a:bodyPr>
          <a:lstStyle/>
          <a:p>
            <a:pPr algn="l">
              <a:lnSpc>
                <a:spcPct val="114000"/>
              </a:lnSpc>
            </a:pPr>
            <a:r>
              <a:rPr sz="1300" b="1" i="0">
                <a:solidFill>
                  <a:srgbClr val="C0242C"/>
                </a:solidFill>
                <a:latin typeface="Calibri"/>
              </a:rPr>
              <a:t>Can the checks fail? We broke the circuit on purpose</a:t>
            </a:r>
          </a:p>
          <a:p>
            <a:pPr algn="l">
              <a:lnSpc>
                <a:spcPct val="114000"/>
              </a:lnSpc>
              <a:spcBef>
                <a:spcPts val="400"/>
              </a:spcBef>
            </a:pPr>
            <a:r>
              <a:rPr sz="1150" b="0" i="0">
                <a:solidFill>
                  <a:srgbClr val="3D4756"/>
                </a:solidFill>
                <a:latin typeface="Calibri"/>
              </a:rPr>
              <a:t>T/C swapped on one stage: 24 of 96 fail. Restore gate removed: 48. Wrong clock phase: 40. One stage made non-inverting: 16, with E_C unchanged at 6.29 fJ, so only the logic checks can see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20</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PART II · EVIDENCE</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The broken inverter has a measurable signature</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fig_naive_vs_quadrail.png"/>
          <p:cNvPicPr>
            <a:picLocks noChangeAspect="1"/>
          </p:cNvPicPr>
          <p:nvPr/>
        </p:nvPicPr>
        <p:blipFill>
          <a:blip r:embed="rId2"/>
          <a:stretch>
            <a:fillRect/>
          </a:stretch>
        </p:blipFill>
        <p:spPr>
          <a:xfrm>
            <a:off x="566928" y="1303019"/>
            <a:ext cx="6720840" cy="4608576"/>
          </a:xfrm>
          <a:prstGeom prst="rect">
            <a:avLst/>
          </a:prstGeom>
        </p:spPr>
      </p:pic>
      <p:sp>
        <p:nvSpPr>
          <p:cNvPr id="8" name="TextBox 7"/>
          <p:cNvSpPr txBox="1"/>
          <p:nvPr/>
        </p:nvSpPr>
        <p:spPr>
          <a:xfrm>
            <a:off x="7223760" y="1389888"/>
            <a:ext cx="4306824" cy="457200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Why the red curve slopes downward</a:t>
            </a:r>
          </a:p>
          <a:p>
            <a:pPr algn="l">
              <a:lnSpc>
                <a:spcPct val="114000"/>
              </a:lnSpc>
              <a:spcBef>
                <a:spcPts val="700"/>
              </a:spcBef>
            </a:pPr>
            <a:r>
              <a:rPr sz="1350" b="0" i="0">
                <a:solidFill>
                  <a:srgbClr val="3D4756"/>
                </a:solidFill>
                <a:latin typeface="Calibri"/>
              </a:rPr>
              <a:t>A resistive short dissipates V²/R for as long as it is held, so its energy per operation is proportional to the period — it falls as 1/f. That straight 1/f line on a log-log plot is the fingerprint of a non-adiabatic path, and it is nothing like the shape either correct cell produces.</a:t>
            </a:r>
          </a:p>
          <a:p>
            <a:pPr algn="l" marL="237744" indent="-237744">
              <a:lnSpc>
                <a:spcPct val="114000"/>
              </a:lnSpc>
              <a:spcBef>
                <a:spcPts val="1300"/>
              </a:spcBef>
              <a:buClr>
                <a:srgbClr val="C0242C"/>
              </a:buClr>
              <a:buFont typeface="Arial"/>
              <a:buChar char="▪"/>
            </a:pPr>
            <a:r>
              <a:rPr sz="1350" b="1" i="0">
                <a:solidFill>
                  <a:srgbClr val="C0242C"/>
                </a:solidFill>
                <a:latin typeface="Calibri"/>
              </a:rPr>
              <a:t>6.0 pJ per stage at 10 MHz</a:t>
            </a:r>
            <a:r>
              <a:rPr sz="1350" b="0" i="0">
                <a:solidFill>
                  <a:srgbClr val="3D4756"/>
                </a:solidFill>
                <a:latin typeface="Calibri"/>
              </a:rPr>
              <a:t> — 625× the correct 8-FET buffer cell at the same point.</a:t>
            </a:r>
          </a:p>
          <a:p>
            <a:pPr algn="l" marL="237744" indent="-237744">
              <a:lnSpc>
                <a:spcPct val="114000"/>
              </a:lnSpc>
              <a:spcBef>
                <a:spcPts val="900"/>
              </a:spcBef>
              <a:buClr>
                <a:srgbClr val="12866B"/>
              </a:buClr>
              <a:buFont typeface="Arial"/>
              <a:buChar char="▪"/>
            </a:pPr>
            <a:r>
              <a:rPr sz="1350" b="1" i="0">
                <a:solidFill>
                  <a:srgbClr val="12866B"/>
                </a:solidFill>
                <a:latin typeface="Calibri"/>
              </a:rPr>
              <a:t>The two correct curves track each other. </a:t>
            </a:r>
            <a:r>
              <a:rPr sz="1350" b="0" i="0">
                <a:solidFill>
                  <a:srgbClr val="3D4756"/>
                </a:solidFill>
                <a:latin typeface="Calibri"/>
              </a:rPr>
              <a:t>The quad-rail inverter sits at exactly 2.000× the buffer, at every frequency — the expected cost of carrying two chains instead of one, and a useful self-check that the implementation is right.</a:t>
            </a:r>
          </a:p>
          <a:p>
            <a:pPr algn="l" marL="237744" indent="-237744">
              <a:lnSpc>
                <a:spcPct val="114000"/>
              </a:lnSpc>
              <a:spcBef>
                <a:spcPts val="900"/>
              </a:spcBef>
              <a:buClr>
                <a:srgbClr val="0969DA"/>
              </a:buClr>
              <a:buFont typeface="Arial"/>
              <a:buChar char="▪"/>
            </a:pPr>
            <a:r>
              <a:rPr sz="1350" b="1" i="0">
                <a:solidFill>
                  <a:srgbClr val="0969DA"/>
                </a:solidFill>
                <a:latin typeface="Calibri"/>
              </a:rPr>
              <a:t>The upturn below ~50 MHz is not leakage. </a:t>
            </a:r>
            <a:r>
              <a:rPr sz="1350" b="0" i="0">
                <a:solidFill>
                  <a:srgbClr val="3D4756"/>
                </a:solidFill>
                <a:latin typeface="Calibri"/>
              </a:rPr>
              <a:t>This is the superseded open-chain deck; its unrestored last node inflates slow-clock energy. Slide 20 uses the 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21</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12866B"/>
                </a:solidFill>
                <a:latin typeface="Calibri"/>
              </a:rPr>
              <a:t>PART II · RESULT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2LAL: energy per operation against frequency</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2lal_energy_vs_ftr.png"/>
          <p:cNvPicPr>
            <a:picLocks noChangeAspect="1"/>
          </p:cNvPicPr>
          <p:nvPr/>
        </p:nvPicPr>
        <p:blipFill>
          <a:blip r:embed="rId2"/>
          <a:stretch>
            <a:fillRect/>
          </a:stretch>
        </p:blipFill>
        <p:spPr>
          <a:xfrm>
            <a:off x="837036" y="1298448"/>
            <a:ext cx="6683542" cy="4617720"/>
          </a:xfrm>
          <a:prstGeom prst="rect">
            <a:avLst/>
          </a:prstGeom>
        </p:spPr>
      </p:pic>
      <p:sp>
        <p:nvSpPr>
          <p:cNvPr id="8" name="TextBox 7"/>
          <p:cNvSpPr txBox="1"/>
          <p:nvPr/>
        </p:nvSpPr>
        <p:spPr>
          <a:xfrm>
            <a:off x="7589520" y="1389888"/>
            <a:ext cx="3941063" cy="457200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Falls all the way down</a:t>
            </a:r>
          </a:p>
          <a:p>
            <a:pPr algn="l">
              <a:lnSpc>
                <a:spcPct val="114000"/>
              </a:lnSpc>
              <a:spcBef>
                <a:spcPts val="600"/>
              </a:spcBef>
            </a:pPr>
            <a:r>
              <a:rPr sz="1350" b="0" i="0">
                <a:solidFill>
                  <a:srgbClr val="3D4756"/>
                </a:solidFill>
                <a:latin typeface="Calibri"/>
              </a:rPr>
              <a:t>No floor in this range: 46.1 fJ at f_tr = 1000 MHz down to 0.93 fJ at 10 MHz (W = 1.0 µm), about 7× per decade.</a:t>
            </a:r>
          </a:p>
          <a:p>
            <a:pPr algn="l" marL="237744" indent="-237744">
              <a:lnSpc>
                <a:spcPct val="114000"/>
              </a:lnSpc>
              <a:spcBef>
                <a:spcPts val="1100"/>
              </a:spcBef>
              <a:buClr>
                <a:srgbClr val="12866B"/>
              </a:buClr>
              <a:buFont typeface="Arial"/>
              <a:buChar char="▪"/>
            </a:pPr>
            <a:r>
              <a:rPr sz="1350" b="1" i="0">
                <a:solidFill>
                  <a:srgbClr val="1A2233"/>
                </a:solidFill>
                <a:latin typeface="Calibri"/>
              </a:rPr>
              <a:t>That is the fully adiabatic signature: </a:t>
            </a:r>
            <a:r>
              <a:rPr sz="1350" b="0" i="0">
                <a:solidFill>
                  <a:srgbClr val="3D4756"/>
                </a:solidFill>
                <a:latin typeface="Calibri"/>
              </a:rPr>
              <a:t>only the resistive RC/T loss, with no threshold residue of the kind ECRL keeps.</a:t>
            </a:r>
          </a:p>
          <a:p>
            <a:pPr algn="l" marL="237744" indent="-237744">
              <a:lnSpc>
                <a:spcPct val="114000"/>
              </a:lnSpc>
              <a:spcBef>
                <a:spcPts val="900"/>
              </a:spcBef>
              <a:buClr>
                <a:srgbClr val="0969DA"/>
              </a:buClr>
              <a:buFont typeface="Arial"/>
              <a:buChar char="▪"/>
            </a:pPr>
            <a:r>
              <a:rPr sz="1350" b="1" i="0">
                <a:solidFill>
                  <a:srgbClr val="1A2233"/>
                </a:solidFill>
                <a:latin typeface="Calibri"/>
              </a:rPr>
              <a:t>Wider is better down to 50 MHz. </a:t>
            </a:r>
            <a:r>
              <a:rPr sz="1350" b="0" i="0">
                <a:solidFill>
                  <a:srgbClr val="3D4756"/>
                </a:solidFill>
                <a:latin typeface="Calibri"/>
              </a:rPr>
              <a:t>At 1000 MHz, W = 3.0 µm costs 33% less than W = 0.84 µm (33.9 against 50.3 fJ): the pass gates are resistance-limited.</a:t>
            </a:r>
          </a:p>
          <a:p>
            <a:pPr algn="l" marL="237744" indent="-237744">
              <a:lnSpc>
                <a:spcPct val="114000"/>
              </a:lnSpc>
              <a:spcBef>
                <a:spcPts val="900"/>
              </a:spcBef>
              <a:buClr>
                <a:srgbClr val="C0242C"/>
              </a:buClr>
              <a:buFont typeface="Arial"/>
              <a:buChar char="▪"/>
            </a:pPr>
            <a:r>
              <a:rPr sz="1350" b="1" i="0">
                <a:solidFill>
                  <a:srgbClr val="C0242C"/>
                </a:solidFill>
                <a:latin typeface="Calibri"/>
              </a:rPr>
              <a:t>At 10 MHz the widest devices turn back up. </a:t>
            </a:r>
            <a:r>
              <a:rPr sz="1350" b="0" i="0">
                <a:solidFill>
                  <a:srgbClr val="3D4756"/>
                </a:solidFill>
                <a:latin typeface="Calibri"/>
              </a:rPr>
              <a:t>W = 1.5 µm is lowest (0.62 fJ), W = 3.0 µm costs 0.90 fJ, consistent with leakage that grows with width.</a:t>
            </a:r>
          </a:p>
          <a:p>
            <a:pPr algn="l">
              <a:lnSpc>
                <a:spcPct val="114000"/>
              </a:lnSpc>
              <a:spcBef>
                <a:spcPts val="1300"/>
              </a:spcBef>
            </a:pPr>
            <a:r>
              <a:rPr sz="1350" b="1" i="0">
                <a:solidFill>
                  <a:srgbClr val="1A2233"/>
                </a:solidFill>
                <a:latin typeface="Calibri"/>
              </a:rPr>
              <a:t>Design result: in 2LAL, size up for speed, but stop near 1.5 µm for slow clocks.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5A6B82"/>
                </a:solidFill>
                <a:latin typeface="Calibri"/>
              </a:rPr>
              <a:t>ECRL &amp; 2LAL in SKY130  ·  progress review</a:t>
            </a:r>
          </a:p>
        </p:txBody>
      </p:sp>
      <p:sp>
        <p:nvSpPr>
          <p:cNvPr id="4" name="TextBox 3"/>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5A6B82"/>
                </a:solidFill>
                <a:latin typeface="Calibri"/>
              </a:rPr>
              <a:t>22</a:t>
            </a:r>
          </a:p>
        </p:txBody>
      </p:sp>
      <p:sp>
        <p:nvSpPr>
          <p:cNvPr id="5" name="Rectangle 4"/>
          <p:cNvSpPr/>
          <p:nvPr/>
        </p:nvSpPr>
        <p:spPr>
          <a:xfrm>
            <a:off x="0" y="0"/>
            <a:ext cx="146304" cy="6858000"/>
          </a:xfrm>
          <a:prstGeom prst="rect">
            <a:avLst/>
          </a:prstGeom>
          <a:solidFill>
            <a:srgbClr val="7FD1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88720" y="2606040"/>
            <a:ext cx="9601200" cy="1554480"/>
          </a:xfrm>
          <a:prstGeom prst="rect">
            <a:avLst/>
          </a:prstGeom>
          <a:noFill/>
        </p:spPr>
        <p:txBody>
          <a:bodyPr wrap="square" lIns="0" rIns="0" tIns="0" bIns="0" anchor="t">
            <a:spAutoFit/>
          </a:bodyPr>
          <a:lstStyle/>
          <a:p>
            <a:pPr algn="l">
              <a:lnSpc>
                <a:spcPct val="114000"/>
              </a:lnSpc>
            </a:pPr>
            <a:r>
              <a:rPr sz="1300" b="1" i="0">
                <a:solidFill>
                  <a:srgbClr val="7FD1B9"/>
                </a:solidFill>
                <a:latin typeface="Calibri"/>
              </a:rPr>
              <a:t>PART III</a:t>
            </a:r>
          </a:p>
          <a:p>
            <a:pPr algn="l">
              <a:lnSpc>
                <a:spcPct val="100000"/>
              </a:lnSpc>
              <a:spcBef>
                <a:spcPts val="800"/>
              </a:spcBef>
            </a:pPr>
            <a:r>
              <a:rPr sz="4200" b="1" i="0">
                <a:solidFill>
                  <a:srgbClr val="FFFFFF"/>
                </a:solidFill>
                <a:latin typeface="Calibri"/>
              </a:rPr>
              <a:t>ECRL against 2LAL</a:t>
            </a:r>
          </a:p>
          <a:p>
            <a:pPr algn="l">
              <a:lnSpc>
                <a:spcPct val="114000"/>
              </a:lnSpc>
              <a:spcBef>
                <a:spcPts val="1200"/>
              </a:spcBef>
            </a:pPr>
            <a:r>
              <a:rPr sz="1550" b="0" i="0">
                <a:solidFill>
                  <a:srgbClr val="B4C1D1"/>
                </a:solidFill>
                <a:latin typeface="Calibri"/>
              </a:rPr>
              <a:t>What had to match before the comparison meant anything — and what the comparison actually says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23</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III · FAIRNESS</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Seven things had to match</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1335024"/>
            <a:ext cx="10874959" cy="731520"/>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335024"/>
            <a:ext cx="41148" cy="731520"/>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1435608"/>
            <a:ext cx="2331720" cy="530352"/>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Technology and corner</a:t>
            </a:r>
          </a:p>
        </p:txBody>
      </p:sp>
      <p:sp>
        <p:nvSpPr>
          <p:cNvPr id="10" name="TextBox 9"/>
          <p:cNvSpPr txBox="1"/>
          <p:nvPr/>
        </p:nvSpPr>
        <p:spPr>
          <a:xfrm>
            <a:off x="3447287" y="1435608"/>
            <a:ext cx="7811719" cy="530352"/>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SKY130 tt, and — after we found they were not — the same model files. The two decks had been on different model sources with different unit conventions.</a:t>
            </a:r>
          </a:p>
        </p:txBody>
      </p:sp>
      <p:sp>
        <p:nvSpPr>
          <p:cNvPr id="11" name="Rounded Rectangle 10"/>
          <p:cNvSpPr/>
          <p:nvPr/>
        </p:nvSpPr>
        <p:spPr>
          <a:xfrm>
            <a:off x="658368" y="2116836"/>
            <a:ext cx="10874959"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2116836"/>
            <a:ext cx="41148" cy="53035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9264" y="2217420"/>
            <a:ext cx="2331720" cy="329184"/>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Supply</a:t>
            </a:r>
          </a:p>
        </p:txBody>
      </p:sp>
      <p:sp>
        <p:nvSpPr>
          <p:cNvPr id="14" name="TextBox 13"/>
          <p:cNvSpPr txBox="1"/>
          <p:nvPr/>
        </p:nvSpPr>
        <p:spPr>
          <a:xfrm>
            <a:off x="3447287" y="2217420"/>
            <a:ext cx="7811719" cy="329184"/>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1.8 V in both.</a:t>
            </a:r>
          </a:p>
        </p:txBody>
      </p:sp>
      <p:sp>
        <p:nvSpPr>
          <p:cNvPr id="15" name="Rounded Rectangle 14"/>
          <p:cNvSpPr/>
          <p:nvPr/>
        </p:nvSpPr>
        <p:spPr>
          <a:xfrm>
            <a:off x="658368" y="2697480"/>
            <a:ext cx="10874959" cy="530352"/>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2697480"/>
            <a:ext cx="41148" cy="53035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69264" y="2798064"/>
            <a:ext cx="2331720" cy="329184"/>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Load</a:t>
            </a:r>
          </a:p>
        </p:txBody>
      </p:sp>
      <p:sp>
        <p:nvSpPr>
          <p:cNvPr id="18" name="TextBox 17"/>
          <p:cNvSpPr txBox="1"/>
          <p:nvPr/>
        </p:nvSpPr>
        <p:spPr>
          <a:xfrm>
            <a:off x="3447287" y="2798064"/>
            <a:ext cx="7811719" cy="329184"/>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25 fF on every metered output node in both.</a:t>
            </a:r>
          </a:p>
        </p:txBody>
      </p:sp>
      <p:sp>
        <p:nvSpPr>
          <p:cNvPr id="19" name="Rounded Rectangle 18"/>
          <p:cNvSpPr/>
          <p:nvPr/>
        </p:nvSpPr>
        <p:spPr>
          <a:xfrm>
            <a:off x="658368" y="3278124"/>
            <a:ext cx="10874959"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3278124"/>
            <a:ext cx="41148" cy="53035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69264" y="3378708"/>
            <a:ext cx="2331720" cy="329184"/>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Device geometry</a:t>
            </a:r>
          </a:p>
        </p:txBody>
      </p:sp>
      <p:sp>
        <p:nvSpPr>
          <p:cNvPr id="22" name="TextBox 21"/>
          <p:cNvSpPr txBox="1"/>
          <p:nvPr/>
        </p:nvSpPr>
        <p:spPr>
          <a:xfrm>
            <a:off x="3447287" y="3378708"/>
            <a:ext cx="7811719" cy="329184"/>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W and L swept over identical values in both.</a:t>
            </a:r>
          </a:p>
        </p:txBody>
      </p:sp>
      <p:sp>
        <p:nvSpPr>
          <p:cNvPr id="23" name="Rounded Rectangle 22"/>
          <p:cNvSpPr/>
          <p:nvPr/>
        </p:nvSpPr>
        <p:spPr>
          <a:xfrm>
            <a:off x="658368" y="3858768"/>
            <a:ext cx="10874959" cy="731520"/>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3858768"/>
            <a:ext cx="41148" cy="731520"/>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69264" y="3959352"/>
            <a:ext cx="2331720" cy="530352"/>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Time base</a:t>
            </a:r>
          </a:p>
        </p:txBody>
      </p:sp>
      <p:sp>
        <p:nvSpPr>
          <p:cNvPr id="26" name="TextBox 25"/>
          <p:cNvSpPr txBox="1"/>
          <p:nvPr/>
        </p:nvSpPr>
        <p:spPr>
          <a:xfrm>
            <a:off x="3447287" y="3959352"/>
            <a:ext cx="7811719" cy="530352"/>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T_phase identical; T_clock = T_rail = 4·T_phase, so one operation means the same interval in both.</a:t>
            </a:r>
          </a:p>
        </p:txBody>
      </p:sp>
      <p:sp>
        <p:nvSpPr>
          <p:cNvPr id="27" name="Rounded Rectangle 26"/>
          <p:cNvSpPr/>
          <p:nvPr/>
        </p:nvSpPr>
        <p:spPr>
          <a:xfrm>
            <a:off x="658368" y="4640580"/>
            <a:ext cx="10874959" cy="53035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4640580"/>
            <a:ext cx="41148" cy="53035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9264" y="4741164"/>
            <a:ext cx="2331720" cy="329184"/>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Energy definition</a:t>
            </a:r>
          </a:p>
        </p:txBody>
      </p:sp>
      <p:sp>
        <p:nvSpPr>
          <p:cNvPr id="30" name="TextBox 29"/>
          <p:cNvSpPr txBox="1"/>
          <p:nvPr/>
        </p:nvSpPr>
        <p:spPr>
          <a:xfrm>
            <a:off x="3447287" y="4741164"/>
            <a:ext cx="7811719" cy="329184"/>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the integral of -V·I over one full period, per gate for ECRL and per metered quad-rail column for 2LAL.</a:t>
            </a:r>
          </a:p>
        </p:txBody>
      </p:sp>
      <p:sp>
        <p:nvSpPr>
          <p:cNvPr id="31" name="Rounded Rectangle 30"/>
          <p:cNvSpPr/>
          <p:nvPr/>
        </p:nvSpPr>
        <p:spPr>
          <a:xfrm>
            <a:off x="658368" y="5221224"/>
            <a:ext cx="10874959" cy="731520"/>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5221224"/>
            <a:ext cx="41148" cy="731520"/>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69264" y="5321808"/>
            <a:ext cx="2331720" cy="530352"/>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Switching activity</a:t>
            </a:r>
          </a:p>
        </p:txBody>
      </p:sp>
      <p:sp>
        <p:nvSpPr>
          <p:cNvPr id="34" name="TextBox 33"/>
          <p:cNvSpPr txBox="1"/>
          <p:nvPr/>
        </p:nvSpPr>
        <p:spPr>
          <a:xfrm>
            <a:off x="3447287" y="5321808"/>
            <a:ext cx="7811719" cy="530352"/>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Verified equal rather than assumed — we measured the 0→1 and 1→0 cycles separately in both families and they came out identical, so no activity correction was needed.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24</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III · THE UNIT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What one “operation” means</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720840" cy="859536"/>
          </a:xfrm>
          <a:prstGeom prst="rect">
            <a:avLst/>
          </a:prstGeom>
          <a:noFill/>
        </p:spPr>
        <p:txBody>
          <a:bodyPr wrap="square" lIns="0" rIns="0" tIns="0" bIns="0" anchor="t">
            <a:spAutoFit/>
          </a:bodyPr>
          <a:lstStyle/>
          <a:p>
            <a:pPr algn="l">
              <a:lnSpc>
                <a:spcPct val="114000"/>
              </a:lnSpc>
            </a:pPr>
            <a:r>
              <a:rPr sz="1550" b="1" i="0">
                <a:solidFill>
                  <a:srgbClr val="1A2233"/>
                </a:solidFill>
                <a:latin typeface="Calibri"/>
              </a:rPr>
              <a:t>Per power-clock cycle, per gate. In these decks that is also exactly one data transaction — the two coincide by construction, because we made the data alternate every cycle.</a:t>
            </a:r>
          </a:p>
        </p:txBody>
      </p:sp>
      <p:graphicFrame>
        <p:nvGraphicFramePr>
          <p:cNvPr id="8" name="Table 7"/>
          <p:cNvGraphicFramePr>
            <a:graphicFrameLocks noGrp="1"/>
          </p:cNvGraphicFramePr>
          <p:nvPr/>
        </p:nvGraphicFramePr>
        <p:xfrm>
          <a:off x="658368" y="2340864"/>
          <a:ext cx="6720837" cy="1280160"/>
        </p:xfrm>
        <a:graphic>
          <a:graphicData uri="http://schemas.openxmlformats.org/drawingml/2006/table">
            <a:tbl>
              <a:tblPr firstRow="0" bandRow="0" lastRow="0" firstCol="0" bandCol="0" lastCol="0">
                <a:tableStyleId>{2D5ABB26-0587-4C30-8999-92F81FD0307C}</a:tableStyleId>
              </a:tblPr>
              <a:tblGrid>
                <a:gridCol w="995679"/>
                <a:gridCol w="3733799"/>
                <a:gridCol w="1991359"/>
              </a:tblGrid>
              <a:tr h="329184">
                <a:tc>
                  <a:txBody>
                    <a:bodyPr wrap="square"/>
                    <a:lstStyle/>
                    <a:p>
                      <a:pPr algn="l"/>
                      <a:r>
                        <a:rPr sz="1150" b="1">
                          <a:solidFill>
                            <a:srgbClr val="FFFFFF"/>
                          </a:solidFill>
                          <a:latin typeface="Calibri"/>
                        </a:rPr>
                        <a:t/>
                      </a:r>
                    </a:p>
                  </a:txBody>
                  <a:tcPr marL="91440" marR="73152" marT="27432" marB="27432" anchor="ctr">
                    <a:solidFill>
                      <a:srgbClr val="1A2233"/>
                    </a:solidFill>
                  </a:tcPr>
                </a:tc>
                <a:tc>
                  <a:txBody>
                    <a:bodyPr wrap="square"/>
                    <a:lstStyle/>
                    <a:p>
                      <a:pPr algn="l"/>
                      <a:r>
                        <a:rPr sz="1150" b="1">
                          <a:solidFill>
                            <a:srgbClr val="FFFFFF"/>
                          </a:solidFill>
                          <a:latin typeface="Calibri"/>
                        </a:rPr>
                        <a:t>what is integrated</a:t>
                      </a:r>
                    </a:p>
                  </a:txBody>
                  <a:tcPr marL="91440" marR="73152" marT="27432" marB="27432" anchor="ctr">
                    <a:solidFill>
                      <a:srgbClr val="1A2233"/>
                    </a:solidFill>
                  </a:tcPr>
                </a:tc>
                <a:tc>
                  <a:txBody>
                    <a:bodyPr wrap="square"/>
                    <a:lstStyle/>
                    <a:p>
                      <a:pPr algn="l"/>
                      <a:r>
                        <a:rPr sz="1150" b="1">
                          <a:solidFill>
                            <a:srgbClr val="FFFFFF"/>
                          </a:solidFill>
                          <a:latin typeface="Calibri"/>
                        </a:rPr>
                        <a:t>denominator</a:t>
                      </a:r>
                    </a:p>
                  </a:txBody>
                  <a:tcPr marL="91440" marR="73152" marT="27432" marB="27432" anchor="ctr">
                    <a:solidFill>
                      <a:srgbClr val="1A2233"/>
                    </a:solidFill>
                  </a:tcPr>
                </a:tc>
              </a:tr>
              <a:tr h="475488">
                <a:tc>
                  <a:txBody>
                    <a:bodyPr wrap="square"/>
                    <a:lstStyle/>
                    <a:p>
                      <a:pPr algn="l"/>
                      <a:r>
                        <a:rPr sz="1250" b="1">
                          <a:solidFill>
                            <a:srgbClr val="A4237A"/>
                          </a:solidFill>
                          <a:latin typeface="Calibri"/>
                        </a:rPr>
                        <a:t>ECRL</a:t>
                      </a:r>
                    </a:p>
                  </a:txBody>
                  <a:tcPr marL="91440" marR="73152" marT="27432" marB="27432" anchor="ctr">
                    <a:solidFill>
                      <a:srgbClr val="FFFFFF"/>
                    </a:solidFill>
                  </a:tcPr>
                </a:tc>
                <a:tc>
                  <a:txBody>
                    <a:bodyPr wrap="square"/>
                    <a:lstStyle/>
                    <a:p>
                      <a:pPr algn="l"/>
                      <a:r>
                        <a:rPr sz="1250" b="0">
                          <a:solidFill>
                            <a:srgbClr val="3D4756"/>
                          </a:solidFill>
                          <a:latin typeface="Calibri"/>
                        </a:rPr>
                        <a:t>V(PCLK) over [12·Tp, 16·Tp] = one T_clock</a:t>
                      </a:r>
                    </a:p>
                  </a:txBody>
                  <a:tcPr marL="91440" marR="73152" marT="27432" marB="27432" anchor="ctr">
                    <a:solidFill>
                      <a:srgbClr val="FFFFFF"/>
                    </a:solidFill>
                  </a:tcPr>
                </a:tc>
                <a:tc>
                  <a:txBody>
                    <a:bodyPr wrap="square"/>
                    <a:lstStyle/>
                    <a:p>
                      <a:pPr algn="l"/>
                      <a:r>
                        <a:rPr sz="1250" b="0">
                          <a:solidFill>
                            <a:srgbClr val="3D4756"/>
                          </a:solidFill>
                          <a:latin typeface="Calibri"/>
                        </a:rPr>
                        <a:t>1 gate × 1 cycle</a:t>
                      </a:r>
                    </a:p>
                  </a:txBody>
                  <a:tcPr marL="91440" marR="73152" marT="27432" marB="27432" anchor="ctr">
                    <a:solidFill>
                      <a:srgbClr val="FFFFFF"/>
                    </a:solidFill>
                  </a:tcPr>
                </a:tc>
              </a:tr>
              <a:tr h="475488">
                <a:tc>
                  <a:txBody>
                    <a:bodyPr wrap="square"/>
                    <a:lstStyle/>
                    <a:p>
                      <a:pPr algn="l"/>
                      <a:r>
                        <a:rPr sz="1250" b="1">
                          <a:solidFill>
                            <a:srgbClr val="12866B"/>
                          </a:solidFill>
                          <a:latin typeface="Calibri"/>
                        </a:rPr>
                        <a:t>2LAL</a:t>
                      </a:r>
                    </a:p>
                  </a:txBody>
                  <a:tcPr marL="91440" marR="73152" marT="27432" marB="27432" anchor="ctr">
                    <a:solidFill>
                      <a:srgbClr val="F4F6F9"/>
                    </a:solidFill>
                  </a:tcPr>
                </a:tc>
                <a:tc>
                  <a:txBody>
                    <a:bodyPr wrap="square"/>
                    <a:lstStyle/>
                    <a:p>
                      <a:pPr algn="l"/>
                      <a:r>
                        <a:rPr sz="1250" b="0">
                          <a:solidFill>
                            <a:srgbClr val="3D4756"/>
                          </a:solidFill>
                          <a:latin typeface="Calibri"/>
                        </a:rPr>
                        <a:t>rail energy over four T_rail = 16·Tp</a:t>
                      </a:r>
                    </a:p>
                  </a:txBody>
                  <a:tcPr marL="91440" marR="73152" marT="27432" marB="27432" anchor="ctr">
                    <a:solidFill>
                      <a:srgbClr val="F4F6F9"/>
                    </a:solidFill>
                  </a:tcPr>
                </a:tc>
                <a:tc>
                  <a:txBody>
                    <a:bodyPr wrap="square"/>
                    <a:lstStyle/>
                    <a:p>
                      <a:pPr algn="l"/>
                      <a:r>
                        <a:rPr sz="1250" b="0">
                          <a:solidFill>
                            <a:srgbClr val="3D4756"/>
                          </a:solidFill>
                          <a:latin typeface="Calibri"/>
                        </a:rPr>
                        <a:t>8 ring columns × 4 periods</a:t>
                      </a:r>
                    </a:p>
                  </a:txBody>
                  <a:tcPr marL="91440" marR="73152" marT="27432" marB="27432" anchor="ctr">
                    <a:solidFill>
                      <a:srgbClr val="F4F6F9"/>
                    </a:solidFill>
                  </a:tcPr>
                </a:tc>
              </a:tr>
            </a:tbl>
          </a:graphicData>
        </a:graphic>
      </p:graphicFrame>
      <p:sp>
        <p:nvSpPr>
          <p:cNvPr id="9" name="TextBox 8"/>
          <p:cNvSpPr txBox="1"/>
          <p:nvPr/>
        </p:nvSpPr>
        <p:spPr>
          <a:xfrm>
            <a:off x="658368" y="3968496"/>
            <a:ext cx="6720840" cy="2194560"/>
          </a:xfrm>
          <a:prstGeom prst="rect">
            <a:avLst/>
          </a:prstGeom>
          <a:noFill/>
        </p:spPr>
        <p:txBody>
          <a:bodyPr wrap="square" lIns="0" rIns="0" tIns="0" bIns="0" anchor="t">
            <a:spAutoFit/>
          </a:bodyPr>
          <a:lstStyle/>
          <a:p>
            <a:pPr algn="l">
              <a:lnSpc>
                <a:spcPct val="114000"/>
              </a:lnSpc>
            </a:pPr>
            <a:r>
              <a:rPr sz="1450" b="1" i="0">
                <a:solidFill>
                  <a:srgbClr val="1A2233"/>
                </a:solidFill>
                <a:latin typeface="Calibri"/>
              </a:rPr>
              <a:t>Neither family is free when idle.</a:t>
            </a:r>
          </a:p>
          <a:p>
            <a:pPr algn="l">
              <a:lnSpc>
                <a:spcPct val="114000"/>
              </a:lnSpc>
              <a:spcBef>
                <a:spcPts val="700"/>
              </a:spcBef>
            </a:pPr>
            <a:r>
              <a:rPr sz="1350" b="0" i="0">
                <a:solidFill>
                  <a:srgbClr val="3D4756"/>
                </a:solidFill>
                <a:latin typeface="Calibri"/>
              </a:rPr>
              <a:t>An ECRL gate pulses OUT or OUTB every cycle regardless of the data. A quad-rail 2LAL column always has exactly one sub-chain carrying a TRUE, so it also pulses every cycle. “Per power cycle” is therefore the honest unit for both — you cannot amortise it away with low data activity.</a:t>
            </a:r>
          </a:p>
          <a:p>
            <a:pPr algn="l">
              <a:lnSpc>
                <a:spcPct val="114000"/>
              </a:lnSpc>
              <a:spcBef>
                <a:spcPts val="800"/>
              </a:spcBef>
            </a:pPr>
            <a:r>
              <a:rPr sz="1350" b="0" i="0">
                <a:solidFill>
                  <a:srgbClr val="768295"/>
                </a:solidFill>
                <a:latin typeface="Calibri"/>
              </a:rPr>
              <a:t>The one place they would diverge is a plain dual-rail 2LAL buffer, where a FALSE is genuinely free. There you would have to state whether you meant per cycle or per transaction. For the quad-rail inverter, they are the same number.</a:t>
            </a:r>
          </a:p>
        </p:txBody>
      </p:sp>
      <p:sp>
        <p:nvSpPr>
          <p:cNvPr id="10" name="Rounded Rectangle 9"/>
          <p:cNvSpPr/>
          <p:nvPr/>
        </p:nvSpPr>
        <p:spPr>
          <a:xfrm>
            <a:off x="7699248" y="1371600"/>
            <a:ext cx="3831336" cy="2103120"/>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699248" y="1371600"/>
            <a:ext cx="41148" cy="2103120"/>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00416" y="1499616"/>
            <a:ext cx="3447288" cy="1847087"/>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Where this definition came from</a:t>
            </a:r>
          </a:p>
          <a:p>
            <a:pPr algn="l">
              <a:lnSpc>
                <a:spcPct val="114000"/>
              </a:lnSpc>
              <a:spcBef>
                <a:spcPts val="400"/>
              </a:spcBef>
            </a:pPr>
            <a:r>
              <a:rPr sz="1250" b="0" i="0">
                <a:solidFill>
                  <a:srgbClr val="3D4756"/>
                </a:solidFill>
                <a:latin typeface="Calibri"/>
              </a:rPr>
              <a:t>It is the same definition that exposed the defect in Part I. The old ECRL sweep was measuring per power cycle with zero data transitions in the window. Per power cycle it was right. Per data transaction it was measuring nothing at all.</a:t>
            </a:r>
          </a:p>
        </p:txBody>
      </p:sp>
      <p:sp>
        <p:nvSpPr>
          <p:cNvPr id="13" name="Rounded Rectangle 12"/>
          <p:cNvSpPr/>
          <p:nvPr/>
        </p:nvSpPr>
        <p:spPr>
          <a:xfrm>
            <a:off x="7699248" y="3749039"/>
            <a:ext cx="3831336" cy="2212848"/>
          </a:xfrm>
          <a:prstGeom prst="roundRect">
            <a:avLst>
              <a:gd name="adj" fmla="val 8000"/>
            </a:avLst>
          </a:prstGeom>
          <a:solidFill>
            <a:srgbClr val="EFF5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699248" y="3749039"/>
            <a:ext cx="41148" cy="2212848"/>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900416" y="3877055"/>
            <a:ext cx="3447288" cy="1956815"/>
          </a:xfrm>
          <a:prstGeom prst="rect">
            <a:avLst/>
          </a:prstGeom>
          <a:noFill/>
        </p:spPr>
        <p:txBody>
          <a:bodyPr wrap="square" lIns="0" rIns="0" tIns="0" bIns="0" anchor="t">
            <a:spAutoFit/>
          </a:bodyPr>
          <a:lstStyle/>
          <a:p>
            <a:pPr algn="l">
              <a:lnSpc>
                <a:spcPct val="114000"/>
              </a:lnSpc>
            </a:pPr>
            <a:r>
              <a:rPr sz="1350" b="1" i="0">
                <a:solidFill>
                  <a:srgbClr val="0969DA"/>
                </a:solidFill>
                <a:latin typeface="Calibri"/>
              </a:rPr>
              <a:t>Axis reminder</a:t>
            </a:r>
          </a:p>
          <a:p>
            <a:pPr algn="l">
              <a:lnSpc>
                <a:spcPct val="114000"/>
              </a:lnSpc>
              <a:spcBef>
                <a:spcPts val="400"/>
              </a:spcBef>
            </a:pPr>
            <a:r>
              <a:rPr sz="1250" b="0" i="0">
                <a:solidFill>
                  <a:srgbClr val="3D4756"/>
                </a:solidFill>
                <a:latin typeface="Calibri"/>
              </a:rPr>
              <a:t>The plots use f_tr = 1/T_phase. The operation rate is f_clock = 1/(4·T_phase), four times lower. Energy per operation is plotted against transition frequency — legitimate, but it has to be said out loud. Both versions of every plot are in the repo.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25</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III · RESULT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ECRL against 2LAL, matched conditions</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ecrl_vs_2lal_W1.0.png"/>
          <p:cNvPicPr>
            <a:picLocks noChangeAspect="1"/>
          </p:cNvPicPr>
          <p:nvPr/>
        </p:nvPicPr>
        <p:blipFill>
          <a:blip r:embed="rId2"/>
          <a:stretch>
            <a:fillRect/>
          </a:stretch>
        </p:blipFill>
        <p:spPr>
          <a:xfrm>
            <a:off x="1426584" y="1280160"/>
            <a:ext cx="6418847" cy="4434840"/>
          </a:xfrm>
          <a:prstGeom prst="rect">
            <a:avLst/>
          </a:prstGeom>
        </p:spPr>
      </p:pic>
      <p:sp>
        <p:nvSpPr>
          <p:cNvPr id="8" name="TextBox 7"/>
          <p:cNvSpPr txBox="1"/>
          <p:nvPr/>
        </p:nvSpPr>
        <p:spPr>
          <a:xfrm>
            <a:off x="7699248" y="1371600"/>
            <a:ext cx="3831336" cy="4480560"/>
          </a:xfrm>
          <a:prstGeom prst="rect">
            <a:avLst/>
          </a:prstGeom>
          <a:noFill/>
        </p:spPr>
        <p:txBody>
          <a:bodyPr wrap="square" lIns="0" rIns="0" tIns="0" bIns="0" anchor="t">
            <a:spAutoFit/>
          </a:bodyPr>
          <a:lstStyle/>
          <a:p>
            <a:pPr algn="l">
              <a:lnSpc>
                <a:spcPct val="114000"/>
              </a:lnSpc>
            </a:pPr>
            <a:r>
              <a:rPr sz="1500" b="1" i="0">
                <a:solidFill>
                  <a:srgbClr val="1A2233"/>
                </a:solidFill>
                <a:latin typeface="Calibri"/>
              </a:rPr>
              <a:t>Three things to take away</a:t>
            </a:r>
          </a:p>
          <a:p>
            <a:pPr algn="l" marL="237744" indent="-237744">
              <a:lnSpc>
                <a:spcPct val="114000"/>
              </a:lnSpc>
              <a:spcBef>
                <a:spcPts val="1100"/>
              </a:spcBef>
              <a:buClr>
                <a:srgbClr val="12866B"/>
              </a:buClr>
              <a:buFont typeface="Arial"/>
              <a:buChar char="▪"/>
            </a:pPr>
            <a:r>
              <a:rPr sz="1350" b="1" i="0">
                <a:solidFill>
                  <a:srgbClr val="12866B"/>
                </a:solidFill>
                <a:latin typeface="Calibri"/>
              </a:rPr>
              <a:t>2LAL is lower at every frequency. </a:t>
            </a:r>
            <a:r>
              <a:rPr sz="1350" b="0" i="0">
                <a:solidFill>
                  <a:srgbClr val="3D4756"/>
                </a:solidFill>
                <a:latin typeface="Calibri"/>
              </a:rPr>
              <a:t>From 1.19× at 1000 MHz to 13.4× at 10 MHz. At 100 MHz: 21.66 fJ against 6.29 fJ.</a:t>
            </a:r>
          </a:p>
          <a:p>
            <a:pPr algn="l" marL="237744" indent="-237744">
              <a:lnSpc>
                <a:spcPct val="114000"/>
              </a:lnSpc>
              <a:spcBef>
                <a:spcPts val="1000"/>
              </a:spcBef>
              <a:buClr>
                <a:srgbClr val="768295"/>
              </a:buClr>
              <a:buFont typeface="Arial"/>
              <a:buChar char="▪"/>
            </a:pPr>
            <a:r>
              <a:rPr sz="1350" b="1" i="0">
                <a:solidFill>
                  <a:srgbClr val="1A2233"/>
                </a:solidFill>
                <a:latin typeface="Calibri"/>
              </a:rPr>
              <a:t>The gap widens as the clock slows. </a:t>
            </a:r>
            <a:r>
              <a:rPr sz="1350" b="0" i="0">
                <a:solidFill>
                  <a:srgbClr val="3D4756"/>
                </a:solidFill>
                <a:latin typeface="Calibri"/>
              </a:rPr>
              <a:t>ECRL keeps a threshold residue, C·|Vtp|²/2, that speed does not remove; 2LAL keeps falling with T_phase.</a:t>
            </a:r>
          </a:p>
          <a:p>
            <a:pPr algn="l" marL="237744" indent="-237744">
              <a:lnSpc>
                <a:spcPct val="114000"/>
              </a:lnSpc>
              <a:spcBef>
                <a:spcPts val="1000"/>
              </a:spcBef>
              <a:buClr>
                <a:srgbClr val="A4237A"/>
              </a:buClr>
              <a:buFont typeface="Arial"/>
              <a:buChar char="▪"/>
            </a:pPr>
            <a:r>
              <a:rPr sz="1350" b="1" i="0">
                <a:solidFill>
                  <a:srgbClr val="A4237A"/>
                </a:solidFill>
                <a:latin typeface="Calibri"/>
              </a:rPr>
              <a:t>2LAL pays in transistors, not energy. </a:t>
            </a:r>
            <a:r>
              <a:rPr sz="1350" b="0" i="0">
                <a:solidFill>
                  <a:srgbClr val="3D4756"/>
                </a:solidFill>
                <a:latin typeface="Calibri"/>
              </a:rPr>
              <a:t>16 per quad-rail column against ECRL's 4, and two 25 fF nodes swung per operation against one.</a:t>
            </a:r>
          </a:p>
        </p:txBody>
      </p:sp>
      <p:sp>
        <p:nvSpPr>
          <p:cNvPr id="9" name="Rounded Rectangle 8"/>
          <p:cNvSpPr/>
          <p:nvPr/>
        </p:nvSpPr>
        <p:spPr>
          <a:xfrm>
            <a:off x="7699248" y="4864608"/>
            <a:ext cx="3831336" cy="1005840"/>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18704" y="4992624"/>
            <a:ext cx="3429000" cy="777240"/>
          </a:xfrm>
          <a:prstGeom prst="rect">
            <a:avLst/>
          </a:prstGeom>
          <a:noFill/>
        </p:spPr>
        <p:txBody>
          <a:bodyPr wrap="square" lIns="0" rIns="0" tIns="0" bIns="0" anchor="t">
            <a:spAutoFit/>
          </a:bodyPr>
          <a:lstStyle/>
          <a:p>
            <a:pPr algn="l">
              <a:lnSpc>
                <a:spcPct val="114000"/>
              </a:lnSpc>
            </a:pPr>
            <a:r>
              <a:rPr sz="1300" b="1" i="0">
                <a:solidFill>
                  <a:srgbClr val="1A2233"/>
                </a:solidFill>
                <a:latin typeface="Calibri"/>
              </a:rPr>
              <a:t>Fully adiabatic beats quasi-adiabatic on energy, by a margin that grows as the clock slows.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26</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III · RESULT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The numbers behind that curve</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280160"/>
            <a:ext cx="10874959" cy="274320"/>
          </a:xfrm>
          <a:prstGeom prst="rect">
            <a:avLst/>
          </a:prstGeom>
          <a:noFill/>
        </p:spPr>
        <p:txBody>
          <a:bodyPr wrap="square" lIns="0" rIns="0" tIns="0" bIns="0" anchor="t">
            <a:spAutoFit/>
          </a:bodyPr>
          <a:lstStyle/>
          <a:p>
            <a:pPr algn="l">
              <a:lnSpc>
                <a:spcPct val="114000"/>
              </a:lnSpc>
            </a:pPr>
            <a:r>
              <a:rPr sz="1300" b="0" i="0">
                <a:solidFill>
                  <a:srgbClr val="768295"/>
                </a:solidFill>
                <a:latin typeface="Calibri"/>
              </a:rPr>
              <a:t>W = 1.0 µm, L = 0.15 µm, C_L = 25 fF, same T_phase, alternating data. Energy per operation, in fJ.</a:t>
            </a:r>
          </a:p>
        </p:txBody>
      </p:sp>
      <p:graphicFrame>
        <p:nvGraphicFramePr>
          <p:cNvPr id="8" name="Table 7"/>
          <p:cNvGraphicFramePr>
            <a:graphicFrameLocks noGrp="1"/>
          </p:cNvGraphicFramePr>
          <p:nvPr/>
        </p:nvGraphicFramePr>
        <p:xfrm>
          <a:off x="658368" y="1755648"/>
          <a:ext cx="7086597" cy="3022092"/>
        </p:xfrm>
        <a:graphic>
          <a:graphicData uri="http://schemas.openxmlformats.org/drawingml/2006/table">
            <a:tbl>
              <a:tblPr firstRow="0" bandRow="0" lastRow="0" firstCol="0" bandCol="0" lastCol="0">
                <a:tableStyleId>{2D5ABB26-0587-4C30-8999-92F81FD0307C}</a:tableStyleId>
              </a:tblPr>
              <a:tblGrid>
                <a:gridCol w="1081923"/>
                <a:gridCol w="1136019"/>
                <a:gridCol w="1190116"/>
                <a:gridCol w="1027827"/>
                <a:gridCol w="1027827"/>
                <a:gridCol w="1622885"/>
              </a:tblGrid>
              <a:tr h="365760">
                <a:tc>
                  <a:txBody>
                    <a:bodyPr wrap="square"/>
                    <a:lstStyle/>
                    <a:p>
                      <a:pPr algn="l"/>
                      <a:r>
                        <a:rPr sz="1200" b="1">
                          <a:solidFill>
                            <a:srgbClr val="FFFFFF"/>
                          </a:solidFill>
                          <a:latin typeface="Calibri"/>
                        </a:rPr>
                        <a:t>T_phase</a:t>
                      </a:r>
                    </a:p>
                  </a:txBody>
                  <a:tcPr marL="91440" marR="73152" marT="27432" marB="27432" anchor="ctr">
                    <a:solidFill>
                      <a:srgbClr val="1A2233"/>
                    </a:solidFill>
                  </a:tcPr>
                </a:tc>
                <a:tc>
                  <a:txBody>
                    <a:bodyPr wrap="square"/>
                    <a:lstStyle/>
                    <a:p>
                      <a:pPr algn="r"/>
                      <a:r>
                        <a:rPr sz="1200" b="1">
                          <a:solidFill>
                            <a:srgbClr val="FFFFFF"/>
                          </a:solidFill>
                          <a:latin typeface="Calibri"/>
                        </a:rPr>
                        <a:t>f_tr</a:t>
                      </a:r>
                    </a:p>
                  </a:txBody>
                  <a:tcPr marL="91440" marR="73152" marT="27432" marB="27432" anchor="ctr">
                    <a:solidFill>
                      <a:srgbClr val="1A2233"/>
                    </a:solidFill>
                  </a:tcPr>
                </a:tc>
                <a:tc>
                  <a:txBody>
                    <a:bodyPr wrap="square"/>
                    <a:lstStyle/>
                    <a:p>
                      <a:pPr algn="r"/>
                      <a:r>
                        <a:rPr sz="1200" b="1">
                          <a:solidFill>
                            <a:srgbClr val="FFFFFF"/>
                          </a:solidFill>
                          <a:latin typeface="Calibri"/>
                        </a:rPr>
                        <a:t>f_clock</a:t>
                      </a:r>
                    </a:p>
                  </a:txBody>
                  <a:tcPr marL="91440" marR="73152" marT="27432" marB="27432" anchor="ctr">
                    <a:solidFill>
                      <a:srgbClr val="1A2233"/>
                    </a:solidFill>
                  </a:tcPr>
                </a:tc>
                <a:tc>
                  <a:txBody>
                    <a:bodyPr wrap="square"/>
                    <a:lstStyle/>
                    <a:p>
                      <a:pPr algn="r"/>
                      <a:r>
                        <a:rPr sz="1200" b="1">
                          <a:solidFill>
                            <a:srgbClr val="FFFFFF"/>
                          </a:solidFill>
                          <a:latin typeface="Calibri"/>
                        </a:rPr>
                        <a:t>ECRL</a:t>
                      </a:r>
                    </a:p>
                  </a:txBody>
                  <a:tcPr marL="91440" marR="73152" marT="27432" marB="27432" anchor="ctr">
                    <a:solidFill>
                      <a:srgbClr val="1A2233"/>
                    </a:solidFill>
                  </a:tcPr>
                </a:tc>
                <a:tc>
                  <a:txBody>
                    <a:bodyPr wrap="square"/>
                    <a:lstStyle/>
                    <a:p>
                      <a:pPr algn="r"/>
                      <a:r>
                        <a:rPr sz="1200" b="1">
                          <a:solidFill>
                            <a:srgbClr val="FFFFFF"/>
                          </a:solidFill>
                          <a:latin typeface="Calibri"/>
                        </a:rPr>
                        <a:t>2LAL</a:t>
                      </a:r>
                    </a:p>
                  </a:txBody>
                  <a:tcPr marL="91440" marR="73152" marT="27432" marB="27432" anchor="ctr">
                    <a:solidFill>
                      <a:srgbClr val="1A2233"/>
                    </a:solidFill>
                  </a:tcPr>
                </a:tc>
                <a:tc>
                  <a:txBody>
                    <a:bodyPr wrap="square"/>
                    <a:lstStyle/>
                    <a:p>
                      <a:pPr algn="l"/>
                      <a:r>
                        <a:rPr sz="1200" b="1">
                          <a:solidFill>
                            <a:srgbClr val="FFFFFF"/>
                          </a:solidFill>
                          <a:latin typeface="Calibri"/>
                        </a:rPr>
                        <a:t>outcome</a:t>
                      </a:r>
                    </a:p>
                  </a:txBody>
                  <a:tcPr marL="91440" marR="73152" marT="27432" marB="27432" anchor="ctr">
                    <a:solidFill>
                      <a:srgbClr val="1A2233"/>
                    </a:solidFill>
                  </a:tcPr>
                </a:tc>
              </a:tr>
              <a:tr h="379476">
                <a:tc>
                  <a:txBody>
                    <a:bodyPr wrap="square"/>
                    <a:lstStyle/>
                    <a:p>
                      <a:pPr algn="l"/>
                      <a:r>
                        <a:rPr sz="1300" b="0">
                          <a:solidFill>
                            <a:srgbClr val="3D4756"/>
                          </a:solidFill>
                          <a:latin typeface="Calibri"/>
                        </a:rPr>
                        <a:t>100 ns</a:t>
                      </a:r>
                    </a:p>
                  </a:txBody>
                  <a:tcPr marL="91440" marR="73152" marT="27432" marB="27432" anchor="ctr">
                    <a:solidFill>
                      <a:srgbClr val="FFFFFF"/>
                    </a:solidFill>
                  </a:tcPr>
                </a:tc>
                <a:tc>
                  <a:txBody>
                    <a:bodyPr wrap="square"/>
                    <a:lstStyle/>
                    <a:p>
                      <a:pPr algn="r"/>
                      <a:r>
                        <a:rPr sz="1300" b="0">
                          <a:solidFill>
                            <a:srgbClr val="3D4756"/>
                          </a:solidFill>
                          <a:latin typeface="Calibri"/>
                        </a:rPr>
                        <a:t>10 MHz</a:t>
                      </a:r>
                    </a:p>
                  </a:txBody>
                  <a:tcPr marL="91440" marR="73152" marT="27432" marB="27432" anchor="ctr">
                    <a:solidFill>
                      <a:srgbClr val="FFFFFF"/>
                    </a:solidFill>
                  </a:tcPr>
                </a:tc>
                <a:tc>
                  <a:txBody>
                    <a:bodyPr wrap="square"/>
                    <a:lstStyle/>
                    <a:p>
                      <a:pPr algn="r"/>
                      <a:r>
                        <a:rPr sz="1300" b="0">
                          <a:solidFill>
                            <a:srgbClr val="3D4756"/>
                          </a:solidFill>
                          <a:latin typeface="Calibri"/>
                        </a:rPr>
                        <a:t>2.5 MHz</a:t>
                      </a:r>
                    </a:p>
                  </a:txBody>
                  <a:tcPr marL="91440" marR="73152" marT="27432" marB="27432" anchor="ctr">
                    <a:solidFill>
                      <a:srgbClr val="FFFFFF"/>
                    </a:solidFill>
                  </a:tcPr>
                </a:tc>
                <a:tc>
                  <a:txBody>
                    <a:bodyPr wrap="square"/>
                    <a:lstStyle/>
                    <a:p>
                      <a:pPr algn="r"/>
                      <a:r>
                        <a:rPr sz="1300" b="0">
                          <a:solidFill>
                            <a:srgbClr val="3D4756"/>
                          </a:solidFill>
                          <a:latin typeface="Calibri"/>
                        </a:rPr>
                        <a:t>12.46</a:t>
                      </a:r>
                    </a:p>
                  </a:txBody>
                  <a:tcPr marL="91440" marR="73152" marT="27432" marB="27432" anchor="ctr">
                    <a:solidFill>
                      <a:srgbClr val="FFFFFF"/>
                    </a:solidFill>
                  </a:tcPr>
                </a:tc>
                <a:tc>
                  <a:txBody>
                    <a:bodyPr wrap="square"/>
                    <a:lstStyle/>
                    <a:p>
                      <a:pPr algn="r"/>
                      <a:r>
                        <a:rPr sz="1300" b="0">
                          <a:solidFill>
                            <a:srgbClr val="3D4756"/>
                          </a:solidFill>
                          <a:latin typeface="Calibri"/>
                        </a:rPr>
                        <a:t>0.93</a:t>
                      </a:r>
                    </a:p>
                  </a:txBody>
                  <a:tcPr marL="91440" marR="73152" marT="27432" marB="27432" anchor="ctr">
                    <a:solidFill>
                      <a:srgbClr val="FFFFFF"/>
                    </a:solidFill>
                  </a:tcPr>
                </a:tc>
                <a:tc>
                  <a:txBody>
                    <a:bodyPr wrap="square"/>
                    <a:lstStyle/>
                    <a:p>
                      <a:pPr algn="l"/>
                      <a:r>
                        <a:rPr sz="1300" b="1">
                          <a:solidFill>
                            <a:srgbClr val="12866B"/>
                          </a:solidFill>
                          <a:latin typeface="Calibri"/>
                        </a:rPr>
                        <a:t>2LAL by 13.4×</a:t>
                      </a:r>
                    </a:p>
                  </a:txBody>
                  <a:tcPr marL="91440" marR="73152" marT="27432" marB="27432" anchor="ctr">
                    <a:solidFill>
                      <a:srgbClr val="FFFFFF"/>
                    </a:solidFill>
                  </a:tcPr>
                </a:tc>
              </a:tr>
              <a:tr h="379476">
                <a:tc>
                  <a:txBody>
                    <a:bodyPr wrap="square"/>
                    <a:lstStyle/>
                    <a:p>
                      <a:pPr algn="l"/>
                      <a:r>
                        <a:rPr sz="1300" b="0">
                          <a:solidFill>
                            <a:srgbClr val="3D4756"/>
                          </a:solidFill>
                          <a:latin typeface="Calibri"/>
                        </a:rPr>
                        <a:t>50 ns</a:t>
                      </a:r>
                    </a:p>
                  </a:txBody>
                  <a:tcPr marL="91440" marR="73152" marT="27432" marB="27432" anchor="ctr">
                    <a:solidFill>
                      <a:srgbClr val="F4F6F9"/>
                    </a:solidFill>
                  </a:tcPr>
                </a:tc>
                <a:tc>
                  <a:txBody>
                    <a:bodyPr wrap="square"/>
                    <a:lstStyle/>
                    <a:p>
                      <a:pPr algn="r"/>
                      <a:r>
                        <a:rPr sz="1300" b="0">
                          <a:solidFill>
                            <a:srgbClr val="3D4756"/>
                          </a:solidFill>
                          <a:latin typeface="Calibri"/>
                        </a:rPr>
                        <a:t>20 MHz</a:t>
                      </a:r>
                    </a:p>
                  </a:txBody>
                  <a:tcPr marL="91440" marR="73152" marT="27432" marB="27432" anchor="ctr">
                    <a:solidFill>
                      <a:srgbClr val="F4F6F9"/>
                    </a:solidFill>
                  </a:tcPr>
                </a:tc>
                <a:tc>
                  <a:txBody>
                    <a:bodyPr wrap="square"/>
                    <a:lstStyle/>
                    <a:p>
                      <a:pPr algn="r"/>
                      <a:r>
                        <a:rPr sz="1300" b="0">
                          <a:solidFill>
                            <a:srgbClr val="3D4756"/>
                          </a:solidFill>
                          <a:latin typeface="Calibri"/>
                        </a:rPr>
                        <a:t>5 MHz</a:t>
                      </a:r>
                    </a:p>
                  </a:txBody>
                  <a:tcPr marL="91440" marR="73152" marT="27432" marB="27432" anchor="ctr">
                    <a:solidFill>
                      <a:srgbClr val="F4F6F9"/>
                    </a:solidFill>
                  </a:tcPr>
                </a:tc>
                <a:tc>
                  <a:txBody>
                    <a:bodyPr wrap="square"/>
                    <a:lstStyle/>
                    <a:p>
                      <a:pPr algn="r"/>
                      <a:r>
                        <a:rPr sz="1300" b="0">
                          <a:solidFill>
                            <a:srgbClr val="3D4756"/>
                          </a:solidFill>
                          <a:latin typeface="Calibri"/>
                        </a:rPr>
                        <a:t>14.37</a:t>
                      </a:r>
                    </a:p>
                  </a:txBody>
                  <a:tcPr marL="91440" marR="73152" marT="27432" marB="27432" anchor="ctr">
                    <a:solidFill>
                      <a:srgbClr val="F4F6F9"/>
                    </a:solidFill>
                  </a:tcPr>
                </a:tc>
                <a:tc>
                  <a:txBody>
                    <a:bodyPr wrap="square"/>
                    <a:lstStyle/>
                    <a:p>
                      <a:pPr algn="r"/>
                      <a:r>
                        <a:rPr sz="1300" b="0">
                          <a:solidFill>
                            <a:srgbClr val="3D4756"/>
                          </a:solidFill>
                          <a:latin typeface="Calibri"/>
                        </a:rPr>
                        <a:t>1.44</a:t>
                      </a:r>
                    </a:p>
                  </a:txBody>
                  <a:tcPr marL="91440" marR="73152" marT="27432" marB="27432" anchor="ctr">
                    <a:solidFill>
                      <a:srgbClr val="F4F6F9"/>
                    </a:solidFill>
                  </a:tcPr>
                </a:tc>
                <a:tc>
                  <a:txBody>
                    <a:bodyPr wrap="square"/>
                    <a:lstStyle/>
                    <a:p>
                      <a:pPr algn="l"/>
                      <a:r>
                        <a:rPr sz="1300" b="1">
                          <a:solidFill>
                            <a:srgbClr val="12866B"/>
                          </a:solidFill>
                          <a:latin typeface="Calibri"/>
                        </a:rPr>
                        <a:t>2LAL by 10.0×</a:t>
                      </a:r>
                    </a:p>
                  </a:txBody>
                  <a:tcPr marL="91440" marR="73152" marT="27432" marB="27432" anchor="ctr">
                    <a:solidFill>
                      <a:srgbClr val="F4F6F9"/>
                    </a:solidFill>
                  </a:tcPr>
                </a:tc>
              </a:tr>
              <a:tr h="379476">
                <a:tc>
                  <a:txBody>
                    <a:bodyPr wrap="square"/>
                    <a:lstStyle/>
                    <a:p>
                      <a:pPr algn="l"/>
                      <a:r>
                        <a:rPr sz="1300" b="0">
                          <a:solidFill>
                            <a:srgbClr val="3D4756"/>
                          </a:solidFill>
                          <a:latin typeface="Calibri"/>
                        </a:rPr>
                        <a:t>20 ns</a:t>
                      </a:r>
                    </a:p>
                  </a:txBody>
                  <a:tcPr marL="91440" marR="73152" marT="27432" marB="27432" anchor="ctr">
                    <a:solidFill>
                      <a:srgbClr val="FFFFFF"/>
                    </a:solidFill>
                  </a:tcPr>
                </a:tc>
                <a:tc>
                  <a:txBody>
                    <a:bodyPr wrap="square"/>
                    <a:lstStyle/>
                    <a:p>
                      <a:pPr algn="r"/>
                      <a:r>
                        <a:rPr sz="1300" b="0">
                          <a:solidFill>
                            <a:srgbClr val="3D4756"/>
                          </a:solidFill>
                          <a:latin typeface="Calibri"/>
                        </a:rPr>
                        <a:t>50 MHz</a:t>
                      </a:r>
                    </a:p>
                  </a:txBody>
                  <a:tcPr marL="91440" marR="73152" marT="27432" marB="27432" anchor="ctr">
                    <a:solidFill>
                      <a:srgbClr val="FFFFFF"/>
                    </a:solidFill>
                  </a:tcPr>
                </a:tc>
                <a:tc>
                  <a:txBody>
                    <a:bodyPr wrap="square"/>
                    <a:lstStyle/>
                    <a:p>
                      <a:pPr algn="r"/>
                      <a:r>
                        <a:rPr sz="1300" b="0">
                          <a:solidFill>
                            <a:srgbClr val="3D4756"/>
                          </a:solidFill>
                          <a:latin typeface="Calibri"/>
                        </a:rPr>
                        <a:t>12.5 MHz</a:t>
                      </a:r>
                    </a:p>
                  </a:txBody>
                  <a:tcPr marL="91440" marR="73152" marT="27432" marB="27432" anchor="ctr">
                    <a:solidFill>
                      <a:srgbClr val="FFFFFF"/>
                    </a:solidFill>
                  </a:tcPr>
                </a:tc>
                <a:tc>
                  <a:txBody>
                    <a:bodyPr wrap="square"/>
                    <a:lstStyle/>
                    <a:p>
                      <a:pPr algn="r"/>
                      <a:r>
                        <a:rPr sz="1300" b="0">
                          <a:solidFill>
                            <a:srgbClr val="3D4756"/>
                          </a:solidFill>
                          <a:latin typeface="Calibri"/>
                        </a:rPr>
                        <a:t>17.83</a:t>
                      </a:r>
                    </a:p>
                  </a:txBody>
                  <a:tcPr marL="91440" marR="73152" marT="27432" marB="27432" anchor="ctr">
                    <a:solidFill>
                      <a:srgbClr val="FFFFFF"/>
                    </a:solidFill>
                  </a:tcPr>
                </a:tc>
                <a:tc>
                  <a:txBody>
                    <a:bodyPr wrap="square"/>
                    <a:lstStyle/>
                    <a:p>
                      <a:pPr algn="r"/>
                      <a:r>
                        <a:rPr sz="1300" b="0">
                          <a:solidFill>
                            <a:srgbClr val="3D4756"/>
                          </a:solidFill>
                          <a:latin typeface="Calibri"/>
                        </a:rPr>
                        <a:t>3.27</a:t>
                      </a:r>
                    </a:p>
                  </a:txBody>
                  <a:tcPr marL="91440" marR="73152" marT="27432" marB="27432" anchor="ctr">
                    <a:solidFill>
                      <a:srgbClr val="FFFFFF"/>
                    </a:solidFill>
                  </a:tcPr>
                </a:tc>
                <a:tc>
                  <a:txBody>
                    <a:bodyPr wrap="square"/>
                    <a:lstStyle/>
                    <a:p>
                      <a:pPr algn="l"/>
                      <a:r>
                        <a:rPr sz="1300" b="1">
                          <a:solidFill>
                            <a:srgbClr val="12866B"/>
                          </a:solidFill>
                          <a:latin typeface="Calibri"/>
                        </a:rPr>
                        <a:t>2LAL by 5.5×</a:t>
                      </a:r>
                    </a:p>
                  </a:txBody>
                  <a:tcPr marL="91440" marR="73152" marT="27432" marB="27432" anchor="ctr">
                    <a:solidFill>
                      <a:srgbClr val="FFFFFF"/>
                    </a:solidFill>
                  </a:tcPr>
                </a:tc>
              </a:tr>
              <a:tr h="379476">
                <a:tc>
                  <a:txBody>
                    <a:bodyPr wrap="square"/>
                    <a:lstStyle/>
                    <a:p>
                      <a:pPr algn="l"/>
                      <a:r>
                        <a:rPr sz="1300" b="0">
                          <a:solidFill>
                            <a:srgbClr val="3D4756"/>
                          </a:solidFill>
                          <a:latin typeface="Calibri"/>
                        </a:rPr>
                        <a:t>10 ns</a:t>
                      </a:r>
                    </a:p>
                  </a:txBody>
                  <a:tcPr marL="91440" marR="73152" marT="27432" marB="27432" anchor="ctr">
                    <a:solidFill>
                      <a:srgbClr val="F4F6F9"/>
                    </a:solidFill>
                  </a:tcPr>
                </a:tc>
                <a:tc>
                  <a:txBody>
                    <a:bodyPr wrap="square"/>
                    <a:lstStyle/>
                    <a:p>
                      <a:pPr algn="r"/>
                      <a:r>
                        <a:rPr sz="1300" b="0">
                          <a:solidFill>
                            <a:srgbClr val="3D4756"/>
                          </a:solidFill>
                          <a:latin typeface="Calibri"/>
                        </a:rPr>
                        <a:t>100 MHz</a:t>
                      </a:r>
                    </a:p>
                  </a:txBody>
                  <a:tcPr marL="91440" marR="73152" marT="27432" marB="27432" anchor="ctr">
                    <a:solidFill>
                      <a:srgbClr val="F4F6F9"/>
                    </a:solidFill>
                  </a:tcPr>
                </a:tc>
                <a:tc>
                  <a:txBody>
                    <a:bodyPr wrap="square"/>
                    <a:lstStyle/>
                    <a:p>
                      <a:pPr algn="r"/>
                      <a:r>
                        <a:rPr sz="1300" b="0">
                          <a:solidFill>
                            <a:srgbClr val="3D4756"/>
                          </a:solidFill>
                          <a:latin typeface="Calibri"/>
                        </a:rPr>
                        <a:t>25 MHz</a:t>
                      </a:r>
                    </a:p>
                  </a:txBody>
                  <a:tcPr marL="91440" marR="73152" marT="27432" marB="27432" anchor="ctr">
                    <a:solidFill>
                      <a:srgbClr val="F4F6F9"/>
                    </a:solidFill>
                  </a:tcPr>
                </a:tc>
                <a:tc>
                  <a:txBody>
                    <a:bodyPr wrap="square"/>
                    <a:lstStyle/>
                    <a:p>
                      <a:pPr algn="r"/>
                      <a:r>
                        <a:rPr sz="1300" b="0">
                          <a:solidFill>
                            <a:srgbClr val="3D4756"/>
                          </a:solidFill>
                          <a:latin typeface="Calibri"/>
                        </a:rPr>
                        <a:t>21.66</a:t>
                      </a:r>
                    </a:p>
                  </a:txBody>
                  <a:tcPr marL="91440" marR="73152" marT="27432" marB="27432" anchor="ctr">
                    <a:solidFill>
                      <a:srgbClr val="F4F6F9"/>
                    </a:solidFill>
                  </a:tcPr>
                </a:tc>
                <a:tc>
                  <a:txBody>
                    <a:bodyPr wrap="square"/>
                    <a:lstStyle/>
                    <a:p>
                      <a:pPr algn="r"/>
                      <a:r>
                        <a:rPr sz="1300" b="0">
                          <a:solidFill>
                            <a:srgbClr val="3D4756"/>
                          </a:solidFill>
                          <a:latin typeface="Calibri"/>
                        </a:rPr>
                        <a:t>6.29</a:t>
                      </a:r>
                    </a:p>
                  </a:txBody>
                  <a:tcPr marL="91440" marR="73152" marT="27432" marB="27432" anchor="ctr">
                    <a:solidFill>
                      <a:srgbClr val="F4F6F9"/>
                    </a:solidFill>
                  </a:tcPr>
                </a:tc>
                <a:tc>
                  <a:txBody>
                    <a:bodyPr wrap="square"/>
                    <a:lstStyle/>
                    <a:p>
                      <a:pPr algn="l"/>
                      <a:r>
                        <a:rPr sz="1300" b="1">
                          <a:solidFill>
                            <a:srgbClr val="12866B"/>
                          </a:solidFill>
                          <a:latin typeface="Calibri"/>
                        </a:rPr>
                        <a:t>2LAL by 3.4×</a:t>
                      </a:r>
                    </a:p>
                  </a:txBody>
                  <a:tcPr marL="91440" marR="73152" marT="27432" marB="27432" anchor="ctr">
                    <a:solidFill>
                      <a:srgbClr val="F4F6F9"/>
                    </a:solidFill>
                  </a:tcPr>
                </a:tc>
              </a:tr>
              <a:tr h="379476">
                <a:tc>
                  <a:txBody>
                    <a:bodyPr wrap="square"/>
                    <a:lstStyle/>
                    <a:p>
                      <a:pPr algn="l"/>
                      <a:r>
                        <a:rPr sz="1300" b="0">
                          <a:solidFill>
                            <a:srgbClr val="3D4756"/>
                          </a:solidFill>
                          <a:latin typeface="Calibri"/>
                        </a:rPr>
                        <a:t>5 ns</a:t>
                      </a:r>
                    </a:p>
                  </a:txBody>
                  <a:tcPr marL="91440" marR="73152" marT="27432" marB="27432" anchor="ctr">
                    <a:solidFill>
                      <a:srgbClr val="FFFFFF"/>
                    </a:solidFill>
                  </a:tcPr>
                </a:tc>
                <a:tc>
                  <a:txBody>
                    <a:bodyPr wrap="square"/>
                    <a:lstStyle/>
                    <a:p>
                      <a:pPr algn="r"/>
                      <a:r>
                        <a:rPr sz="1300" b="0">
                          <a:solidFill>
                            <a:srgbClr val="3D4756"/>
                          </a:solidFill>
                          <a:latin typeface="Calibri"/>
                        </a:rPr>
                        <a:t>200 MHz</a:t>
                      </a:r>
                    </a:p>
                  </a:txBody>
                  <a:tcPr marL="91440" marR="73152" marT="27432" marB="27432" anchor="ctr">
                    <a:solidFill>
                      <a:srgbClr val="FFFFFF"/>
                    </a:solidFill>
                  </a:tcPr>
                </a:tc>
                <a:tc>
                  <a:txBody>
                    <a:bodyPr wrap="square"/>
                    <a:lstStyle/>
                    <a:p>
                      <a:pPr algn="r"/>
                      <a:r>
                        <a:rPr sz="1300" b="0">
                          <a:solidFill>
                            <a:srgbClr val="3D4756"/>
                          </a:solidFill>
                          <a:latin typeface="Calibri"/>
                        </a:rPr>
                        <a:t>50 MHz</a:t>
                      </a:r>
                    </a:p>
                  </a:txBody>
                  <a:tcPr marL="91440" marR="73152" marT="27432" marB="27432" anchor="ctr">
                    <a:solidFill>
                      <a:srgbClr val="FFFFFF"/>
                    </a:solidFill>
                  </a:tcPr>
                </a:tc>
                <a:tc>
                  <a:txBody>
                    <a:bodyPr wrap="square"/>
                    <a:lstStyle/>
                    <a:p>
                      <a:pPr algn="r"/>
                      <a:r>
                        <a:rPr sz="1300" b="0">
                          <a:solidFill>
                            <a:srgbClr val="3D4756"/>
                          </a:solidFill>
                          <a:latin typeface="Calibri"/>
                        </a:rPr>
                        <a:t>27.32</a:t>
                      </a:r>
                    </a:p>
                  </a:txBody>
                  <a:tcPr marL="91440" marR="73152" marT="27432" marB="27432" anchor="ctr">
                    <a:solidFill>
                      <a:srgbClr val="FFFFFF"/>
                    </a:solidFill>
                  </a:tcPr>
                </a:tc>
                <a:tc>
                  <a:txBody>
                    <a:bodyPr wrap="square"/>
                    <a:lstStyle/>
                    <a:p>
                      <a:pPr algn="r"/>
                      <a:r>
                        <a:rPr sz="1300" b="0">
                          <a:solidFill>
                            <a:srgbClr val="3D4756"/>
                          </a:solidFill>
                          <a:latin typeface="Calibri"/>
                        </a:rPr>
                        <a:t>11.93</a:t>
                      </a:r>
                    </a:p>
                  </a:txBody>
                  <a:tcPr marL="91440" marR="73152" marT="27432" marB="27432" anchor="ctr">
                    <a:solidFill>
                      <a:srgbClr val="FFFFFF"/>
                    </a:solidFill>
                  </a:tcPr>
                </a:tc>
                <a:tc>
                  <a:txBody>
                    <a:bodyPr wrap="square"/>
                    <a:lstStyle/>
                    <a:p>
                      <a:pPr algn="l"/>
                      <a:r>
                        <a:rPr sz="1300" b="1">
                          <a:solidFill>
                            <a:srgbClr val="12866B"/>
                          </a:solidFill>
                          <a:latin typeface="Calibri"/>
                        </a:rPr>
                        <a:t>2LAL by 2.3×</a:t>
                      </a:r>
                    </a:p>
                  </a:txBody>
                  <a:tcPr marL="91440" marR="73152" marT="27432" marB="27432" anchor="ctr">
                    <a:solidFill>
                      <a:srgbClr val="FFFFFF"/>
                    </a:solidFill>
                  </a:tcPr>
                </a:tc>
              </a:tr>
              <a:tr h="379476">
                <a:tc>
                  <a:txBody>
                    <a:bodyPr wrap="square"/>
                    <a:lstStyle/>
                    <a:p>
                      <a:pPr algn="l"/>
                      <a:r>
                        <a:rPr sz="1300" b="0">
                          <a:solidFill>
                            <a:srgbClr val="3D4756"/>
                          </a:solidFill>
                          <a:latin typeface="Calibri"/>
                        </a:rPr>
                        <a:t>2 ns</a:t>
                      </a:r>
                    </a:p>
                  </a:txBody>
                  <a:tcPr marL="91440" marR="73152" marT="27432" marB="27432" anchor="ctr">
                    <a:solidFill>
                      <a:srgbClr val="F4F6F9"/>
                    </a:solidFill>
                  </a:tcPr>
                </a:tc>
                <a:tc>
                  <a:txBody>
                    <a:bodyPr wrap="square"/>
                    <a:lstStyle/>
                    <a:p>
                      <a:pPr algn="r"/>
                      <a:r>
                        <a:rPr sz="1300" b="0">
                          <a:solidFill>
                            <a:srgbClr val="3D4756"/>
                          </a:solidFill>
                          <a:latin typeface="Calibri"/>
                        </a:rPr>
                        <a:t>500 MHz</a:t>
                      </a:r>
                    </a:p>
                  </a:txBody>
                  <a:tcPr marL="91440" marR="73152" marT="27432" marB="27432" anchor="ctr">
                    <a:solidFill>
                      <a:srgbClr val="F4F6F9"/>
                    </a:solidFill>
                  </a:tcPr>
                </a:tc>
                <a:tc>
                  <a:txBody>
                    <a:bodyPr wrap="square"/>
                    <a:lstStyle/>
                    <a:p>
                      <a:pPr algn="r"/>
                      <a:r>
                        <a:rPr sz="1300" b="0">
                          <a:solidFill>
                            <a:srgbClr val="3D4756"/>
                          </a:solidFill>
                          <a:latin typeface="Calibri"/>
                        </a:rPr>
                        <a:t>125 MHz</a:t>
                      </a:r>
                    </a:p>
                  </a:txBody>
                  <a:tcPr marL="91440" marR="73152" marT="27432" marB="27432" anchor="ctr">
                    <a:solidFill>
                      <a:srgbClr val="F4F6F9"/>
                    </a:solidFill>
                  </a:tcPr>
                </a:tc>
                <a:tc>
                  <a:txBody>
                    <a:bodyPr wrap="square"/>
                    <a:lstStyle/>
                    <a:p>
                      <a:pPr algn="r"/>
                      <a:r>
                        <a:rPr sz="1300" b="0">
                          <a:solidFill>
                            <a:srgbClr val="3D4756"/>
                          </a:solidFill>
                          <a:latin typeface="Calibri"/>
                        </a:rPr>
                        <a:t>39.82</a:t>
                      </a:r>
                    </a:p>
                  </a:txBody>
                  <a:tcPr marL="91440" marR="73152" marT="27432" marB="27432" anchor="ctr">
                    <a:solidFill>
                      <a:srgbClr val="F4F6F9"/>
                    </a:solidFill>
                  </a:tcPr>
                </a:tc>
                <a:tc>
                  <a:txBody>
                    <a:bodyPr wrap="square"/>
                    <a:lstStyle/>
                    <a:p>
                      <a:pPr algn="r"/>
                      <a:r>
                        <a:rPr sz="1300" b="0">
                          <a:solidFill>
                            <a:srgbClr val="3D4756"/>
                          </a:solidFill>
                          <a:latin typeface="Calibri"/>
                        </a:rPr>
                        <a:t>26.49</a:t>
                      </a:r>
                    </a:p>
                  </a:txBody>
                  <a:tcPr marL="91440" marR="73152" marT="27432" marB="27432" anchor="ctr">
                    <a:solidFill>
                      <a:srgbClr val="F4F6F9"/>
                    </a:solidFill>
                  </a:tcPr>
                </a:tc>
                <a:tc>
                  <a:txBody>
                    <a:bodyPr wrap="square"/>
                    <a:lstStyle/>
                    <a:p>
                      <a:pPr algn="l"/>
                      <a:r>
                        <a:rPr sz="1300" b="1">
                          <a:solidFill>
                            <a:srgbClr val="12866B"/>
                          </a:solidFill>
                          <a:latin typeface="Calibri"/>
                        </a:rPr>
                        <a:t>2LAL by 1.50×</a:t>
                      </a:r>
                    </a:p>
                  </a:txBody>
                  <a:tcPr marL="91440" marR="73152" marT="27432" marB="27432" anchor="ctr">
                    <a:solidFill>
                      <a:srgbClr val="F4F6F9"/>
                    </a:solidFill>
                  </a:tcPr>
                </a:tc>
              </a:tr>
              <a:tr h="379476">
                <a:tc>
                  <a:txBody>
                    <a:bodyPr wrap="square"/>
                    <a:lstStyle/>
                    <a:p>
                      <a:pPr algn="l"/>
                      <a:r>
                        <a:rPr sz="1300" b="0">
                          <a:solidFill>
                            <a:srgbClr val="3D4756"/>
                          </a:solidFill>
                          <a:latin typeface="Calibri"/>
                        </a:rPr>
                        <a:t>1 ns</a:t>
                      </a:r>
                    </a:p>
                  </a:txBody>
                  <a:tcPr marL="91440" marR="73152" marT="27432" marB="27432" anchor="ctr">
                    <a:solidFill>
                      <a:srgbClr val="FFFFFF"/>
                    </a:solidFill>
                  </a:tcPr>
                </a:tc>
                <a:tc>
                  <a:txBody>
                    <a:bodyPr wrap="square"/>
                    <a:lstStyle/>
                    <a:p>
                      <a:pPr algn="r"/>
                      <a:r>
                        <a:rPr sz="1300" b="0">
                          <a:solidFill>
                            <a:srgbClr val="3D4756"/>
                          </a:solidFill>
                          <a:latin typeface="Calibri"/>
                        </a:rPr>
                        <a:t>1000 MHz</a:t>
                      </a:r>
                    </a:p>
                  </a:txBody>
                  <a:tcPr marL="91440" marR="73152" marT="27432" marB="27432" anchor="ctr">
                    <a:solidFill>
                      <a:srgbClr val="FFFFFF"/>
                    </a:solidFill>
                  </a:tcPr>
                </a:tc>
                <a:tc>
                  <a:txBody>
                    <a:bodyPr wrap="square"/>
                    <a:lstStyle/>
                    <a:p>
                      <a:pPr algn="r"/>
                      <a:r>
                        <a:rPr sz="1300" b="0">
                          <a:solidFill>
                            <a:srgbClr val="3D4756"/>
                          </a:solidFill>
                          <a:latin typeface="Calibri"/>
                        </a:rPr>
                        <a:t>250 MHz</a:t>
                      </a:r>
                    </a:p>
                  </a:txBody>
                  <a:tcPr marL="91440" marR="73152" marT="27432" marB="27432" anchor="ctr">
                    <a:solidFill>
                      <a:srgbClr val="FFFFFF"/>
                    </a:solidFill>
                  </a:tcPr>
                </a:tc>
                <a:tc>
                  <a:txBody>
                    <a:bodyPr wrap="square"/>
                    <a:lstStyle/>
                    <a:p>
                      <a:pPr algn="r"/>
                      <a:r>
                        <a:rPr sz="1300" b="0">
                          <a:solidFill>
                            <a:srgbClr val="3D4756"/>
                          </a:solidFill>
                          <a:latin typeface="Calibri"/>
                        </a:rPr>
                        <a:t>54.69</a:t>
                      </a:r>
                    </a:p>
                  </a:txBody>
                  <a:tcPr marL="91440" marR="73152" marT="27432" marB="27432" anchor="ctr">
                    <a:solidFill>
                      <a:srgbClr val="FFFFFF"/>
                    </a:solidFill>
                  </a:tcPr>
                </a:tc>
                <a:tc>
                  <a:txBody>
                    <a:bodyPr wrap="square"/>
                    <a:lstStyle/>
                    <a:p>
                      <a:pPr algn="r"/>
                      <a:r>
                        <a:rPr sz="1300" b="0">
                          <a:solidFill>
                            <a:srgbClr val="3D4756"/>
                          </a:solidFill>
                          <a:latin typeface="Calibri"/>
                        </a:rPr>
                        <a:t>46.10</a:t>
                      </a:r>
                    </a:p>
                  </a:txBody>
                  <a:tcPr marL="91440" marR="73152" marT="27432" marB="27432" anchor="ctr">
                    <a:solidFill>
                      <a:srgbClr val="FFFFFF"/>
                    </a:solidFill>
                  </a:tcPr>
                </a:tc>
                <a:tc>
                  <a:txBody>
                    <a:bodyPr wrap="square"/>
                    <a:lstStyle/>
                    <a:p>
                      <a:pPr algn="l"/>
                      <a:r>
                        <a:rPr sz="1300" b="1">
                          <a:solidFill>
                            <a:srgbClr val="12866B"/>
                          </a:solidFill>
                          <a:latin typeface="Calibri"/>
                        </a:rPr>
                        <a:t>2LAL by 1.19×</a:t>
                      </a:r>
                    </a:p>
                  </a:txBody>
                  <a:tcPr marL="91440" marR="73152" marT="27432" marB="27432" anchor="ctr">
                    <a:solidFill>
                      <a:srgbClr val="FFFFFF"/>
                    </a:solidFill>
                  </a:tcPr>
                </a:tc>
              </a:tr>
            </a:tbl>
          </a:graphicData>
        </a:graphic>
      </p:graphicFrame>
      <p:sp>
        <p:nvSpPr>
          <p:cNvPr id="9" name="Rounded Rectangle 8"/>
          <p:cNvSpPr/>
          <p:nvPr/>
        </p:nvSpPr>
        <p:spPr>
          <a:xfrm>
            <a:off x="7973568" y="1755648"/>
            <a:ext cx="3557016" cy="2103120"/>
          </a:xfrm>
          <a:prstGeom prst="roundRect">
            <a:avLst>
              <a:gd name="adj" fmla="val 8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755648"/>
            <a:ext cx="41148" cy="2103120"/>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174736" y="1883664"/>
            <a:ext cx="3172968" cy="1847087"/>
          </a:xfrm>
          <a:prstGeom prst="rect">
            <a:avLst/>
          </a:prstGeom>
          <a:noFill/>
        </p:spPr>
        <p:txBody>
          <a:bodyPr wrap="square" lIns="0" rIns="0" tIns="0" bIns="0" anchor="t">
            <a:spAutoFit/>
          </a:bodyPr>
          <a:lstStyle/>
          <a:p>
            <a:pPr algn="l">
              <a:lnSpc>
                <a:spcPct val="114000"/>
              </a:lnSpc>
            </a:pPr>
            <a:r>
              <a:rPr sz="1350" b="1" i="0">
                <a:solidFill>
                  <a:srgbClr val="12866B"/>
                </a:solidFill>
                <a:latin typeface="Calibri"/>
              </a:rPr>
              <a:t>Reading it honestly</a:t>
            </a:r>
          </a:p>
          <a:p>
            <a:pPr algn="l">
              <a:lnSpc>
                <a:spcPct val="114000"/>
              </a:lnSpc>
              <a:spcBef>
                <a:spcPts val="400"/>
              </a:spcBef>
            </a:pPr>
            <a:r>
              <a:rPr sz="1250" b="0" i="0">
                <a:solidFill>
                  <a:srgbClr val="3D4756"/>
                </a:solidFill>
                <a:latin typeface="Calibri"/>
              </a:rPr>
              <a:t>2LAL is ahead at every point, and the margin grows steadily as the clock slows. There is no crossover inside 1–1000 MHz; if one exists it lies above 1 GHz, where both are RC-limited.</a:t>
            </a:r>
          </a:p>
        </p:txBody>
      </p:sp>
      <p:sp>
        <p:nvSpPr>
          <p:cNvPr id="12" name="Rounded Rectangle 11"/>
          <p:cNvSpPr/>
          <p:nvPr/>
        </p:nvSpPr>
        <p:spPr>
          <a:xfrm>
            <a:off x="7973568" y="4005072"/>
            <a:ext cx="3557016" cy="2231136"/>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973568" y="4005072"/>
            <a:ext cx="41148" cy="2231136"/>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174736" y="4133087"/>
            <a:ext cx="3172968" cy="1975104"/>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The caveat to quote with these numbers</a:t>
            </a:r>
          </a:p>
          <a:p>
            <a:pPr algn="l">
              <a:lnSpc>
                <a:spcPct val="114000"/>
              </a:lnSpc>
              <a:spcBef>
                <a:spcPts val="400"/>
              </a:spcBef>
            </a:pPr>
            <a:r>
              <a:rPr sz="1250" b="0" i="0">
                <a:solidFill>
                  <a:srgbClr val="3D4756"/>
                </a:solidFill>
                <a:latin typeface="Calibri"/>
              </a:rPr>
              <a:t>The comparison is not capacitance-matched in 2LAL's favour: each 2LAL operation swings two 25 fF nodes (T and C) against one for ECRL, with 16 FETs against 4. 2LAL is ahead despite that.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27</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PART III · TRUST</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Verification and reproducibility</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720840" cy="4480560"/>
          </a:xfrm>
          <a:prstGeom prst="rect">
            <a:avLst/>
          </a:prstGeom>
          <a:noFill/>
        </p:spPr>
        <p:txBody>
          <a:bodyPr wrap="square" lIns="0" rIns="0" tIns="0" bIns="0" anchor="t">
            <a:spAutoFit/>
          </a:bodyPr>
          <a:lstStyle/>
          <a:p>
            <a:pPr algn="l" marL="237744" indent="-237744">
              <a:lnSpc>
                <a:spcPct val="114000"/>
              </a:lnSpc>
              <a:buClr>
                <a:srgbClr val="12866B"/>
              </a:buClr>
              <a:buFont typeface="Arial"/>
              <a:buChar char="▪"/>
            </a:pPr>
            <a:r>
              <a:rPr sz="1450" b="1" i="0">
                <a:solidFill>
                  <a:srgbClr val="1A2233"/>
                </a:solidFill>
                <a:latin typeface="Calibri"/>
              </a:rPr>
              <a:t>Nothing is hand-entered. </a:t>
            </a:r>
            <a:r>
              <a:rPr sz="1450" b="0" i="0">
                <a:solidFill>
                  <a:srgbClr val="3D4756"/>
                </a:solidFill>
                <a:latin typeface="Calibri"/>
              </a:rPr>
              <a:t>ngspice .meas → sweep shell script → CSV → .dat → gnuplot → PNG. gnuplot draws the graphs; every number in them came out of ngspice.</a:t>
            </a:r>
          </a:p>
          <a:p>
            <a:pPr algn="l" marL="237744" indent="-237744">
              <a:lnSpc>
                <a:spcPct val="114000"/>
              </a:lnSpc>
              <a:spcBef>
                <a:spcPts val="1100"/>
              </a:spcBef>
              <a:buClr>
                <a:srgbClr val="12866B"/>
              </a:buClr>
              <a:buFont typeface="Arial"/>
              <a:buChar char="▪"/>
            </a:pPr>
            <a:r>
              <a:rPr sz="1450" b="1" i="0">
                <a:solidFill>
                  <a:srgbClr val="1A2233"/>
                </a:solidFill>
                <a:latin typeface="Calibri"/>
              </a:rPr>
              <a:t>Worked provenance example. </a:t>
            </a:r>
            <a:r>
              <a:rPr sz="1450" b="0" i="0">
                <a:solidFill>
                  <a:srgbClr val="3D4756"/>
                </a:solidFill>
                <a:latin typeface="Calibri"/>
              </a:rPr>
              <a:t>6.28912e-15 J appears identically in the run log, in the CSV row 1.0,10,…, in the .dat file handed to gnuplot, and as the plotted point. Three independent greps, one number.</a:t>
            </a:r>
          </a:p>
          <a:p>
            <a:pPr algn="l" marL="237744" indent="-237744">
              <a:lnSpc>
                <a:spcPct val="114000"/>
              </a:lnSpc>
              <a:spcBef>
                <a:spcPts val="1100"/>
              </a:spcBef>
              <a:buClr>
                <a:srgbClr val="0969DA"/>
              </a:buClr>
              <a:buFont typeface="Arial"/>
              <a:buChar char="▪"/>
            </a:pPr>
            <a:r>
              <a:rPr sz="1450" b="1" i="0">
                <a:solidFill>
                  <a:srgbClr val="1A2233"/>
                </a:solidFill>
                <a:latin typeface="Calibri"/>
              </a:rPr>
              <a:t>A 50× speed-up, checked before it was trusted. </a:t>
            </a:r>
            <a:r>
              <a:rPr sz="1450" b="0" i="0">
                <a:solidFill>
                  <a:srgbClr val="3D4756"/>
                </a:solidFill>
                <a:latin typeface="Calibri"/>
              </a:rPr>
              <a:t>A reduced model include loads only the two devices we actually use: 77 s → 1.5 s per run. Verified bit-for-bit against the full PDK .lib at four points — 1.80491e-14 J on both — before being relied on.</a:t>
            </a:r>
          </a:p>
          <a:p>
            <a:pPr algn="l" marL="237744" indent="-237744">
              <a:lnSpc>
                <a:spcPct val="114000"/>
              </a:lnSpc>
              <a:spcBef>
                <a:spcPts val="1100"/>
              </a:spcBef>
              <a:buClr>
                <a:srgbClr val="0969DA"/>
              </a:buClr>
              <a:buFont typeface="Arial"/>
              <a:buChar char="▪"/>
            </a:pPr>
            <a:r>
              <a:rPr sz="1450" b="1" i="0">
                <a:solidFill>
                  <a:srgbClr val="1A2233"/>
                </a:solidFill>
                <a:latin typeface="Calibri"/>
              </a:rPr>
              <a:t>Settling and error checks on every run. </a:t>
            </a:r>
            <a:r>
              <a:rPr sz="1450" b="0" i="0">
                <a:solidFill>
                  <a:srgbClr val="3D4756"/>
                </a:solidFill>
                <a:latin typeface="Calibri"/>
              </a:rPr>
              <a:t>Each measurement is repeated two periods earlier; a run with no e_c line in the log is an error, not a zero.</a:t>
            </a:r>
          </a:p>
          <a:p>
            <a:pPr algn="l" marL="237744" indent="-237744">
              <a:lnSpc>
                <a:spcPct val="114000"/>
              </a:lnSpc>
              <a:spcBef>
                <a:spcPts val="1100"/>
              </a:spcBef>
              <a:buClr>
                <a:srgbClr val="0969DA"/>
              </a:buClr>
              <a:buFont typeface="Arial"/>
              <a:buChar char="▪"/>
            </a:pPr>
            <a:r>
              <a:rPr sz="1450" b="1" i="0">
                <a:solidFill>
                  <a:srgbClr val="1A2233"/>
                </a:solidFill>
                <a:latin typeface="Calibri"/>
              </a:rPr>
              <a:t>CHECKS.md. </a:t>
            </a:r>
            <a:r>
              <a:rPr sz="1450" b="0" i="0">
                <a:solidFill>
                  <a:srgbClr val="3D4756"/>
                </a:solidFill>
                <a:latin typeface="Calibri"/>
              </a:rPr>
              <a:t>The repository carries the exact command to re-derive every claim on these slides, including how to reproduce the old 5.3622 fJ figure on purpose to prove what caused it.</a:t>
            </a:r>
          </a:p>
        </p:txBody>
      </p:sp>
      <p:sp>
        <p:nvSpPr>
          <p:cNvPr id="8" name="Rounded Rectangle 7"/>
          <p:cNvSpPr/>
          <p:nvPr/>
        </p:nvSpPr>
        <p:spPr>
          <a:xfrm>
            <a:off x="7699248" y="1371600"/>
            <a:ext cx="3831336" cy="1874519"/>
          </a:xfrm>
          <a:prstGeom prst="roundRect">
            <a:avLst>
              <a:gd name="adj" fmla="val 8000"/>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699248" y="1371600"/>
            <a:ext cx="41148" cy="1874519"/>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00416" y="1499616"/>
            <a:ext cx="3447288" cy="1618487"/>
          </a:xfrm>
          <a:prstGeom prst="rect">
            <a:avLst/>
          </a:prstGeom>
          <a:noFill/>
        </p:spPr>
        <p:txBody>
          <a:bodyPr wrap="square" lIns="0" rIns="0" tIns="0" bIns="0" anchor="t">
            <a:spAutoFit/>
          </a:bodyPr>
          <a:lstStyle/>
          <a:p>
            <a:pPr algn="l">
              <a:lnSpc>
                <a:spcPct val="114000"/>
              </a:lnSpc>
            </a:pPr>
            <a:r>
              <a:rPr sz="1350" b="1" i="0">
                <a:solidFill>
                  <a:srgbClr val="C0242C"/>
                </a:solidFill>
                <a:latin typeface="Calibri"/>
              </a:rPr>
              <a:t>Errors we caught in our own review</a:t>
            </a:r>
          </a:p>
          <a:p>
            <a:pPr algn="l">
              <a:lnSpc>
                <a:spcPct val="114000"/>
              </a:lnSpc>
              <a:spcBef>
                <a:spcPts val="400"/>
              </a:spcBef>
            </a:pPr>
            <a:r>
              <a:rPr sz="1250" b="0" i="0">
                <a:solidFill>
                  <a:srgbClr val="3D4756"/>
                </a:solidFill>
                <a:latin typeface="Calibri"/>
              </a:rPr>
              <a:t>A fJ/aJ unit slip (a spurious ~1000× for 2LAL), a “625,000×” that should have read 625×, and an open 2LAL chain whose unrestored end inflated its energy up to 47× — fixed by closing it into a ring.</a:t>
            </a:r>
          </a:p>
        </p:txBody>
      </p:sp>
      <p:sp>
        <p:nvSpPr>
          <p:cNvPr id="11" name="Rounded Rectangle 10"/>
          <p:cNvSpPr/>
          <p:nvPr/>
        </p:nvSpPr>
        <p:spPr>
          <a:xfrm>
            <a:off x="7699248" y="3657600"/>
            <a:ext cx="3831336" cy="2304288"/>
          </a:xfrm>
          <a:prstGeom prst="roundRect">
            <a:avLst>
              <a:gd name="adj" fmla="val 5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18704" y="3822191"/>
            <a:ext cx="3429000" cy="201168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The scripted pipeline</a:t>
            </a:r>
          </a:p>
          <a:p>
            <a:pPr algn="l">
              <a:lnSpc>
                <a:spcPct val="114000"/>
              </a:lnSpc>
              <a:spcBef>
                <a:spcPts val="600"/>
              </a:spcBef>
            </a:pPr>
            <a:r>
              <a:rPr sz="1150" b="0" i="0">
                <a:solidFill>
                  <a:srgbClr val="3D4756"/>
                </a:solidFill>
                <a:latin typeface="Consolas"/>
              </a:rPr>
              <a:t>2lal/run_2lal_sweep.sh</a:t>
            </a:r>
          </a:p>
          <a:p>
            <a:pPr algn="l">
              <a:lnSpc>
                <a:spcPct val="114000"/>
              </a:lnSpc>
              <a:spcBef>
                <a:spcPts val="600"/>
              </a:spcBef>
            </a:pPr>
            <a:r>
              <a:rPr sz="1150" b="0" i="0">
                <a:solidFill>
                  <a:srgbClr val="3D4756"/>
                </a:solidFill>
                <a:latin typeface="Consolas"/>
              </a:rPr>
              <a:t>ecrl/run_ecrl_slowramp_sweep.sh</a:t>
            </a:r>
          </a:p>
          <a:p>
            <a:pPr algn="l">
              <a:lnSpc>
                <a:spcPct val="114000"/>
              </a:lnSpc>
              <a:spcBef>
                <a:spcPts val="600"/>
              </a:spcBef>
            </a:pPr>
            <a:r>
              <a:rPr sz="1150" b="0" i="0">
                <a:solidFill>
                  <a:srgbClr val="3D4756"/>
                </a:solidFill>
                <a:latin typeface="Consolas"/>
              </a:rPr>
              <a:t>plots/make_plots.py</a:t>
            </a:r>
          </a:p>
          <a:p>
            <a:pPr algn="l">
              <a:lnSpc>
                <a:spcPct val="114000"/>
              </a:lnSpc>
              <a:spcBef>
                <a:spcPts val="600"/>
              </a:spcBef>
            </a:pPr>
            <a:r>
              <a:rPr sz="1150" b="0" i="0">
                <a:solidFill>
                  <a:srgbClr val="3D4756"/>
                </a:solidFill>
                <a:latin typeface="Consolas"/>
              </a:rPr>
              <a:t>verification/verify_all.sh</a:t>
            </a:r>
          </a:p>
          <a:p>
            <a:pPr algn="l">
              <a:lnSpc>
                <a:spcPct val="114000"/>
              </a:lnSpc>
              <a:spcBef>
                <a:spcPts val="600"/>
              </a:spcBef>
            </a:pPr>
            <a:r>
              <a:rPr sz="1150" b="0" i="0">
                <a:solidFill>
                  <a:srgbClr val="3D4756"/>
                </a:solidFill>
                <a:latin typeface="Consolas"/>
              </a:rPr>
              <a:t>CHECKS.md</a:t>
            </a:r>
          </a:p>
          <a:p>
            <a:pPr algn="l">
              <a:lnSpc>
                <a:spcPct val="114000"/>
              </a:lnSpc>
              <a:spcBef>
                <a:spcPts val="900"/>
              </a:spcBef>
            </a:pPr>
            <a:r>
              <a:rPr sz="1250" b="0" i="1">
                <a:solidFill>
                  <a:srgbClr val="768295"/>
                </a:solidFill>
                <a:latin typeface="Calibri"/>
              </a:rPr>
              <a:t>84 sweep points, no manual editing.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28</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C0242C"/>
                </a:solidFill>
                <a:latin typeface="Calibri"/>
              </a:rPr>
              <a:t>HONESTY</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What we are not claiming</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71600"/>
            <a:ext cx="6720840" cy="4480560"/>
          </a:xfrm>
          <a:prstGeom prst="rect">
            <a:avLst/>
          </a:prstGeom>
          <a:noFill/>
        </p:spPr>
        <p:txBody>
          <a:bodyPr wrap="square" lIns="0" rIns="0" tIns="0" bIns="0" anchor="t">
            <a:spAutoFit/>
          </a:bodyPr>
          <a:lstStyle/>
          <a:p>
            <a:pPr algn="l" marL="237744" indent="-237744">
              <a:lnSpc>
                <a:spcPct val="114000"/>
              </a:lnSpc>
              <a:buClr>
                <a:srgbClr val="C0242C"/>
              </a:buClr>
              <a:buFont typeface="Arial"/>
              <a:buChar char="▪"/>
            </a:pPr>
            <a:r>
              <a:rPr sz="1450" b="1" i="0">
                <a:solidFill>
                  <a:srgbClr val="C0242C"/>
                </a:solidFill>
                <a:latin typeface="Calibri"/>
              </a:rPr>
              <a:t>We have not reproduced the 1996 numbers. </a:t>
            </a:r>
            <a:r>
              <a:rPr sz="1450" b="0" i="0">
                <a:solidFill>
                  <a:srgbClr val="3D4756"/>
                </a:solidFill>
                <a:latin typeface="Calibri"/>
              </a:rPr>
              <a:t>Moon &amp; Jeong used 1 µm CMOS, Vt ≈ 0.2 V, a 5 V supply, and 5/10 µm devices. Different process, different voltage, different device — the numbers cannot match and should not be expected to.</a:t>
            </a:r>
          </a:p>
          <a:p>
            <a:pPr algn="l" marL="237744" indent="-237744">
              <a:lnSpc>
                <a:spcPct val="114000"/>
              </a:lnSpc>
              <a:spcBef>
                <a:spcPts val="1200"/>
              </a:spcBef>
              <a:buClr>
                <a:srgbClr val="12866B"/>
              </a:buClr>
              <a:buFont typeface="Arial"/>
              <a:buChar char="▪"/>
            </a:pPr>
            <a:r>
              <a:rPr sz="1450" b="1" i="0">
                <a:solidFill>
                  <a:srgbClr val="12866B"/>
                </a:solidFill>
                <a:latin typeface="Calibri"/>
              </a:rPr>
              <a:t>What we did reproduce </a:t>
            </a:r>
            <a:r>
              <a:rPr sz="1450" b="0" i="0">
                <a:solidFill>
                  <a:srgbClr val="3D4756"/>
                </a:solidFill>
                <a:latin typeface="Calibri"/>
              </a:rPr>
              <a:t>is the ECRL topology and the energy-versus-frequency evaluation methodology, in SKY130, and we confirmed the frequency-dependent trend the paper reports.</a:t>
            </a:r>
          </a:p>
          <a:p>
            <a:pPr algn="l" marL="237744" indent="-237744">
              <a:lnSpc>
                <a:spcPct val="114000"/>
              </a:lnSpc>
              <a:spcBef>
                <a:spcPts val="1200"/>
              </a:spcBef>
              <a:buClr>
                <a:srgbClr val="C0242C"/>
              </a:buClr>
              <a:buFont typeface="Arial"/>
              <a:buChar char="▪"/>
            </a:pPr>
            <a:r>
              <a:rPr sz="1450" b="1" i="0">
                <a:solidFill>
                  <a:srgbClr val="C0242C"/>
                </a:solidFill>
                <a:latin typeface="Calibri"/>
              </a:rPr>
              <a:t>The 2LAL cell is a reconstruction. </a:t>
            </a:r>
            <a:r>
              <a:rPr sz="1450" b="0" i="0">
                <a:solidFill>
                  <a:srgbClr val="3D4756"/>
                </a:solidFill>
                <a:latin typeface="Calibri"/>
              </a:rPr>
              <a:t>Assembled from Frank's slides, a DeBenedictis technical report and the 4lc PHAS2 cell. We have not seen Figure 2 of the source paper. Everything is self-consistent and simulates correctly at both bit values, but it is a reconstruction and we say so.</a:t>
            </a:r>
          </a:p>
          <a:p>
            <a:pPr algn="l" marL="237744" indent="-237744">
              <a:lnSpc>
                <a:spcPct val="114000"/>
              </a:lnSpc>
              <a:spcBef>
                <a:spcPts val="1200"/>
              </a:spcBef>
              <a:buClr>
                <a:srgbClr val="C0242C"/>
              </a:buClr>
              <a:buFont typeface="Arial"/>
              <a:buChar char="▪"/>
            </a:pPr>
            <a:r>
              <a:rPr sz="1450" b="1" i="0">
                <a:solidFill>
                  <a:srgbClr val="C0242C"/>
                </a:solidFill>
                <a:latin typeface="Calibri"/>
              </a:rPr>
              <a:t>A single inverter, not a system. </a:t>
            </a:r>
            <a:r>
              <a:rPr sz="1450" b="0" i="0">
                <a:solidFill>
                  <a:srgbClr val="3D4756"/>
                </a:solidFill>
                <a:latin typeface="Calibri"/>
              </a:rPr>
              <a:t>No multi-gate logic, no layout, no extracted parasitics, and no power-clock generator — which every adiabatic result quietly assumes is free, and which is not.</a:t>
            </a:r>
          </a:p>
        </p:txBody>
      </p:sp>
      <p:sp>
        <p:nvSpPr>
          <p:cNvPr id="8" name="Rounded Rectangle 7"/>
          <p:cNvSpPr/>
          <p:nvPr/>
        </p:nvSpPr>
        <p:spPr>
          <a:xfrm>
            <a:off x="7699248" y="1371600"/>
            <a:ext cx="3831336" cy="4480560"/>
          </a:xfrm>
          <a:prstGeom prst="roundRect">
            <a:avLst>
              <a:gd name="adj" fmla="val 5000"/>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955279" y="1627632"/>
            <a:ext cx="3319272" cy="4023360"/>
          </a:xfrm>
          <a:prstGeom prst="rect">
            <a:avLst/>
          </a:prstGeom>
          <a:noFill/>
        </p:spPr>
        <p:txBody>
          <a:bodyPr wrap="square" lIns="0" rIns="0" tIns="0" bIns="0" anchor="t">
            <a:spAutoFit/>
          </a:bodyPr>
          <a:lstStyle/>
          <a:p>
            <a:pPr algn="l">
              <a:lnSpc>
                <a:spcPct val="114000"/>
              </a:lnSpc>
            </a:pPr>
            <a:r>
              <a:rPr sz="1050" b="1" i="0">
                <a:solidFill>
                  <a:srgbClr val="7FD1B9"/>
                </a:solidFill>
                <a:latin typeface="Calibri"/>
              </a:rPr>
              <a:t>THE DEFENSIBLE CLAIM</a:t>
            </a:r>
          </a:p>
          <a:p>
            <a:pPr algn="l">
              <a:lnSpc>
                <a:spcPct val="120000"/>
              </a:lnSpc>
              <a:spcBef>
                <a:spcPts val="1200"/>
              </a:spcBef>
            </a:pPr>
            <a:r>
              <a:rPr sz="1350" b="0" i="0">
                <a:solidFill>
                  <a:srgbClr val="FFFFFF"/>
                </a:solidFill>
                <a:latin typeface="Calibri"/>
              </a:rPr>
              <a:t>“We implemented and functionally verified an ECRL inverter in SKY130, established a power-clock energy measurement by integrating source power, found and fixed a defect in our own measurement window, and reproduced the expected trend.</a:t>
            </a:r>
          </a:p>
          <a:p>
            <a:pPr algn="l">
              <a:lnSpc>
                <a:spcPct val="120000"/>
              </a:lnSpc>
              <a:spcBef>
                <a:spcPts val="1000"/>
              </a:spcBef>
            </a:pPr>
            <a:r>
              <a:rPr sz="1350" b="0" i="0">
                <a:solidFill>
                  <a:srgbClr val="FFFFFF"/>
                </a:solidFill>
                <a:latin typeface="Calibri"/>
              </a:rPr>
              <a:t>We then reconstructed a working 2LAL quad-rail inverter and compared the two families under seven matched conditions, with the switching-activity match verified rather than assumed.”</a:t>
            </a:r>
          </a:p>
          <a:p>
            <a:pPr algn="l">
              <a:lnSpc>
                <a:spcPct val="114000"/>
              </a:lnSpc>
              <a:spcBef>
                <a:spcPts val="1100"/>
              </a:spcBef>
            </a:pPr>
            <a:r>
              <a:rPr sz="1250" b="1" i="0">
                <a:solidFill>
                  <a:srgbClr val="7FD1B9"/>
                </a:solidFill>
                <a:latin typeface="Calibri"/>
              </a:rPr>
              <a:t>Stronger than a number match, and we can defend every clause of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29</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12866B"/>
                </a:solidFill>
                <a:latin typeface="Calibri"/>
              </a:rPr>
              <a:t>NEXT STEPS</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Where this goes next</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58368" y="1353312"/>
            <a:ext cx="10874959" cy="749808"/>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353312"/>
            <a:ext cx="41148" cy="749808"/>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87552" y="14721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Real logic, not just an inverter</a:t>
            </a:r>
          </a:p>
        </p:txBody>
      </p:sp>
      <p:sp>
        <p:nvSpPr>
          <p:cNvPr id="10" name="TextBox 9"/>
          <p:cNvSpPr txBox="1"/>
          <p:nvPr/>
        </p:nvSpPr>
        <p:spPr>
          <a:xfrm>
            <a:off x="4407407" y="14721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NAND and NOR cells and a multi-gate chain in both families. An inverter is the easiest possible case for both, and it may be hiding where they actually differ.</a:t>
            </a:r>
          </a:p>
        </p:txBody>
      </p:sp>
      <p:sp>
        <p:nvSpPr>
          <p:cNvPr id="11" name="Rounded Rectangle 10"/>
          <p:cNvSpPr/>
          <p:nvPr/>
        </p:nvSpPr>
        <p:spPr>
          <a:xfrm>
            <a:off x="658368" y="2153412"/>
            <a:ext cx="10874959" cy="7498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2153412"/>
            <a:ext cx="41148" cy="749808"/>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87552" y="22722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Check the 2LAL cell against the primary source</a:t>
            </a:r>
          </a:p>
        </p:txBody>
      </p:sp>
      <p:sp>
        <p:nvSpPr>
          <p:cNvPr id="14" name="TextBox 13"/>
          <p:cNvSpPr txBox="1"/>
          <p:nvPr/>
        </p:nvSpPr>
        <p:spPr>
          <a:xfrm>
            <a:off x="4407407" y="22722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If Figure 2 of the source paper can be obtained, verify our reconstruction against it rather than against secondary sources.</a:t>
            </a:r>
          </a:p>
        </p:txBody>
      </p:sp>
      <p:sp>
        <p:nvSpPr>
          <p:cNvPr id="15" name="Rounded Rectangle 14"/>
          <p:cNvSpPr/>
          <p:nvPr/>
        </p:nvSpPr>
        <p:spPr>
          <a:xfrm>
            <a:off x="658368" y="2953512"/>
            <a:ext cx="10874959" cy="749808"/>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2953512"/>
            <a:ext cx="41148" cy="749808"/>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87552" y="30723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Separate leakage from the switching term</a:t>
            </a:r>
          </a:p>
        </p:txBody>
      </p:sp>
      <p:sp>
        <p:nvSpPr>
          <p:cNvPr id="18" name="TextBox 17"/>
          <p:cNvSpPr txBox="1"/>
          <p:nvPr/>
        </p:nvSpPr>
        <p:spPr>
          <a:xfrm>
            <a:off x="4407407" y="30723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Measure at zero activity and subtract, so the RC/T term can be isolated. That would pin down where extra width stops helping 2LAL at slow clocks.</a:t>
            </a:r>
          </a:p>
        </p:txBody>
      </p:sp>
      <p:sp>
        <p:nvSpPr>
          <p:cNvPr id="19" name="Rounded Rectangle 18"/>
          <p:cNvSpPr/>
          <p:nvPr/>
        </p:nvSpPr>
        <p:spPr>
          <a:xfrm>
            <a:off x="658368" y="3753612"/>
            <a:ext cx="10874959" cy="7498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3753612"/>
            <a:ext cx="41148" cy="749808"/>
          </a:xfrm>
          <a:prstGeom prst="rect">
            <a:avLst/>
          </a:prstGeom>
          <a:solidFill>
            <a:srgbClr val="7682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87552" y="38724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The paper's other two axes</a:t>
            </a:r>
          </a:p>
        </p:txBody>
      </p:sp>
      <p:sp>
        <p:nvSpPr>
          <p:cNvPr id="22" name="TextBox 21"/>
          <p:cNvSpPr txBox="1"/>
          <p:nvPr/>
        </p:nvSpPr>
        <p:spPr>
          <a:xfrm>
            <a:off x="4407407" y="38724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Sweep supply voltage and load capacitance, which the 1996 work also varies and we have not.</a:t>
            </a:r>
          </a:p>
        </p:txBody>
      </p:sp>
      <p:sp>
        <p:nvSpPr>
          <p:cNvPr id="23" name="Rounded Rectangle 22"/>
          <p:cNvSpPr/>
          <p:nvPr/>
        </p:nvSpPr>
        <p:spPr>
          <a:xfrm>
            <a:off x="658368" y="4553712"/>
            <a:ext cx="10874959" cy="749808"/>
          </a:xfrm>
          <a:prstGeom prst="roundRect">
            <a:avLst>
              <a:gd name="adj" fmla="val 4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4553712"/>
            <a:ext cx="41148" cy="749808"/>
          </a:xfrm>
          <a:prstGeom prst="rect">
            <a:avLst/>
          </a:prstGeom>
          <a:solidFill>
            <a:srgbClr val="76829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87552" y="46725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Layout and extracted parasitics</a:t>
            </a:r>
          </a:p>
        </p:txBody>
      </p:sp>
      <p:sp>
        <p:nvSpPr>
          <p:cNvPr id="26" name="TextBox 25"/>
          <p:cNvSpPr txBox="1"/>
          <p:nvPr/>
        </p:nvSpPr>
        <p:spPr>
          <a:xfrm>
            <a:off x="4407407" y="46725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Move from schematic-level SKY130 to a real cell with extracted parasitics, where the standing-capacitance penalty of 2LAL's 16 transistors will actually show up.</a:t>
            </a:r>
          </a:p>
        </p:txBody>
      </p:sp>
      <p:sp>
        <p:nvSpPr>
          <p:cNvPr id="27" name="Rounded Rectangle 26"/>
          <p:cNvSpPr/>
          <p:nvPr/>
        </p:nvSpPr>
        <p:spPr>
          <a:xfrm>
            <a:off x="658368" y="5353812"/>
            <a:ext cx="10874959" cy="7498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5353812"/>
            <a:ext cx="41148" cy="749808"/>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87552" y="5472684"/>
            <a:ext cx="3246120" cy="548640"/>
          </a:xfrm>
          <a:prstGeom prst="rect">
            <a:avLst/>
          </a:prstGeom>
          <a:noFill/>
        </p:spPr>
        <p:txBody>
          <a:bodyPr wrap="square" lIns="0" rIns="0" tIns="0" bIns="0" anchor="t">
            <a:spAutoFit/>
          </a:bodyPr>
          <a:lstStyle/>
          <a:p>
            <a:pPr algn="l">
              <a:lnSpc>
                <a:spcPct val="114000"/>
              </a:lnSpc>
            </a:pPr>
            <a:r>
              <a:rPr sz="1350" b="1" i="0">
                <a:solidFill>
                  <a:srgbClr val="1A2233"/>
                </a:solidFill>
                <a:latin typeface="Calibri"/>
              </a:rPr>
              <a:t>The power-clock generator</a:t>
            </a:r>
          </a:p>
        </p:txBody>
      </p:sp>
      <p:sp>
        <p:nvSpPr>
          <p:cNvPr id="30" name="TextBox 29"/>
          <p:cNvSpPr txBox="1"/>
          <p:nvPr/>
        </p:nvSpPr>
        <p:spPr>
          <a:xfrm>
            <a:off x="4407407" y="5472684"/>
            <a:ext cx="6851599" cy="548640"/>
          </a:xfrm>
          <a:prstGeom prst="rect">
            <a:avLst/>
          </a:prstGeom>
          <a:noFill/>
        </p:spPr>
        <p:txBody>
          <a:bodyPr wrap="square" lIns="0" rIns="0" tIns="0" bIns="0" anchor="t">
            <a:spAutoFit/>
          </a:bodyPr>
          <a:lstStyle/>
          <a:p>
            <a:pPr algn="l">
              <a:lnSpc>
                <a:spcPct val="114000"/>
              </a:lnSpc>
            </a:pPr>
            <a:r>
              <a:rPr sz="1250" b="0" i="0">
                <a:solidFill>
                  <a:srgbClr val="3D4756"/>
                </a:solidFill>
                <a:latin typeface="Calibri"/>
              </a:rPr>
              <a:t>Every adiabatic energy figure in the literature, ours included, assumes the trapezoidal clock arrives for free. Costing it is the honest end of this project.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30</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SUMMARY</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Where the project stands</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335024"/>
            <a:ext cx="10874959" cy="914400"/>
          </a:xfrm>
          <a:prstGeom prst="rect">
            <a:avLst/>
          </a:prstGeom>
          <a:noFill/>
        </p:spPr>
        <p:txBody>
          <a:bodyPr wrap="square" lIns="0" rIns="0" tIns="0" bIns="0" anchor="t">
            <a:spAutoFit/>
          </a:bodyPr>
          <a:lstStyle/>
          <a:p>
            <a:pPr algn="l">
              <a:lnSpc>
                <a:spcPct val="120000"/>
              </a:lnSpc>
            </a:pPr>
            <a:r>
              <a:rPr sz="1700" b="1" i="0">
                <a:solidFill>
                  <a:srgbClr val="1A2233"/>
                </a:solidFill>
                <a:latin typeface="Calibri"/>
              </a:rPr>
              <a:t>We did not just simulate an inverter. We built a parameterised methodology for measuring adiabatic energy, found three defects in it, fixed them, and then used it to compare two logic families under conditions we can enumerate and defend.</a:t>
            </a:r>
          </a:p>
        </p:txBody>
      </p:sp>
      <p:sp>
        <p:nvSpPr>
          <p:cNvPr id="8" name="Rounded Rectangle 7"/>
          <p:cNvSpPr/>
          <p:nvPr/>
        </p:nvSpPr>
        <p:spPr>
          <a:xfrm>
            <a:off x="658368" y="2487168"/>
            <a:ext cx="2587752" cy="1737360"/>
          </a:xfrm>
          <a:prstGeom prst="roundRect">
            <a:avLst>
              <a:gd name="adj" fmla="val 7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487168"/>
            <a:ext cx="2587752" cy="50292"/>
          </a:xfrm>
          <a:prstGeom prst="rect">
            <a:avLst/>
          </a:prstGeom>
          <a:solidFill>
            <a:srgbClr val="A423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7824" y="2688336"/>
            <a:ext cx="2157984" cy="1417320"/>
          </a:xfrm>
          <a:prstGeom prst="rect">
            <a:avLst/>
          </a:prstGeom>
          <a:noFill/>
        </p:spPr>
        <p:txBody>
          <a:bodyPr wrap="square" lIns="0" rIns="0" tIns="0" bIns="0" anchor="t">
            <a:spAutoFit/>
          </a:bodyPr>
          <a:lstStyle/>
          <a:p>
            <a:pPr algn="l">
              <a:lnSpc>
                <a:spcPct val="114000"/>
              </a:lnSpc>
            </a:pPr>
            <a:r>
              <a:rPr sz="1200" b="1" i="0">
                <a:solidFill>
                  <a:srgbClr val="A4237A"/>
                </a:solidFill>
                <a:latin typeface="Calibri"/>
              </a:rPr>
              <a:t>VERIFIED</a:t>
            </a:r>
          </a:p>
          <a:p>
            <a:pPr algn="l">
              <a:lnSpc>
                <a:spcPct val="115000"/>
              </a:lnSpc>
              <a:spcBef>
                <a:spcPts val="700"/>
              </a:spcBef>
            </a:pPr>
            <a:r>
              <a:rPr sz="1300" b="0" i="0">
                <a:solidFill>
                  <a:srgbClr val="3D4756"/>
                </a:solidFill>
                <a:latin typeface="Calibri"/>
              </a:rPr>
              <a:t>ECRL inverter correct at both bit values across every T_phase from 1 ns to 100 ns</a:t>
            </a:r>
          </a:p>
        </p:txBody>
      </p:sp>
      <p:sp>
        <p:nvSpPr>
          <p:cNvPr id="11" name="Rounded Rectangle 10"/>
          <p:cNvSpPr/>
          <p:nvPr/>
        </p:nvSpPr>
        <p:spPr>
          <a:xfrm>
            <a:off x="3429000" y="2487168"/>
            <a:ext cx="2587752" cy="1737360"/>
          </a:xfrm>
          <a:prstGeom prst="roundRect">
            <a:avLst>
              <a:gd name="adj" fmla="val 7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429000" y="2487168"/>
            <a:ext cx="2587752" cy="50292"/>
          </a:xfrm>
          <a:prstGeom prst="rect">
            <a:avLst/>
          </a:prstGeom>
          <a:solidFill>
            <a:srgbClr val="C024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48456" y="2688336"/>
            <a:ext cx="2157984" cy="1417320"/>
          </a:xfrm>
          <a:prstGeom prst="rect">
            <a:avLst/>
          </a:prstGeom>
          <a:noFill/>
        </p:spPr>
        <p:txBody>
          <a:bodyPr wrap="square" lIns="0" rIns="0" tIns="0" bIns="0" anchor="t">
            <a:spAutoFit/>
          </a:bodyPr>
          <a:lstStyle/>
          <a:p>
            <a:pPr algn="l">
              <a:lnSpc>
                <a:spcPct val="114000"/>
              </a:lnSpc>
            </a:pPr>
            <a:r>
              <a:rPr sz="1200" b="1" i="0">
                <a:solidFill>
                  <a:srgbClr val="C0242C"/>
                </a:solidFill>
                <a:latin typeface="Calibri"/>
              </a:rPr>
              <a:t>DEFINED</a:t>
            </a:r>
          </a:p>
          <a:p>
            <a:pPr algn="l">
              <a:lnSpc>
                <a:spcPct val="115000"/>
              </a:lnSpc>
              <a:spcBef>
                <a:spcPts val="700"/>
              </a:spcBef>
            </a:pPr>
            <a:r>
              <a:rPr sz="1300" b="0" i="0">
                <a:solidFill>
                  <a:srgbClr val="3D4756"/>
                </a:solidFill>
                <a:latin typeface="Calibri"/>
              </a:rPr>
              <a:t>Energy per operation = the integral of -V_PHI·I_PHI dt over one T_clock — and a 2.3× defect it exposed in our own earlier numbers</a:t>
            </a:r>
          </a:p>
        </p:txBody>
      </p:sp>
      <p:sp>
        <p:nvSpPr>
          <p:cNvPr id="14" name="Rounded Rectangle 13"/>
          <p:cNvSpPr/>
          <p:nvPr/>
        </p:nvSpPr>
        <p:spPr>
          <a:xfrm>
            <a:off x="6199631" y="2487168"/>
            <a:ext cx="2587752" cy="1737360"/>
          </a:xfrm>
          <a:prstGeom prst="roundRect">
            <a:avLst>
              <a:gd name="adj" fmla="val 7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199631" y="2487168"/>
            <a:ext cx="2587752" cy="50292"/>
          </a:xfrm>
          <a:prstGeom prst="rect">
            <a:avLst/>
          </a:prstGeom>
          <a:solidFill>
            <a:srgbClr val="0969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19088" y="2688336"/>
            <a:ext cx="2157984" cy="1417320"/>
          </a:xfrm>
          <a:prstGeom prst="rect">
            <a:avLst/>
          </a:prstGeom>
          <a:noFill/>
        </p:spPr>
        <p:txBody>
          <a:bodyPr wrap="square" lIns="0" rIns="0" tIns="0" bIns="0" anchor="t">
            <a:spAutoFit/>
          </a:bodyPr>
          <a:lstStyle/>
          <a:p>
            <a:pPr algn="l">
              <a:lnSpc>
                <a:spcPct val="114000"/>
              </a:lnSpc>
            </a:pPr>
            <a:r>
              <a:rPr sz="1200" b="1" i="0">
                <a:solidFill>
                  <a:srgbClr val="0969DA"/>
                </a:solidFill>
                <a:latin typeface="Calibri"/>
              </a:rPr>
              <a:t>MEASURED</a:t>
            </a:r>
          </a:p>
          <a:p>
            <a:pPr algn="l">
              <a:lnSpc>
                <a:spcPct val="115000"/>
              </a:lnSpc>
              <a:spcBef>
                <a:spcPts val="700"/>
              </a:spcBef>
            </a:pPr>
            <a:r>
              <a:rPr sz="1300" b="0" i="0">
                <a:solidFill>
                  <a:srgbClr val="3D4756"/>
                </a:solidFill>
                <a:latin typeface="Calibri"/>
              </a:rPr>
              <a:t>84 scripted sweep points: 2 families × 6 widths × 7 frequencies, fully reproducible</a:t>
            </a:r>
          </a:p>
        </p:txBody>
      </p:sp>
      <p:sp>
        <p:nvSpPr>
          <p:cNvPr id="17" name="Rounded Rectangle 16"/>
          <p:cNvSpPr/>
          <p:nvPr/>
        </p:nvSpPr>
        <p:spPr>
          <a:xfrm>
            <a:off x="8970264" y="2487168"/>
            <a:ext cx="2587752" cy="1737360"/>
          </a:xfrm>
          <a:prstGeom prst="roundRect">
            <a:avLst>
              <a:gd name="adj" fmla="val 7000"/>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970264" y="2487168"/>
            <a:ext cx="2587752" cy="50292"/>
          </a:xfrm>
          <a:prstGeom prst="rect">
            <a:avLst/>
          </a:prstGeom>
          <a:solidFill>
            <a:srgbClr val="1286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89720" y="2688336"/>
            <a:ext cx="2157984" cy="1417320"/>
          </a:xfrm>
          <a:prstGeom prst="rect">
            <a:avLst/>
          </a:prstGeom>
          <a:noFill/>
        </p:spPr>
        <p:txBody>
          <a:bodyPr wrap="square" lIns="0" rIns="0" tIns="0" bIns="0" anchor="t">
            <a:spAutoFit/>
          </a:bodyPr>
          <a:lstStyle/>
          <a:p>
            <a:pPr algn="l">
              <a:lnSpc>
                <a:spcPct val="114000"/>
              </a:lnSpc>
            </a:pPr>
            <a:r>
              <a:rPr sz="1200" b="1" i="0">
                <a:solidFill>
                  <a:srgbClr val="12866B"/>
                </a:solidFill>
                <a:latin typeface="Calibri"/>
              </a:rPr>
              <a:t>COMPARED</a:t>
            </a:r>
          </a:p>
          <a:p>
            <a:pPr algn="l">
              <a:lnSpc>
                <a:spcPct val="115000"/>
              </a:lnSpc>
              <a:spcBef>
                <a:spcPts val="700"/>
              </a:spcBef>
            </a:pPr>
            <a:r>
              <a:rPr sz="1300" b="0" i="0">
                <a:solidFill>
                  <a:srgbClr val="3D4756"/>
                </a:solidFill>
                <a:latin typeface="Calibri"/>
              </a:rPr>
              <a:t>2LAL lower at every frequency: 1.19× at 1000 MHz, 13.4× at 10 MHz</a:t>
            </a:r>
          </a:p>
        </p:txBody>
      </p:sp>
      <p:sp>
        <p:nvSpPr>
          <p:cNvPr id="20" name="Rounded Rectangle 19"/>
          <p:cNvSpPr/>
          <p:nvPr/>
        </p:nvSpPr>
        <p:spPr>
          <a:xfrm>
            <a:off x="658368" y="4425696"/>
            <a:ext cx="10874959" cy="1645920"/>
          </a:xfrm>
          <a:prstGeom prst="roundRect">
            <a:avLst>
              <a:gd name="adj" fmla="val 5000"/>
            </a:avLst>
          </a:prstGeom>
          <a:solidFill>
            <a:srgbClr val="1424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42415" y="4590288"/>
            <a:ext cx="10106863" cy="1316736"/>
          </a:xfrm>
          <a:prstGeom prst="rect">
            <a:avLst/>
          </a:prstGeom>
          <a:noFill/>
        </p:spPr>
        <p:txBody>
          <a:bodyPr wrap="square" lIns="0" rIns="0" tIns="0" bIns="0" anchor="t">
            <a:spAutoFit/>
          </a:bodyPr>
          <a:lstStyle/>
          <a:p>
            <a:pPr algn="ctr">
              <a:lnSpc>
                <a:spcPct val="125000"/>
              </a:lnSpc>
            </a:pPr>
            <a:r>
              <a:rPr sz="1600" b="1" i="0">
                <a:solidFill>
                  <a:srgbClr val="FFFFFF"/>
                </a:solidFill>
                <a:latin typeface="Calibri"/>
              </a:rPr>
              <a:t>The most valuable output of this phase is not an energy number. It is a measurement definition strict enough that it caught our own mistakes — and a comparison built on top of it that we would be willing to defend line by line.</a:t>
            </a:r>
          </a:p>
          <a:p>
            <a:pPr algn="ctr">
              <a:lnSpc>
                <a:spcPct val="114000"/>
              </a:lnSpc>
              <a:spcBef>
                <a:spcPts val="800"/>
              </a:spcBef>
            </a:pPr>
            <a:r>
              <a:rPr sz="1300" b="0" i="0">
                <a:solidFill>
                  <a:srgbClr val="7FD1B9"/>
                </a:solidFill>
                <a:latin typeface="Calibri"/>
              </a:rPr>
              <a:t>Everything on these slides is reproducible from the repository with the commands in CHECKS.md.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6355080"/>
            <a:ext cx="10874959" cy="274320"/>
          </a:xfrm>
          <a:prstGeom prst="rect">
            <a:avLst/>
          </a:prstGeom>
          <a:noFill/>
        </p:spPr>
        <p:txBody>
          <a:bodyPr wrap="square" lIns="0" rIns="0" tIns="0" bIns="0" anchor="t">
            <a:spAutoFit/>
          </a:bodyPr>
          <a:lstStyle/>
          <a:p>
            <a:pPr algn="l">
              <a:lnSpc>
                <a:spcPct val="114000"/>
              </a:lnSpc>
            </a:pPr>
            <a:r>
              <a:rPr sz="950" b="0" i="0">
                <a:solidFill>
                  <a:srgbClr val="768295"/>
                </a:solidFill>
                <a:latin typeface="Calibri"/>
              </a:rPr>
              <a:t>ECRL &amp; 2LAL in SKY130  ·  progress review</a:t>
            </a:r>
          </a:p>
        </p:txBody>
      </p:sp>
      <p:sp>
        <p:nvSpPr>
          <p:cNvPr id="3" name="TextBox 2"/>
          <p:cNvSpPr txBox="1"/>
          <p:nvPr/>
        </p:nvSpPr>
        <p:spPr>
          <a:xfrm>
            <a:off x="10618927" y="6355080"/>
            <a:ext cx="914400" cy="274320"/>
          </a:xfrm>
          <a:prstGeom prst="rect">
            <a:avLst/>
          </a:prstGeom>
          <a:noFill/>
        </p:spPr>
        <p:txBody>
          <a:bodyPr wrap="square" lIns="0" rIns="0" tIns="0" bIns="0" anchor="t">
            <a:spAutoFit/>
          </a:bodyPr>
          <a:lstStyle/>
          <a:p>
            <a:pPr algn="r">
              <a:lnSpc>
                <a:spcPct val="114000"/>
              </a:lnSpc>
            </a:pPr>
            <a:r>
              <a:rPr sz="950" b="0" i="0">
                <a:solidFill>
                  <a:srgbClr val="768295"/>
                </a:solidFill>
                <a:latin typeface="Calibri"/>
              </a:rPr>
              <a:t>31</a:t>
            </a:r>
          </a:p>
        </p:txBody>
      </p:sp>
      <p:sp>
        <p:nvSpPr>
          <p:cNvPr id="4" name="TextBox 3"/>
          <p:cNvSpPr txBox="1"/>
          <p:nvPr/>
        </p:nvSpPr>
        <p:spPr>
          <a:xfrm>
            <a:off x="658368" y="329184"/>
            <a:ext cx="10874959" cy="219456"/>
          </a:xfrm>
          <a:prstGeom prst="rect">
            <a:avLst/>
          </a:prstGeom>
          <a:noFill/>
        </p:spPr>
        <p:txBody>
          <a:bodyPr wrap="square" lIns="0" rIns="0" tIns="0" bIns="0" anchor="t">
            <a:spAutoFit/>
          </a:bodyPr>
          <a:lstStyle/>
          <a:p>
            <a:pPr algn="l">
              <a:lnSpc>
                <a:spcPct val="114000"/>
              </a:lnSpc>
            </a:pPr>
            <a:r>
              <a:rPr sz="1050" b="1" i="0">
                <a:solidFill>
                  <a:srgbClr val="A4237A"/>
                </a:solidFill>
                <a:latin typeface="Calibri"/>
              </a:rPr>
              <a:t>BACKUP</a:t>
            </a:r>
          </a:p>
        </p:txBody>
      </p:sp>
      <p:sp>
        <p:nvSpPr>
          <p:cNvPr id="5" name="TextBox 4"/>
          <p:cNvSpPr txBox="1"/>
          <p:nvPr/>
        </p:nvSpPr>
        <p:spPr>
          <a:xfrm>
            <a:off x="658368" y="548640"/>
            <a:ext cx="10874959" cy="566928"/>
          </a:xfrm>
          <a:prstGeom prst="rect">
            <a:avLst/>
          </a:prstGeom>
          <a:noFill/>
        </p:spPr>
        <p:txBody>
          <a:bodyPr wrap="square" lIns="0" rIns="0" tIns="0" bIns="0" anchor="t">
            <a:spAutoFit/>
          </a:bodyPr>
          <a:lstStyle/>
          <a:p>
            <a:pPr algn="l">
              <a:lnSpc>
                <a:spcPct val="114000"/>
              </a:lnSpc>
            </a:pPr>
            <a:r>
              <a:rPr sz="2600" b="1" i="0">
                <a:solidFill>
                  <a:srgbClr val="1A2233"/>
                </a:solidFill>
                <a:latin typeface="Calibri"/>
              </a:rPr>
              <a:t>Appendix: the full dataset</a:t>
            </a:r>
          </a:p>
        </p:txBody>
      </p:sp>
      <p:sp>
        <p:nvSpPr>
          <p:cNvPr id="6" name="Rectangle 5"/>
          <p:cNvSpPr/>
          <p:nvPr/>
        </p:nvSpPr>
        <p:spPr>
          <a:xfrm>
            <a:off x="658368" y="1188720"/>
            <a:ext cx="10874959" cy="15240"/>
          </a:xfrm>
          <a:prstGeom prst="rect">
            <a:avLst/>
          </a:prstGeom>
          <a:solidFill>
            <a:srgbClr val="DCE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58368" y="1280160"/>
            <a:ext cx="10874959" cy="274320"/>
          </a:xfrm>
          <a:prstGeom prst="rect">
            <a:avLst/>
          </a:prstGeom>
          <a:noFill/>
        </p:spPr>
        <p:txBody>
          <a:bodyPr wrap="square" lIns="0" rIns="0" tIns="0" bIns="0" anchor="t">
            <a:spAutoFit/>
          </a:bodyPr>
          <a:lstStyle/>
          <a:p>
            <a:pPr algn="l">
              <a:lnSpc>
                <a:spcPct val="114000"/>
              </a:lnSpc>
            </a:pPr>
            <a:r>
              <a:rPr sz="1300" b="0" i="0">
                <a:solidFill>
                  <a:srgbClr val="768295"/>
                </a:solidFill>
                <a:latin typeface="Calibri"/>
              </a:rPr>
              <a:t>Energy per operation in fJ. Rows are transition frequency, columns are device width. From ecrl_slowramp_sweep.csv and 2lal_inverter_sweep.csv.</a:t>
            </a:r>
          </a:p>
        </p:txBody>
      </p:sp>
      <p:sp>
        <p:nvSpPr>
          <p:cNvPr id="8" name="TextBox 7"/>
          <p:cNvSpPr txBox="1"/>
          <p:nvPr/>
        </p:nvSpPr>
        <p:spPr>
          <a:xfrm>
            <a:off x="658368" y="1847088"/>
            <a:ext cx="5394960" cy="274320"/>
          </a:xfrm>
          <a:prstGeom prst="rect">
            <a:avLst/>
          </a:prstGeom>
          <a:noFill/>
        </p:spPr>
        <p:txBody>
          <a:bodyPr wrap="square" lIns="0" rIns="0" tIns="0" bIns="0" anchor="t">
            <a:spAutoFit/>
          </a:bodyPr>
          <a:lstStyle/>
          <a:p>
            <a:pPr algn="l">
              <a:lnSpc>
                <a:spcPct val="114000"/>
              </a:lnSpc>
            </a:pPr>
            <a:r>
              <a:rPr sz="1400" b="1" i="0">
                <a:solidFill>
                  <a:srgbClr val="A4237A"/>
                </a:solidFill>
                <a:latin typeface="Calibri"/>
              </a:rPr>
              <a:t>ECRL inverter, slow-ramp input, alternating data</a:t>
            </a:r>
          </a:p>
        </p:txBody>
      </p:sp>
      <p:graphicFrame>
        <p:nvGraphicFramePr>
          <p:cNvPr id="9" name="Table 8"/>
          <p:cNvGraphicFramePr>
            <a:graphicFrameLocks noGrp="1"/>
          </p:cNvGraphicFramePr>
          <p:nvPr/>
        </p:nvGraphicFramePr>
        <p:xfrm>
          <a:off x="658368" y="2157984"/>
          <a:ext cx="5394957" cy="2729484"/>
        </p:xfrm>
        <a:graphic>
          <a:graphicData uri="http://schemas.openxmlformats.org/drawingml/2006/table">
            <a:tbl>
              <a:tblPr firstRow="0" bandRow="0" lastRow="0" firstCol="0" bandCol="0" lastCol="0">
                <a:tableStyleId>{2D5ABB26-0587-4C30-8999-92F81FD0307C}</a:tableStyleId>
              </a:tblPr>
              <a:tblGrid>
                <a:gridCol w="930165"/>
                <a:gridCol w="744132"/>
                <a:gridCol w="744132"/>
                <a:gridCol w="744132"/>
                <a:gridCol w="744132"/>
                <a:gridCol w="744132"/>
                <a:gridCol w="744132"/>
              </a:tblGrid>
              <a:tr h="329184">
                <a:tc>
                  <a:txBody>
                    <a:bodyPr wrap="square"/>
                    <a:lstStyle/>
                    <a:p>
                      <a:pPr algn="l"/>
                      <a:r>
                        <a:rPr sz="1050" b="1">
                          <a:solidFill>
                            <a:srgbClr val="FFFFFF"/>
                          </a:solidFill>
                          <a:latin typeface="Calibri"/>
                        </a:rPr>
                        <a:t>f_tr</a:t>
                      </a:r>
                    </a:p>
                  </a:txBody>
                  <a:tcPr marL="91440" marR="73152" marT="27432" marB="27432" anchor="ctr">
                    <a:solidFill>
                      <a:srgbClr val="A4237A"/>
                    </a:solidFill>
                  </a:tcPr>
                </a:tc>
                <a:tc>
                  <a:txBody>
                    <a:bodyPr wrap="square"/>
                    <a:lstStyle/>
                    <a:p>
                      <a:pPr algn="r"/>
                      <a:r>
                        <a:rPr sz="1050" b="1">
                          <a:solidFill>
                            <a:srgbClr val="FFFFFF"/>
                          </a:solidFill>
                          <a:latin typeface="Calibri"/>
                        </a:rPr>
                        <a:t>W = 0.84</a:t>
                      </a:r>
                    </a:p>
                  </a:txBody>
                  <a:tcPr marL="91440" marR="73152" marT="27432" marB="27432" anchor="ctr">
                    <a:solidFill>
                      <a:srgbClr val="A4237A"/>
                    </a:solidFill>
                  </a:tcPr>
                </a:tc>
                <a:tc>
                  <a:txBody>
                    <a:bodyPr wrap="square"/>
                    <a:lstStyle/>
                    <a:p>
                      <a:pPr algn="r"/>
                      <a:r>
                        <a:rPr sz="1050" b="1">
                          <a:solidFill>
                            <a:srgbClr val="FFFFFF"/>
                          </a:solidFill>
                          <a:latin typeface="Calibri"/>
                        </a:rPr>
                        <a:t>W = 1.0</a:t>
                      </a:r>
                    </a:p>
                  </a:txBody>
                  <a:tcPr marL="91440" marR="73152" marT="27432" marB="27432" anchor="ctr">
                    <a:solidFill>
                      <a:srgbClr val="A4237A"/>
                    </a:solidFill>
                  </a:tcPr>
                </a:tc>
                <a:tc>
                  <a:txBody>
                    <a:bodyPr wrap="square"/>
                    <a:lstStyle/>
                    <a:p>
                      <a:pPr algn="r"/>
                      <a:r>
                        <a:rPr sz="1050" b="1">
                          <a:solidFill>
                            <a:srgbClr val="FFFFFF"/>
                          </a:solidFill>
                          <a:latin typeface="Calibri"/>
                        </a:rPr>
                        <a:t>W = 1.2</a:t>
                      </a:r>
                    </a:p>
                  </a:txBody>
                  <a:tcPr marL="91440" marR="73152" marT="27432" marB="27432" anchor="ctr">
                    <a:solidFill>
                      <a:srgbClr val="A4237A"/>
                    </a:solidFill>
                  </a:tcPr>
                </a:tc>
                <a:tc>
                  <a:txBody>
                    <a:bodyPr wrap="square"/>
                    <a:lstStyle/>
                    <a:p>
                      <a:pPr algn="r"/>
                      <a:r>
                        <a:rPr sz="1050" b="1">
                          <a:solidFill>
                            <a:srgbClr val="FFFFFF"/>
                          </a:solidFill>
                          <a:latin typeface="Calibri"/>
                        </a:rPr>
                        <a:t>W = 1.5</a:t>
                      </a:r>
                    </a:p>
                  </a:txBody>
                  <a:tcPr marL="91440" marR="73152" marT="27432" marB="27432" anchor="ctr">
                    <a:solidFill>
                      <a:srgbClr val="A4237A"/>
                    </a:solidFill>
                  </a:tcPr>
                </a:tc>
                <a:tc>
                  <a:txBody>
                    <a:bodyPr wrap="square"/>
                    <a:lstStyle/>
                    <a:p>
                      <a:pPr algn="r"/>
                      <a:r>
                        <a:rPr sz="1050" b="1">
                          <a:solidFill>
                            <a:srgbClr val="FFFFFF"/>
                          </a:solidFill>
                          <a:latin typeface="Calibri"/>
                        </a:rPr>
                        <a:t>W = 2.0</a:t>
                      </a:r>
                    </a:p>
                  </a:txBody>
                  <a:tcPr marL="91440" marR="73152" marT="27432" marB="27432" anchor="ctr">
                    <a:solidFill>
                      <a:srgbClr val="A4237A"/>
                    </a:solidFill>
                  </a:tcPr>
                </a:tc>
                <a:tc>
                  <a:txBody>
                    <a:bodyPr wrap="square"/>
                    <a:lstStyle/>
                    <a:p>
                      <a:pPr algn="r"/>
                      <a:r>
                        <a:rPr sz="1050" b="1">
                          <a:solidFill>
                            <a:srgbClr val="FFFFFF"/>
                          </a:solidFill>
                          <a:latin typeface="Calibri"/>
                        </a:rPr>
                        <a:t>W = 3.0</a:t>
                      </a:r>
                    </a:p>
                  </a:txBody>
                  <a:tcPr marL="91440" marR="73152" marT="27432" marB="27432" anchor="ctr">
                    <a:solidFill>
                      <a:srgbClr val="A4237A"/>
                    </a:solidFill>
                  </a:tcPr>
                </a:tc>
              </a:tr>
              <a:tr h="342900">
                <a:tc>
                  <a:txBody>
                    <a:bodyPr wrap="square"/>
                    <a:lstStyle/>
                    <a:p>
                      <a:pPr algn="l"/>
                      <a:r>
                        <a:rPr sz="1150" b="0">
                          <a:solidFill>
                            <a:srgbClr val="3D4756"/>
                          </a:solidFill>
                          <a:latin typeface="Calibri"/>
                        </a:rPr>
                        <a:t>10 MHz</a:t>
                      </a:r>
                    </a:p>
                  </a:txBody>
                  <a:tcPr marL="91440" marR="73152" marT="27432" marB="27432" anchor="ctr">
                    <a:solidFill>
                      <a:srgbClr val="FFFFFF"/>
                    </a:solidFill>
                  </a:tcPr>
                </a:tc>
                <a:tc>
                  <a:txBody>
                    <a:bodyPr wrap="square"/>
                    <a:lstStyle/>
                    <a:p>
                      <a:pPr algn="r"/>
                      <a:r>
                        <a:rPr sz="1150" b="0">
                          <a:solidFill>
                            <a:srgbClr val="3D4756"/>
                          </a:solidFill>
                          <a:latin typeface="Calibri"/>
                        </a:rPr>
                        <a:t>12.61</a:t>
                      </a:r>
                    </a:p>
                  </a:txBody>
                  <a:tcPr marL="91440" marR="73152" marT="27432" marB="27432" anchor="ctr">
                    <a:solidFill>
                      <a:srgbClr val="FFFFFF"/>
                    </a:solidFill>
                  </a:tcPr>
                </a:tc>
                <a:tc>
                  <a:txBody>
                    <a:bodyPr wrap="square"/>
                    <a:lstStyle/>
                    <a:p>
                      <a:pPr algn="r"/>
                      <a:r>
                        <a:rPr sz="1150" b="0">
                          <a:solidFill>
                            <a:srgbClr val="3D4756"/>
                          </a:solidFill>
                          <a:latin typeface="Calibri"/>
                        </a:rPr>
                        <a:t>12.46</a:t>
                      </a:r>
                    </a:p>
                  </a:txBody>
                  <a:tcPr marL="91440" marR="73152" marT="27432" marB="27432" anchor="ctr">
                    <a:solidFill>
                      <a:srgbClr val="FFFFFF"/>
                    </a:solidFill>
                  </a:tcPr>
                </a:tc>
                <a:tc>
                  <a:txBody>
                    <a:bodyPr wrap="square"/>
                    <a:lstStyle/>
                    <a:p>
                      <a:pPr algn="r"/>
                      <a:r>
                        <a:rPr sz="1150" b="0">
                          <a:solidFill>
                            <a:srgbClr val="3D4756"/>
                          </a:solidFill>
                          <a:latin typeface="Calibri"/>
                        </a:rPr>
                        <a:t>12.56</a:t>
                      </a:r>
                    </a:p>
                  </a:txBody>
                  <a:tcPr marL="91440" marR="73152" marT="27432" marB="27432" anchor="ctr">
                    <a:solidFill>
                      <a:srgbClr val="FFFFFF"/>
                    </a:solidFill>
                  </a:tcPr>
                </a:tc>
                <a:tc>
                  <a:txBody>
                    <a:bodyPr wrap="square"/>
                    <a:lstStyle/>
                    <a:p>
                      <a:pPr algn="r"/>
                      <a:r>
                        <a:rPr sz="1150" b="0">
                          <a:solidFill>
                            <a:srgbClr val="3D4756"/>
                          </a:solidFill>
                          <a:latin typeface="Calibri"/>
                        </a:rPr>
                        <a:t>11.97</a:t>
                      </a:r>
                    </a:p>
                  </a:txBody>
                  <a:tcPr marL="91440" marR="73152" marT="27432" marB="27432" anchor="ctr">
                    <a:solidFill>
                      <a:srgbClr val="FFFFFF"/>
                    </a:solidFill>
                  </a:tcPr>
                </a:tc>
                <a:tc>
                  <a:txBody>
                    <a:bodyPr wrap="square"/>
                    <a:lstStyle/>
                    <a:p>
                      <a:pPr algn="r"/>
                      <a:r>
                        <a:rPr sz="1150" b="0">
                          <a:solidFill>
                            <a:srgbClr val="3D4756"/>
                          </a:solidFill>
                          <a:latin typeface="Calibri"/>
                        </a:rPr>
                        <a:t>11.73</a:t>
                      </a:r>
                    </a:p>
                  </a:txBody>
                  <a:tcPr marL="91440" marR="73152" marT="27432" marB="27432" anchor="ctr">
                    <a:solidFill>
                      <a:srgbClr val="FFFFFF"/>
                    </a:solidFill>
                  </a:tcPr>
                </a:tc>
                <a:tc>
                  <a:txBody>
                    <a:bodyPr wrap="square"/>
                    <a:lstStyle/>
                    <a:p>
                      <a:pPr algn="r"/>
                      <a:r>
                        <a:rPr sz="1150" b="0">
                          <a:solidFill>
                            <a:srgbClr val="3D4756"/>
                          </a:solidFill>
                          <a:latin typeface="Calibri"/>
                        </a:rPr>
                        <a:t>11.55</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20 MHz</a:t>
                      </a:r>
                    </a:p>
                  </a:txBody>
                  <a:tcPr marL="91440" marR="73152" marT="27432" marB="27432" anchor="ctr">
                    <a:solidFill>
                      <a:srgbClr val="F4F6F9"/>
                    </a:solidFill>
                  </a:tcPr>
                </a:tc>
                <a:tc>
                  <a:txBody>
                    <a:bodyPr wrap="square"/>
                    <a:lstStyle/>
                    <a:p>
                      <a:pPr algn="r"/>
                      <a:r>
                        <a:rPr sz="1150" b="0">
                          <a:solidFill>
                            <a:srgbClr val="3D4756"/>
                          </a:solidFill>
                          <a:latin typeface="Calibri"/>
                        </a:rPr>
                        <a:t>14.58</a:t>
                      </a:r>
                    </a:p>
                  </a:txBody>
                  <a:tcPr marL="91440" marR="73152" marT="27432" marB="27432" anchor="ctr">
                    <a:solidFill>
                      <a:srgbClr val="F4F6F9"/>
                    </a:solidFill>
                  </a:tcPr>
                </a:tc>
                <a:tc>
                  <a:txBody>
                    <a:bodyPr wrap="square"/>
                    <a:lstStyle/>
                    <a:p>
                      <a:pPr algn="r"/>
                      <a:r>
                        <a:rPr sz="1150" b="0">
                          <a:solidFill>
                            <a:srgbClr val="3D4756"/>
                          </a:solidFill>
                          <a:latin typeface="Calibri"/>
                        </a:rPr>
                        <a:t>14.37</a:t>
                      </a:r>
                    </a:p>
                  </a:txBody>
                  <a:tcPr marL="91440" marR="73152" marT="27432" marB="27432" anchor="ctr">
                    <a:solidFill>
                      <a:srgbClr val="F4F6F9"/>
                    </a:solidFill>
                  </a:tcPr>
                </a:tc>
                <a:tc>
                  <a:txBody>
                    <a:bodyPr wrap="square"/>
                    <a:lstStyle/>
                    <a:p>
                      <a:pPr algn="r"/>
                      <a:r>
                        <a:rPr sz="1150" b="0">
                          <a:solidFill>
                            <a:srgbClr val="3D4756"/>
                          </a:solidFill>
                          <a:latin typeface="Calibri"/>
                        </a:rPr>
                        <a:t>14.44</a:t>
                      </a:r>
                    </a:p>
                  </a:txBody>
                  <a:tcPr marL="91440" marR="73152" marT="27432" marB="27432" anchor="ctr">
                    <a:solidFill>
                      <a:srgbClr val="F4F6F9"/>
                    </a:solidFill>
                  </a:tcPr>
                </a:tc>
                <a:tc>
                  <a:txBody>
                    <a:bodyPr wrap="square"/>
                    <a:lstStyle/>
                    <a:p>
                      <a:pPr algn="r"/>
                      <a:r>
                        <a:rPr sz="1150" b="0">
                          <a:solidFill>
                            <a:srgbClr val="3D4756"/>
                          </a:solidFill>
                          <a:latin typeface="Calibri"/>
                        </a:rPr>
                        <a:t>13.70</a:t>
                      </a:r>
                    </a:p>
                  </a:txBody>
                  <a:tcPr marL="91440" marR="73152" marT="27432" marB="27432" anchor="ctr">
                    <a:solidFill>
                      <a:srgbClr val="F4F6F9"/>
                    </a:solidFill>
                  </a:tcPr>
                </a:tc>
                <a:tc>
                  <a:txBody>
                    <a:bodyPr wrap="square"/>
                    <a:lstStyle/>
                    <a:p>
                      <a:pPr algn="r"/>
                      <a:r>
                        <a:rPr sz="1150" b="0">
                          <a:solidFill>
                            <a:srgbClr val="3D4756"/>
                          </a:solidFill>
                          <a:latin typeface="Calibri"/>
                        </a:rPr>
                        <a:t>13.39</a:t>
                      </a:r>
                    </a:p>
                  </a:txBody>
                  <a:tcPr marL="91440" marR="73152" marT="27432" marB="27432" anchor="ctr">
                    <a:solidFill>
                      <a:srgbClr val="F4F6F9"/>
                    </a:solidFill>
                  </a:tcPr>
                </a:tc>
                <a:tc>
                  <a:txBody>
                    <a:bodyPr wrap="square"/>
                    <a:lstStyle/>
                    <a:p>
                      <a:pPr algn="r"/>
                      <a:r>
                        <a:rPr sz="1150" b="0">
                          <a:solidFill>
                            <a:srgbClr val="3D4756"/>
                          </a:solidFill>
                          <a:latin typeface="Calibri"/>
                        </a:rPr>
                        <a:t>13.10</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50 MHz</a:t>
                      </a:r>
                    </a:p>
                  </a:txBody>
                  <a:tcPr marL="91440" marR="73152" marT="27432" marB="27432" anchor="ctr">
                    <a:solidFill>
                      <a:srgbClr val="FFFFFF"/>
                    </a:solidFill>
                  </a:tcPr>
                </a:tc>
                <a:tc>
                  <a:txBody>
                    <a:bodyPr wrap="square"/>
                    <a:lstStyle/>
                    <a:p>
                      <a:pPr algn="r"/>
                      <a:r>
                        <a:rPr sz="1150" b="0">
                          <a:solidFill>
                            <a:srgbClr val="3D4756"/>
                          </a:solidFill>
                          <a:latin typeface="Calibri"/>
                        </a:rPr>
                        <a:t>18.31</a:t>
                      </a:r>
                    </a:p>
                  </a:txBody>
                  <a:tcPr marL="91440" marR="73152" marT="27432" marB="27432" anchor="ctr">
                    <a:solidFill>
                      <a:srgbClr val="FFFFFF"/>
                    </a:solidFill>
                  </a:tcPr>
                </a:tc>
                <a:tc>
                  <a:txBody>
                    <a:bodyPr wrap="square"/>
                    <a:lstStyle/>
                    <a:p>
                      <a:pPr algn="r"/>
                      <a:r>
                        <a:rPr sz="1150" b="0">
                          <a:solidFill>
                            <a:srgbClr val="3D4756"/>
                          </a:solidFill>
                          <a:latin typeface="Calibri"/>
                        </a:rPr>
                        <a:t>17.83</a:t>
                      </a:r>
                    </a:p>
                  </a:txBody>
                  <a:tcPr marL="91440" marR="73152" marT="27432" marB="27432" anchor="ctr">
                    <a:solidFill>
                      <a:srgbClr val="FFFFFF"/>
                    </a:solidFill>
                  </a:tcPr>
                </a:tc>
                <a:tc>
                  <a:txBody>
                    <a:bodyPr wrap="square"/>
                    <a:lstStyle/>
                    <a:p>
                      <a:pPr algn="r"/>
                      <a:r>
                        <a:rPr sz="1150" b="0">
                          <a:solidFill>
                            <a:srgbClr val="3D4756"/>
                          </a:solidFill>
                          <a:latin typeface="Calibri"/>
                        </a:rPr>
                        <a:t>17.74</a:t>
                      </a:r>
                    </a:p>
                  </a:txBody>
                  <a:tcPr marL="91440" marR="73152" marT="27432" marB="27432" anchor="ctr">
                    <a:solidFill>
                      <a:srgbClr val="FFFFFF"/>
                    </a:solidFill>
                  </a:tcPr>
                </a:tc>
                <a:tc>
                  <a:txBody>
                    <a:bodyPr wrap="square"/>
                    <a:lstStyle/>
                    <a:p>
                      <a:pPr algn="r"/>
                      <a:r>
                        <a:rPr sz="1150" b="0">
                          <a:solidFill>
                            <a:srgbClr val="3D4756"/>
                          </a:solidFill>
                          <a:latin typeface="Calibri"/>
                        </a:rPr>
                        <a:t>16.68</a:t>
                      </a:r>
                    </a:p>
                  </a:txBody>
                  <a:tcPr marL="91440" marR="73152" marT="27432" marB="27432" anchor="ctr">
                    <a:solidFill>
                      <a:srgbClr val="FFFFFF"/>
                    </a:solidFill>
                  </a:tcPr>
                </a:tc>
                <a:tc>
                  <a:txBody>
                    <a:bodyPr wrap="square"/>
                    <a:lstStyle/>
                    <a:p>
                      <a:pPr algn="r"/>
                      <a:r>
                        <a:rPr sz="1150" b="0">
                          <a:solidFill>
                            <a:srgbClr val="3D4756"/>
                          </a:solidFill>
                          <a:latin typeface="Calibri"/>
                        </a:rPr>
                        <a:t>16.15</a:t>
                      </a:r>
                    </a:p>
                  </a:txBody>
                  <a:tcPr marL="91440" marR="73152" marT="27432" marB="27432" anchor="ctr">
                    <a:solidFill>
                      <a:srgbClr val="FFFFFF"/>
                    </a:solidFill>
                  </a:tcPr>
                </a:tc>
                <a:tc>
                  <a:txBody>
                    <a:bodyPr wrap="square"/>
                    <a:lstStyle/>
                    <a:p>
                      <a:pPr algn="r"/>
                      <a:r>
                        <a:rPr sz="1150" b="0">
                          <a:solidFill>
                            <a:srgbClr val="3D4756"/>
                          </a:solidFill>
                          <a:latin typeface="Calibri"/>
                        </a:rPr>
                        <a:t>15.62</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100 MHz</a:t>
                      </a:r>
                    </a:p>
                  </a:txBody>
                  <a:tcPr marL="91440" marR="73152" marT="27432" marB="27432" anchor="ctr">
                    <a:solidFill>
                      <a:srgbClr val="F4F6F9"/>
                    </a:solidFill>
                  </a:tcPr>
                </a:tc>
                <a:tc>
                  <a:txBody>
                    <a:bodyPr wrap="square"/>
                    <a:lstStyle/>
                    <a:p>
                      <a:pPr algn="r"/>
                      <a:r>
                        <a:rPr sz="1150" b="0">
                          <a:solidFill>
                            <a:srgbClr val="3D4756"/>
                          </a:solidFill>
                          <a:latin typeface="Calibri"/>
                        </a:rPr>
                        <a:t>22.55</a:t>
                      </a:r>
                    </a:p>
                  </a:txBody>
                  <a:tcPr marL="91440" marR="73152" marT="27432" marB="27432" anchor="ctr">
                    <a:solidFill>
                      <a:srgbClr val="F4F6F9"/>
                    </a:solidFill>
                  </a:tcPr>
                </a:tc>
                <a:tc>
                  <a:txBody>
                    <a:bodyPr wrap="square"/>
                    <a:lstStyle/>
                    <a:p>
                      <a:pPr algn="r"/>
                      <a:r>
                        <a:rPr sz="1150" b="0">
                          <a:solidFill>
                            <a:srgbClr val="3D4756"/>
                          </a:solidFill>
                          <a:latin typeface="Calibri"/>
                        </a:rPr>
                        <a:t>21.66</a:t>
                      </a:r>
                    </a:p>
                  </a:txBody>
                  <a:tcPr marL="91440" marR="73152" marT="27432" marB="27432" anchor="ctr">
                    <a:solidFill>
                      <a:srgbClr val="F4F6F9"/>
                    </a:solidFill>
                  </a:tcPr>
                </a:tc>
                <a:tc>
                  <a:txBody>
                    <a:bodyPr wrap="square"/>
                    <a:lstStyle/>
                    <a:p>
                      <a:pPr algn="r"/>
                      <a:r>
                        <a:rPr sz="1150" b="0">
                          <a:solidFill>
                            <a:srgbClr val="3D4756"/>
                          </a:solidFill>
                          <a:latin typeface="Calibri"/>
                        </a:rPr>
                        <a:t>21.28</a:t>
                      </a:r>
                    </a:p>
                  </a:txBody>
                  <a:tcPr marL="91440" marR="73152" marT="27432" marB="27432" anchor="ctr">
                    <a:solidFill>
                      <a:srgbClr val="F4F6F9"/>
                    </a:solidFill>
                  </a:tcPr>
                </a:tc>
                <a:tc>
                  <a:txBody>
                    <a:bodyPr wrap="square"/>
                    <a:lstStyle/>
                    <a:p>
                      <a:pPr algn="r"/>
                      <a:r>
                        <a:rPr sz="1150" b="0">
                          <a:solidFill>
                            <a:srgbClr val="3D4756"/>
                          </a:solidFill>
                          <a:latin typeface="Calibri"/>
                        </a:rPr>
                        <a:t>19.81</a:t>
                      </a:r>
                    </a:p>
                  </a:txBody>
                  <a:tcPr marL="91440" marR="73152" marT="27432" marB="27432" anchor="ctr">
                    <a:solidFill>
                      <a:srgbClr val="F4F6F9"/>
                    </a:solidFill>
                  </a:tcPr>
                </a:tc>
                <a:tc>
                  <a:txBody>
                    <a:bodyPr wrap="square"/>
                    <a:lstStyle/>
                    <a:p>
                      <a:pPr algn="r"/>
                      <a:r>
                        <a:rPr sz="1150" b="0">
                          <a:solidFill>
                            <a:srgbClr val="3D4756"/>
                          </a:solidFill>
                          <a:latin typeface="Calibri"/>
                        </a:rPr>
                        <a:t>18.97</a:t>
                      </a:r>
                    </a:p>
                  </a:txBody>
                  <a:tcPr marL="91440" marR="73152" marT="27432" marB="27432" anchor="ctr">
                    <a:solidFill>
                      <a:srgbClr val="F4F6F9"/>
                    </a:solidFill>
                  </a:tcPr>
                </a:tc>
                <a:tc>
                  <a:txBody>
                    <a:bodyPr wrap="square"/>
                    <a:lstStyle/>
                    <a:p>
                      <a:pPr algn="r"/>
                      <a:r>
                        <a:rPr sz="1150" b="0">
                          <a:solidFill>
                            <a:srgbClr val="3D4756"/>
                          </a:solidFill>
                          <a:latin typeface="Calibri"/>
                        </a:rPr>
                        <a:t>18.09</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200 MHz</a:t>
                      </a:r>
                    </a:p>
                  </a:txBody>
                  <a:tcPr marL="91440" marR="73152" marT="27432" marB="27432" anchor="ctr">
                    <a:solidFill>
                      <a:srgbClr val="FFFFFF"/>
                    </a:solidFill>
                  </a:tcPr>
                </a:tc>
                <a:tc>
                  <a:txBody>
                    <a:bodyPr wrap="square"/>
                    <a:lstStyle/>
                    <a:p>
                      <a:pPr algn="r"/>
                      <a:r>
                        <a:rPr sz="1150" b="0">
                          <a:solidFill>
                            <a:srgbClr val="3D4756"/>
                          </a:solidFill>
                          <a:latin typeface="Calibri"/>
                        </a:rPr>
                        <a:t>28.92</a:t>
                      </a:r>
                    </a:p>
                  </a:txBody>
                  <a:tcPr marL="91440" marR="73152" marT="27432" marB="27432" anchor="ctr">
                    <a:solidFill>
                      <a:srgbClr val="FFFFFF"/>
                    </a:solidFill>
                  </a:tcPr>
                </a:tc>
                <a:tc>
                  <a:txBody>
                    <a:bodyPr wrap="square"/>
                    <a:lstStyle/>
                    <a:p>
                      <a:pPr algn="r"/>
                      <a:r>
                        <a:rPr sz="1150" b="0">
                          <a:solidFill>
                            <a:srgbClr val="3D4756"/>
                          </a:solidFill>
                          <a:latin typeface="Calibri"/>
                        </a:rPr>
                        <a:t>27.32</a:t>
                      </a:r>
                    </a:p>
                  </a:txBody>
                  <a:tcPr marL="91440" marR="73152" marT="27432" marB="27432" anchor="ctr">
                    <a:solidFill>
                      <a:srgbClr val="FFFFFF"/>
                    </a:solidFill>
                  </a:tcPr>
                </a:tc>
                <a:tc>
                  <a:txBody>
                    <a:bodyPr wrap="square"/>
                    <a:lstStyle/>
                    <a:p>
                      <a:pPr algn="r"/>
                      <a:r>
                        <a:rPr sz="1150" b="0">
                          <a:solidFill>
                            <a:srgbClr val="3D4756"/>
                          </a:solidFill>
                          <a:latin typeface="Calibri"/>
                        </a:rPr>
                        <a:t>26.41</a:t>
                      </a:r>
                    </a:p>
                  </a:txBody>
                  <a:tcPr marL="91440" marR="73152" marT="27432" marB="27432" anchor="ctr">
                    <a:solidFill>
                      <a:srgbClr val="FFFFFF"/>
                    </a:solidFill>
                  </a:tcPr>
                </a:tc>
                <a:tc>
                  <a:txBody>
                    <a:bodyPr wrap="square"/>
                    <a:lstStyle/>
                    <a:p>
                      <a:pPr algn="r"/>
                      <a:r>
                        <a:rPr sz="1150" b="0">
                          <a:solidFill>
                            <a:srgbClr val="3D4756"/>
                          </a:solidFill>
                          <a:latin typeface="Calibri"/>
                        </a:rPr>
                        <a:t>24.28</a:t>
                      </a:r>
                    </a:p>
                  </a:txBody>
                  <a:tcPr marL="91440" marR="73152" marT="27432" marB="27432" anchor="ctr">
                    <a:solidFill>
                      <a:srgbClr val="FFFFFF"/>
                    </a:solidFill>
                  </a:tcPr>
                </a:tc>
                <a:tc>
                  <a:txBody>
                    <a:bodyPr wrap="square"/>
                    <a:lstStyle/>
                    <a:p>
                      <a:pPr algn="r"/>
                      <a:r>
                        <a:rPr sz="1150" b="0">
                          <a:solidFill>
                            <a:srgbClr val="3D4756"/>
                          </a:solidFill>
                          <a:latin typeface="Calibri"/>
                        </a:rPr>
                        <a:t>22.88</a:t>
                      </a:r>
                    </a:p>
                  </a:txBody>
                  <a:tcPr marL="91440" marR="73152" marT="27432" marB="27432" anchor="ctr">
                    <a:solidFill>
                      <a:srgbClr val="FFFFFF"/>
                    </a:solidFill>
                  </a:tcPr>
                </a:tc>
                <a:tc>
                  <a:txBody>
                    <a:bodyPr wrap="square"/>
                    <a:lstStyle/>
                    <a:p>
                      <a:pPr algn="r"/>
                      <a:r>
                        <a:rPr sz="1150" b="0">
                          <a:solidFill>
                            <a:srgbClr val="3D4756"/>
                          </a:solidFill>
                          <a:latin typeface="Calibri"/>
                        </a:rPr>
                        <a:t>21.40</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500 MHz</a:t>
                      </a:r>
                    </a:p>
                  </a:txBody>
                  <a:tcPr marL="91440" marR="73152" marT="27432" marB="27432" anchor="ctr">
                    <a:solidFill>
                      <a:srgbClr val="F4F6F9"/>
                    </a:solidFill>
                  </a:tcPr>
                </a:tc>
                <a:tc>
                  <a:txBody>
                    <a:bodyPr wrap="square"/>
                    <a:lstStyle/>
                    <a:p>
                      <a:pPr algn="r"/>
                      <a:r>
                        <a:rPr sz="1150" b="0">
                          <a:solidFill>
                            <a:srgbClr val="3D4756"/>
                          </a:solidFill>
                          <a:latin typeface="Calibri"/>
                        </a:rPr>
                        <a:t>43.15</a:t>
                      </a:r>
                    </a:p>
                  </a:txBody>
                  <a:tcPr marL="91440" marR="73152" marT="27432" marB="27432" anchor="ctr">
                    <a:solidFill>
                      <a:srgbClr val="F4F6F9"/>
                    </a:solidFill>
                  </a:tcPr>
                </a:tc>
                <a:tc>
                  <a:txBody>
                    <a:bodyPr wrap="square"/>
                    <a:lstStyle/>
                    <a:p>
                      <a:pPr algn="r"/>
                      <a:r>
                        <a:rPr sz="1150" b="0">
                          <a:solidFill>
                            <a:srgbClr val="3D4756"/>
                          </a:solidFill>
                          <a:latin typeface="Calibri"/>
                        </a:rPr>
                        <a:t>39.82</a:t>
                      </a:r>
                    </a:p>
                  </a:txBody>
                  <a:tcPr marL="91440" marR="73152" marT="27432" marB="27432" anchor="ctr">
                    <a:solidFill>
                      <a:srgbClr val="F4F6F9"/>
                    </a:solidFill>
                  </a:tcPr>
                </a:tc>
                <a:tc>
                  <a:txBody>
                    <a:bodyPr wrap="square"/>
                    <a:lstStyle/>
                    <a:p>
                      <a:pPr algn="r"/>
                      <a:r>
                        <a:rPr sz="1150" b="0">
                          <a:solidFill>
                            <a:srgbClr val="3D4756"/>
                          </a:solidFill>
                          <a:latin typeface="Calibri"/>
                        </a:rPr>
                        <a:t>37.58</a:t>
                      </a:r>
                    </a:p>
                  </a:txBody>
                  <a:tcPr marL="91440" marR="73152" marT="27432" marB="27432" anchor="ctr">
                    <a:solidFill>
                      <a:srgbClr val="F4F6F9"/>
                    </a:solidFill>
                  </a:tcPr>
                </a:tc>
                <a:tc>
                  <a:txBody>
                    <a:bodyPr wrap="square"/>
                    <a:lstStyle/>
                    <a:p>
                      <a:pPr algn="r"/>
                      <a:r>
                        <a:rPr sz="1150" b="0">
                          <a:solidFill>
                            <a:srgbClr val="3D4756"/>
                          </a:solidFill>
                          <a:latin typeface="Calibri"/>
                        </a:rPr>
                        <a:t>33.93</a:t>
                      </a:r>
                    </a:p>
                  </a:txBody>
                  <a:tcPr marL="91440" marR="73152" marT="27432" marB="27432" anchor="ctr">
                    <a:solidFill>
                      <a:srgbClr val="F4F6F9"/>
                    </a:solidFill>
                  </a:tcPr>
                </a:tc>
                <a:tc>
                  <a:txBody>
                    <a:bodyPr wrap="square"/>
                    <a:lstStyle/>
                    <a:p>
                      <a:pPr algn="r"/>
                      <a:r>
                        <a:rPr sz="1150" b="0">
                          <a:solidFill>
                            <a:srgbClr val="3D4756"/>
                          </a:solidFill>
                          <a:latin typeface="Calibri"/>
                        </a:rPr>
                        <a:t>31.06</a:t>
                      </a:r>
                    </a:p>
                  </a:txBody>
                  <a:tcPr marL="91440" marR="73152" marT="27432" marB="27432" anchor="ctr">
                    <a:solidFill>
                      <a:srgbClr val="F4F6F9"/>
                    </a:solidFill>
                  </a:tcPr>
                </a:tc>
                <a:tc>
                  <a:txBody>
                    <a:bodyPr wrap="square"/>
                    <a:lstStyle/>
                    <a:p>
                      <a:pPr algn="r"/>
                      <a:r>
                        <a:rPr sz="1150" b="0">
                          <a:solidFill>
                            <a:srgbClr val="3D4756"/>
                          </a:solidFill>
                          <a:latin typeface="Calibri"/>
                        </a:rPr>
                        <a:t>28.08</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1000 MHz</a:t>
                      </a:r>
                    </a:p>
                  </a:txBody>
                  <a:tcPr marL="91440" marR="73152" marT="27432" marB="27432" anchor="ctr">
                    <a:solidFill>
                      <a:srgbClr val="FFFFFF"/>
                    </a:solidFill>
                  </a:tcPr>
                </a:tc>
                <a:tc>
                  <a:txBody>
                    <a:bodyPr wrap="square"/>
                    <a:lstStyle/>
                    <a:p>
                      <a:pPr algn="r"/>
                      <a:r>
                        <a:rPr sz="1150" b="0">
                          <a:solidFill>
                            <a:srgbClr val="3D4756"/>
                          </a:solidFill>
                          <a:latin typeface="Calibri"/>
                        </a:rPr>
                        <a:t>59.59</a:t>
                      </a:r>
                    </a:p>
                  </a:txBody>
                  <a:tcPr marL="91440" marR="73152" marT="27432" marB="27432" anchor="ctr">
                    <a:solidFill>
                      <a:srgbClr val="FFFFFF"/>
                    </a:solidFill>
                  </a:tcPr>
                </a:tc>
                <a:tc>
                  <a:txBody>
                    <a:bodyPr wrap="square"/>
                    <a:lstStyle/>
                    <a:p>
                      <a:pPr algn="r"/>
                      <a:r>
                        <a:rPr sz="1150" b="0">
                          <a:solidFill>
                            <a:srgbClr val="3D4756"/>
                          </a:solidFill>
                          <a:latin typeface="Calibri"/>
                        </a:rPr>
                        <a:t>54.69</a:t>
                      </a:r>
                    </a:p>
                  </a:txBody>
                  <a:tcPr marL="91440" marR="73152" marT="27432" marB="27432" anchor="ctr">
                    <a:solidFill>
                      <a:srgbClr val="FFFFFF"/>
                    </a:solidFill>
                  </a:tcPr>
                </a:tc>
                <a:tc>
                  <a:txBody>
                    <a:bodyPr wrap="square"/>
                    <a:lstStyle/>
                    <a:p>
                      <a:pPr algn="r"/>
                      <a:r>
                        <a:rPr sz="1150" b="0">
                          <a:solidFill>
                            <a:srgbClr val="3D4756"/>
                          </a:solidFill>
                          <a:latin typeface="Calibri"/>
                        </a:rPr>
                        <a:t>51.12</a:t>
                      </a:r>
                    </a:p>
                  </a:txBody>
                  <a:tcPr marL="91440" marR="73152" marT="27432" marB="27432" anchor="ctr">
                    <a:solidFill>
                      <a:srgbClr val="FFFFFF"/>
                    </a:solidFill>
                  </a:tcPr>
                </a:tc>
                <a:tc>
                  <a:txBody>
                    <a:bodyPr wrap="square"/>
                    <a:lstStyle/>
                    <a:p>
                      <a:pPr algn="r"/>
                      <a:r>
                        <a:rPr sz="1150" b="0">
                          <a:solidFill>
                            <a:srgbClr val="3D4756"/>
                          </a:solidFill>
                          <a:latin typeface="Calibri"/>
                        </a:rPr>
                        <a:t>46.05</a:t>
                      </a:r>
                    </a:p>
                  </a:txBody>
                  <a:tcPr marL="91440" marR="73152" marT="27432" marB="27432" anchor="ctr">
                    <a:solidFill>
                      <a:srgbClr val="FFFFFF"/>
                    </a:solidFill>
                  </a:tcPr>
                </a:tc>
                <a:tc>
                  <a:txBody>
                    <a:bodyPr wrap="square"/>
                    <a:lstStyle/>
                    <a:p>
                      <a:pPr algn="r"/>
                      <a:r>
                        <a:rPr sz="1150" b="0">
                          <a:solidFill>
                            <a:srgbClr val="3D4756"/>
                          </a:solidFill>
                          <a:latin typeface="Calibri"/>
                        </a:rPr>
                        <a:t>41.40</a:t>
                      </a:r>
                    </a:p>
                  </a:txBody>
                  <a:tcPr marL="91440" marR="73152" marT="27432" marB="27432" anchor="ctr">
                    <a:solidFill>
                      <a:srgbClr val="FFFFFF"/>
                    </a:solidFill>
                  </a:tcPr>
                </a:tc>
                <a:tc>
                  <a:txBody>
                    <a:bodyPr wrap="square"/>
                    <a:lstStyle/>
                    <a:p>
                      <a:pPr algn="r"/>
                      <a:r>
                        <a:rPr sz="1150" b="0">
                          <a:solidFill>
                            <a:srgbClr val="3D4756"/>
                          </a:solidFill>
                          <a:latin typeface="Calibri"/>
                        </a:rPr>
                        <a:t>36.43</a:t>
                      </a:r>
                    </a:p>
                  </a:txBody>
                  <a:tcPr marL="91440" marR="73152" marT="27432" marB="27432" anchor="ctr">
                    <a:solidFill>
                      <a:srgbClr val="FFFFFF"/>
                    </a:solidFill>
                  </a:tcPr>
                </a:tc>
              </a:tr>
            </a:tbl>
          </a:graphicData>
        </a:graphic>
      </p:graphicFrame>
      <p:sp>
        <p:nvSpPr>
          <p:cNvPr id="10" name="TextBox 9"/>
          <p:cNvSpPr txBox="1"/>
          <p:nvPr/>
        </p:nvSpPr>
        <p:spPr>
          <a:xfrm>
            <a:off x="6419088" y="1847088"/>
            <a:ext cx="5394960" cy="274320"/>
          </a:xfrm>
          <a:prstGeom prst="rect">
            <a:avLst/>
          </a:prstGeom>
          <a:noFill/>
        </p:spPr>
        <p:txBody>
          <a:bodyPr wrap="square" lIns="0" rIns="0" tIns="0" bIns="0" anchor="t">
            <a:spAutoFit/>
          </a:bodyPr>
          <a:lstStyle/>
          <a:p>
            <a:pPr algn="l">
              <a:lnSpc>
                <a:spcPct val="114000"/>
              </a:lnSpc>
            </a:pPr>
            <a:r>
              <a:rPr sz="1400" b="1" i="0">
                <a:solidFill>
                  <a:srgbClr val="12866B"/>
                </a:solidFill>
                <a:latin typeface="Calibri"/>
              </a:rPr>
              <a:t>2LAL quad-rail inverter (8-stage ring)</a:t>
            </a:r>
          </a:p>
        </p:txBody>
      </p:sp>
      <p:graphicFrame>
        <p:nvGraphicFramePr>
          <p:cNvPr id="11" name="Table 10"/>
          <p:cNvGraphicFramePr>
            <a:graphicFrameLocks noGrp="1"/>
          </p:cNvGraphicFramePr>
          <p:nvPr/>
        </p:nvGraphicFramePr>
        <p:xfrm>
          <a:off x="6419088" y="2157984"/>
          <a:ext cx="5394957" cy="2729484"/>
        </p:xfrm>
        <a:graphic>
          <a:graphicData uri="http://schemas.openxmlformats.org/drawingml/2006/table">
            <a:tbl>
              <a:tblPr firstRow="0" bandRow="0" lastRow="0" firstCol="0" bandCol="0" lastCol="0">
                <a:tableStyleId>{2D5ABB26-0587-4C30-8999-92F81FD0307C}</a:tableStyleId>
              </a:tblPr>
              <a:tblGrid>
                <a:gridCol w="930165"/>
                <a:gridCol w="744132"/>
                <a:gridCol w="744132"/>
                <a:gridCol w="744132"/>
                <a:gridCol w="744132"/>
                <a:gridCol w="744132"/>
                <a:gridCol w="744132"/>
              </a:tblGrid>
              <a:tr h="329184">
                <a:tc>
                  <a:txBody>
                    <a:bodyPr wrap="square"/>
                    <a:lstStyle/>
                    <a:p>
                      <a:pPr algn="l"/>
                      <a:r>
                        <a:rPr sz="1050" b="1">
                          <a:solidFill>
                            <a:srgbClr val="FFFFFF"/>
                          </a:solidFill>
                          <a:latin typeface="Calibri"/>
                        </a:rPr>
                        <a:t>f_tr</a:t>
                      </a:r>
                    </a:p>
                  </a:txBody>
                  <a:tcPr marL="91440" marR="73152" marT="27432" marB="27432" anchor="ctr">
                    <a:solidFill>
                      <a:srgbClr val="12866B"/>
                    </a:solidFill>
                  </a:tcPr>
                </a:tc>
                <a:tc>
                  <a:txBody>
                    <a:bodyPr wrap="square"/>
                    <a:lstStyle/>
                    <a:p>
                      <a:pPr algn="r"/>
                      <a:r>
                        <a:rPr sz="1050" b="1">
                          <a:solidFill>
                            <a:srgbClr val="FFFFFF"/>
                          </a:solidFill>
                          <a:latin typeface="Calibri"/>
                        </a:rPr>
                        <a:t>W = 0.84</a:t>
                      </a:r>
                    </a:p>
                  </a:txBody>
                  <a:tcPr marL="91440" marR="73152" marT="27432" marB="27432" anchor="ctr">
                    <a:solidFill>
                      <a:srgbClr val="12866B"/>
                    </a:solidFill>
                  </a:tcPr>
                </a:tc>
                <a:tc>
                  <a:txBody>
                    <a:bodyPr wrap="square"/>
                    <a:lstStyle/>
                    <a:p>
                      <a:pPr algn="r"/>
                      <a:r>
                        <a:rPr sz="1050" b="1">
                          <a:solidFill>
                            <a:srgbClr val="FFFFFF"/>
                          </a:solidFill>
                          <a:latin typeface="Calibri"/>
                        </a:rPr>
                        <a:t>W = 1.0</a:t>
                      </a:r>
                    </a:p>
                  </a:txBody>
                  <a:tcPr marL="91440" marR="73152" marT="27432" marB="27432" anchor="ctr">
                    <a:solidFill>
                      <a:srgbClr val="12866B"/>
                    </a:solidFill>
                  </a:tcPr>
                </a:tc>
                <a:tc>
                  <a:txBody>
                    <a:bodyPr wrap="square"/>
                    <a:lstStyle/>
                    <a:p>
                      <a:pPr algn="r"/>
                      <a:r>
                        <a:rPr sz="1050" b="1">
                          <a:solidFill>
                            <a:srgbClr val="FFFFFF"/>
                          </a:solidFill>
                          <a:latin typeface="Calibri"/>
                        </a:rPr>
                        <a:t>W = 1.2</a:t>
                      </a:r>
                    </a:p>
                  </a:txBody>
                  <a:tcPr marL="91440" marR="73152" marT="27432" marB="27432" anchor="ctr">
                    <a:solidFill>
                      <a:srgbClr val="12866B"/>
                    </a:solidFill>
                  </a:tcPr>
                </a:tc>
                <a:tc>
                  <a:txBody>
                    <a:bodyPr wrap="square"/>
                    <a:lstStyle/>
                    <a:p>
                      <a:pPr algn="r"/>
                      <a:r>
                        <a:rPr sz="1050" b="1">
                          <a:solidFill>
                            <a:srgbClr val="FFFFFF"/>
                          </a:solidFill>
                          <a:latin typeface="Calibri"/>
                        </a:rPr>
                        <a:t>W = 1.5</a:t>
                      </a:r>
                    </a:p>
                  </a:txBody>
                  <a:tcPr marL="91440" marR="73152" marT="27432" marB="27432" anchor="ctr">
                    <a:solidFill>
                      <a:srgbClr val="12866B"/>
                    </a:solidFill>
                  </a:tcPr>
                </a:tc>
                <a:tc>
                  <a:txBody>
                    <a:bodyPr wrap="square"/>
                    <a:lstStyle/>
                    <a:p>
                      <a:pPr algn="r"/>
                      <a:r>
                        <a:rPr sz="1050" b="1">
                          <a:solidFill>
                            <a:srgbClr val="FFFFFF"/>
                          </a:solidFill>
                          <a:latin typeface="Calibri"/>
                        </a:rPr>
                        <a:t>W = 2.0</a:t>
                      </a:r>
                    </a:p>
                  </a:txBody>
                  <a:tcPr marL="91440" marR="73152" marT="27432" marB="27432" anchor="ctr">
                    <a:solidFill>
                      <a:srgbClr val="12866B"/>
                    </a:solidFill>
                  </a:tcPr>
                </a:tc>
                <a:tc>
                  <a:txBody>
                    <a:bodyPr wrap="square"/>
                    <a:lstStyle/>
                    <a:p>
                      <a:pPr algn="r"/>
                      <a:r>
                        <a:rPr sz="1050" b="1">
                          <a:solidFill>
                            <a:srgbClr val="FFFFFF"/>
                          </a:solidFill>
                          <a:latin typeface="Calibri"/>
                        </a:rPr>
                        <a:t>W = 3.0</a:t>
                      </a:r>
                    </a:p>
                  </a:txBody>
                  <a:tcPr marL="91440" marR="73152" marT="27432" marB="27432" anchor="ctr">
                    <a:solidFill>
                      <a:srgbClr val="12866B"/>
                    </a:solidFill>
                  </a:tcPr>
                </a:tc>
              </a:tr>
              <a:tr h="342900">
                <a:tc>
                  <a:txBody>
                    <a:bodyPr wrap="square"/>
                    <a:lstStyle/>
                    <a:p>
                      <a:pPr algn="l"/>
                      <a:r>
                        <a:rPr sz="1150" b="0">
                          <a:solidFill>
                            <a:srgbClr val="3D4756"/>
                          </a:solidFill>
                          <a:latin typeface="Calibri"/>
                        </a:rPr>
                        <a:t>10 MHz</a:t>
                      </a:r>
                    </a:p>
                  </a:txBody>
                  <a:tcPr marL="91440" marR="73152" marT="27432" marB="27432" anchor="ctr">
                    <a:solidFill>
                      <a:srgbClr val="FFFFFF"/>
                    </a:solidFill>
                  </a:tcPr>
                </a:tc>
                <a:tc>
                  <a:txBody>
                    <a:bodyPr wrap="square"/>
                    <a:lstStyle/>
                    <a:p>
                      <a:pPr algn="r"/>
                      <a:r>
                        <a:rPr sz="1150" b="0">
                          <a:solidFill>
                            <a:srgbClr val="3D4756"/>
                          </a:solidFill>
                          <a:latin typeface="Calibri"/>
                        </a:rPr>
                        <a:t>1.27</a:t>
                      </a:r>
                    </a:p>
                  </a:txBody>
                  <a:tcPr marL="91440" marR="73152" marT="27432" marB="27432" anchor="ctr">
                    <a:solidFill>
                      <a:srgbClr val="FFFFFF"/>
                    </a:solidFill>
                  </a:tcPr>
                </a:tc>
                <a:tc>
                  <a:txBody>
                    <a:bodyPr wrap="square"/>
                    <a:lstStyle/>
                    <a:p>
                      <a:pPr algn="r"/>
                      <a:r>
                        <a:rPr sz="1150" b="0">
                          <a:solidFill>
                            <a:srgbClr val="3D4756"/>
                          </a:solidFill>
                          <a:latin typeface="Calibri"/>
                        </a:rPr>
                        <a:t>0.93</a:t>
                      </a:r>
                    </a:p>
                  </a:txBody>
                  <a:tcPr marL="91440" marR="73152" marT="27432" marB="27432" anchor="ctr">
                    <a:solidFill>
                      <a:srgbClr val="FFFFFF"/>
                    </a:solidFill>
                  </a:tcPr>
                </a:tc>
                <a:tc>
                  <a:txBody>
                    <a:bodyPr wrap="square"/>
                    <a:lstStyle/>
                    <a:p>
                      <a:pPr algn="r"/>
                      <a:r>
                        <a:rPr sz="1150" b="0">
                          <a:solidFill>
                            <a:srgbClr val="3D4756"/>
                          </a:solidFill>
                          <a:latin typeface="Calibri"/>
                        </a:rPr>
                        <a:t>0.67</a:t>
                      </a:r>
                    </a:p>
                  </a:txBody>
                  <a:tcPr marL="91440" marR="73152" marT="27432" marB="27432" anchor="ctr">
                    <a:solidFill>
                      <a:srgbClr val="FFFFFF"/>
                    </a:solidFill>
                  </a:tcPr>
                </a:tc>
                <a:tc>
                  <a:txBody>
                    <a:bodyPr wrap="square"/>
                    <a:lstStyle/>
                    <a:p>
                      <a:pPr algn="r"/>
                      <a:r>
                        <a:rPr sz="1150" b="0">
                          <a:solidFill>
                            <a:srgbClr val="3D4756"/>
                          </a:solidFill>
                          <a:latin typeface="Calibri"/>
                        </a:rPr>
                        <a:t>0.62</a:t>
                      </a:r>
                    </a:p>
                  </a:txBody>
                  <a:tcPr marL="91440" marR="73152" marT="27432" marB="27432" anchor="ctr">
                    <a:solidFill>
                      <a:srgbClr val="FFFFFF"/>
                    </a:solidFill>
                  </a:tcPr>
                </a:tc>
                <a:tc>
                  <a:txBody>
                    <a:bodyPr wrap="square"/>
                    <a:lstStyle/>
                    <a:p>
                      <a:pPr algn="r"/>
                      <a:r>
                        <a:rPr sz="1150" b="0">
                          <a:solidFill>
                            <a:srgbClr val="3D4756"/>
                          </a:solidFill>
                          <a:latin typeface="Calibri"/>
                        </a:rPr>
                        <a:t>0.75</a:t>
                      </a:r>
                    </a:p>
                  </a:txBody>
                  <a:tcPr marL="91440" marR="73152" marT="27432" marB="27432" anchor="ctr">
                    <a:solidFill>
                      <a:srgbClr val="FFFFFF"/>
                    </a:solidFill>
                  </a:tcPr>
                </a:tc>
                <a:tc>
                  <a:txBody>
                    <a:bodyPr wrap="square"/>
                    <a:lstStyle/>
                    <a:p>
                      <a:pPr algn="r"/>
                      <a:r>
                        <a:rPr sz="1150" b="0">
                          <a:solidFill>
                            <a:srgbClr val="3D4756"/>
                          </a:solidFill>
                          <a:latin typeface="Calibri"/>
                        </a:rPr>
                        <a:t>0.90</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20 MHz</a:t>
                      </a:r>
                    </a:p>
                  </a:txBody>
                  <a:tcPr marL="91440" marR="73152" marT="27432" marB="27432" anchor="ctr">
                    <a:solidFill>
                      <a:srgbClr val="F4F6F9"/>
                    </a:solidFill>
                  </a:tcPr>
                </a:tc>
                <a:tc>
                  <a:txBody>
                    <a:bodyPr wrap="square"/>
                    <a:lstStyle/>
                    <a:p>
                      <a:pPr algn="r"/>
                      <a:r>
                        <a:rPr sz="1150" b="0">
                          <a:solidFill>
                            <a:srgbClr val="3D4756"/>
                          </a:solidFill>
                          <a:latin typeface="Calibri"/>
                        </a:rPr>
                        <a:t>1.70</a:t>
                      </a:r>
                    </a:p>
                  </a:txBody>
                  <a:tcPr marL="91440" marR="73152" marT="27432" marB="27432" anchor="ctr">
                    <a:solidFill>
                      <a:srgbClr val="F4F6F9"/>
                    </a:solidFill>
                  </a:tcPr>
                </a:tc>
                <a:tc>
                  <a:txBody>
                    <a:bodyPr wrap="square"/>
                    <a:lstStyle/>
                    <a:p>
                      <a:pPr algn="r"/>
                      <a:r>
                        <a:rPr sz="1150" b="0">
                          <a:solidFill>
                            <a:srgbClr val="3D4756"/>
                          </a:solidFill>
                          <a:latin typeface="Calibri"/>
                        </a:rPr>
                        <a:t>1.44</a:t>
                      </a:r>
                    </a:p>
                  </a:txBody>
                  <a:tcPr marL="91440" marR="73152" marT="27432" marB="27432" anchor="ctr">
                    <a:solidFill>
                      <a:srgbClr val="F4F6F9"/>
                    </a:solidFill>
                  </a:tcPr>
                </a:tc>
                <a:tc>
                  <a:txBody>
                    <a:bodyPr wrap="square"/>
                    <a:lstStyle/>
                    <a:p>
                      <a:pPr algn="r"/>
                      <a:r>
                        <a:rPr sz="1150" b="0">
                          <a:solidFill>
                            <a:srgbClr val="3D4756"/>
                          </a:solidFill>
                          <a:latin typeface="Calibri"/>
                        </a:rPr>
                        <a:t>1.22</a:t>
                      </a:r>
                    </a:p>
                  </a:txBody>
                  <a:tcPr marL="91440" marR="73152" marT="27432" marB="27432" anchor="ctr">
                    <a:solidFill>
                      <a:srgbClr val="F4F6F9"/>
                    </a:solidFill>
                  </a:tcPr>
                </a:tc>
                <a:tc>
                  <a:txBody>
                    <a:bodyPr wrap="square"/>
                    <a:lstStyle/>
                    <a:p>
                      <a:pPr algn="r"/>
                      <a:r>
                        <a:rPr sz="1150" b="0">
                          <a:solidFill>
                            <a:srgbClr val="3D4756"/>
                          </a:solidFill>
                          <a:latin typeface="Calibri"/>
                        </a:rPr>
                        <a:t>1.06</a:t>
                      </a:r>
                    </a:p>
                  </a:txBody>
                  <a:tcPr marL="91440" marR="73152" marT="27432" marB="27432" anchor="ctr">
                    <a:solidFill>
                      <a:srgbClr val="F4F6F9"/>
                    </a:solidFill>
                  </a:tcPr>
                </a:tc>
                <a:tc>
                  <a:txBody>
                    <a:bodyPr wrap="square"/>
                    <a:lstStyle/>
                    <a:p>
                      <a:pPr algn="r"/>
                      <a:r>
                        <a:rPr sz="1150" b="0">
                          <a:solidFill>
                            <a:srgbClr val="3D4756"/>
                          </a:solidFill>
                          <a:latin typeface="Calibri"/>
                        </a:rPr>
                        <a:t>1.06</a:t>
                      </a:r>
                    </a:p>
                  </a:txBody>
                  <a:tcPr marL="91440" marR="73152" marT="27432" marB="27432" anchor="ctr">
                    <a:solidFill>
                      <a:srgbClr val="F4F6F9"/>
                    </a:solidFill>
                  </a:tcPr>
                </a:tc>
                <a:tc>
                  <a:txBody>
                    <a:bodyPr wrap="square"/>
                    <a:lstStyle/>
                    <a:p>
                      <a:pPr algn="r"/>
                      <a:r>
                        <a:rPr sz="1150" b="0">
                          <a:solidFill>
                            <a:srgbClr val="3D4756"/>
                          </a:solidFill>
                          <a:latin typeface="Calibri"/>
                        </a:rPr>
                        <a:t>1.08</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50 MHz</a:t>
                      </a:r>
                    </a:p>
                  </a:txBody>
                  <a:tcPr marL="91440" marR="73152" marT="27432" marB="27432" anchor="ctr">
                    <a:solidFill>
                      <a:srgbClr val="FFFFFF"/>
                    </a:solidFill>
                  </a:tcPr>
                </a:tc>
                <a:tc>
                  <a:txBody>
                    <a:bodyPr wrap="square"/>
                    <a:lstStyle/>
                    <a:p>
                      <a:pPr algn="r"/>
                      <a:r>
                        <a:rPr sz="1150" b="0">
                          <a:solidFill>
                            <a:srgbClr val="3D4756"/>
                          </a:solidFill>
                          <a:latin typeface="Calibri"/>
                        </a:rPr>
                        <a:t>3.61</a:t>
                      </a:r>
                    </a:p>
                  </a:txBody>
                  <a:tcPr marL="91440" marR="73152" marT="27432" marB="27432" anchor="ctr">
                    <a:solidFill>
                      <a:srgbClr val="FFFFFF"/>
                    </a:solidFill>
                  </a:tcPr>
                </a:tc>
                <a:tc>
                  <a:txBody>
                    <a:bodyPr wrap="square"/>
                    <a:lstStyle/>
                    <a:p>
                      <a:pPr algn="r"/>
                      <a:r>
                        <a:rPr sz="1150" b="0">
                          <a:solidFill>
                            <a:srgbClr val="3D4756"/>
                          </a:solidFill>
                          <a:latin typeface="Calibri"/>
                        </a:rPr>
                        <a:t>3.27</a:t>
                      </a:r>
                    </a:p>
                  </a:txBody>
                  <a:tcPr marL="91440" marR="73152" marT="27432" marB="27432" anchor="ctr">
                    <a:solidFill>
                      <a:srgbClr val="FFFFFF"/>
                    </a:solidFill>
                  </a:tcPr>
                </a:tc>
                <a:tc>
                  <a:txBody>
                    <a:bodyPr wrap="square"/>
                    <a:lstStyle/>
                    <a:p>
                      <a:pPr algn="r"/>
                      <a:r>
                        <a:rPr sz="1150" b="0">
                          <a:solidFill>
                            <a:srgbClr val="3D4756"/>
                          </a:solidFill>
                          <a:latin typeface="Calibri"/>
                        </a:rPr>
                        <a:t>2.94</a:t>
                      </a:r>
                    </a:p>
                  </a:txBody>
                  <a:tcPr marL="91440" marR="73152" marT="27432" marB="27432" anchor="ctr">
                    <a:solidFill>
                      <a:srgbClr val="FFFFFF"/>
                    </a:solidFill>
                  </a:tcPr>
                </a:tc>
                <a:tc>
                  <a:txBody>
                    <a:bodyPr wrap="square"/>
                    <a:lstStyle/>
                    <a:p>
                      <a:pPr algn="r"/>
                      <a:r>
                        <a:rPr sz="1150" b="0">
                          <a:solidFill>
                            <a:srgbClr val="3D4756"/>
                          </a:solidFill>
                          <a:latin typeface="Calibri"/>
                        </a:rPr>
                        <a:t>2.50</a:t>
                      </a:r>
                    </a:p>
                  </a:txBody>
                  <a:tcPr marL="91440" marR="73152" marT="27432" marB="27432" anchor="ctr">
                    <a:solidFill>
                      <a:srgbClr val="FFFFFF"/>
                    </a:solidFill>
                  </a:tcPr>
                </a:tc>
                <a:tc>
                  <a:txBody>
                    <a:bodyPr wrap="square"/>
                    <a:lstStyle/>
                    <a:p>
                      <a:pPr algn="r"/>
                      <a:r>
                        <a:rPr sz="1150" b="0">
                          <a:solidFill>
                            <a:srgbClr val="3D4756"/>
                          </a:solidFill>
                          <a:latin typeface="Calibri"/>
                        </a:rPr>
                        <a:t>2.34</a:t>
                      </a:r>
                    </a:p>
                  </a:txBody>
                  <a:tcPr marL="91440" marR="73152" marT="27432" marB="27432" anchor="ctr">
                    <a:solidFill>
                      <a:srgbClr val="FFFFFF"/>
                    </a:solidFill>
                  </a:tcPr>
                </a:tc>
                <a:tc>
                  <a:txBody>
                    <a:bodyPr wrap="square"/>
                    <a:lstStyle/>
                    <a:p>
                      <a:pPr algn="r"/>
                      <a:r>
                        <a:rPr sz="1150" b="0">
                          <a:solidFill>
                            <a:srgbClr val="3D4756"/>
                          </a:solidFill>
                          <a:latin typeface="Calibri"/>
                        </a:rPr>
                        <a:t>2.18</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100 MHz</a:t>
                      </a:r>
                    </a:p>
                  </a:txBody>
                  <a:tcPr marL="91440" marR="73152" marT="27432" marB="27432" anchor="ctr">
                    <a:solidFill>
                      <a:srgbClr val="F4F6F9"/>
                    </a:solidFill>
                  </a:tcPr>
                </a:tc>
                <a:tc>
                  <a:txBody>
                    <a:bodyPr wrap="square"/>
                    <a:lstStyle/>
                    <a:p>
                      <a:pPr algn="r"/>
                      <a:r>
                        <a:rPr sz="1150" b="0">
                          <a:solidFill>
                            <a:srgbClr val="3D4756"/>
                          </a:solidFill>
                          <a:latin typeface="Calibri"/>
                        </a:rPr>
                        <a:t>6.88</a:t>
                      </a:r>
                    </a:p>
                  </a:txBody>
                  <a:tcPr marL="91440" marR="73152" marT="27432" marB="27432" anchor="ctr">
                    <a:solidFill>
                      <a:srgbClr val="F4F6F9"/>
                    </a:solidFill>
                  </a:tcPr>
                </a:tc>
                <a:tc>
                  <a:txBody>
                    <a:bodyPr wrap="square"/>
                    <a:lstStyle/>
                    <a:p>
                      <a:pPr algn="r"/>
                      <a:r>
                        <a:rPr sz="1150" b="0">
                          <a:solidFill>
                            <a:srgbClr val="3D4756"/>
                          </a:solidFill>
                          <a:latin typeface="Calibri"/>
                        </a:rPr>
                        <a:t>6.29</a:t>
                      </a:r>
                    </a:p>
                  </a:txBody>
                  <a:tcPr marL="91440" marR="73152" marT="27432" marB="27432" anchor="ctr">
                    <a:solidFill>
                      <a:srgbClr val="F4F6F9"/>
                    </a:solidFill>
                  </a:tcPr>
                </a:tc>
                <a:tc>
                  <a:txBody>
                    <a:bodyPr wrap="square"/>
                    <a:lstStyle/>
                    <a:p>
                      <a:pPr algn="r"/>
                      <a:r>
                        <a:rPr sz="1150" b="0">
                          <a:solidFill>
                            <a:srgbClr val="3D4756"/>
                          </a:solidFill>
                          <a:latin typeface="Calibri"/>
                        </a:rPr>
                        <a:t>5.73</a:t>
                      </a:r>
                    </a:p>
                  </a:txBody>
                  <a:tcPr marL="91440" marR="73152" marT="27432" marB="27432" anchor="ctr">
                    <a:solidFill>
                      <a:srgbClr val="F4F6F9"/>
                    </a:solidFill>
                  </a:tcPr>
                </a:tc>
                <a:tc>
                  <a:txBody>
                    <a:bodyPr wrap="square"/>
                    <a:lstStyle/>
                    <a:p>
                      <a:pPr algn="r"/>
                      <a:r>
                        <a:rPr sz="1150" b="0">
                          <a:solidFill>
                            <a:srgbClr val="3D4756"/>
                          </a:solidFill>
                          <a:latin typeface="Calibri"/>
                        </a:rPr>
                        <a:t>4.89</a:t>
                      </a:r>
                    </a:p>
                  </a:txBody>
                  <a:tcPr marL="91440" marR="73152" marT="27432" marB="27432" anchor="ctr">
                    <a:solidFill>
                      <a:srgbClr val="F4F6F9"/>
                    </a:solidFill>
                  </a:tcPr>
                </a:tc>
                <a:tc>
                  <a:txBody>
                    <a:bodyPr wrap="square"/>
                    <a:lstStyle/>
                    <a:p>
                      <a:pPr algn="r"/>
                      <a:r>
                        <a:rPr sz="1150" b="0">
                          <a:solidFill>
                            <a:srgbClr val="3D4756"/>
                          </a:solidFill>
                          <a:latin typeface="Calibri"/>
                        </a:rPr>
                        <a:t>4.53</a:t>
                      </a:r>
                    </a:p>
                  </a:txBody>
                  <a:tcPr marL="91440" marR="73152" marT="27432" marB="27432" anchor="ctr">
                    <a:solidFill>
                      <a:srgbClr val="F4F6F9"/>
                    </a:solidFill>
                  </a:tcPr>
                </a:tc>
                <a:tc>
                  <a:txBody>
                    <a:bodyPr wrap="square"/>
                    <a:lstStyle/>
                    <a:p>
                      <a:pPr algn="r"/>
                      <a:r>
                        <a:rPr sz="1150" b="0">
                          <a:solidFill>
                            <a:srgbClr val="3D4756"/>
                          </a:solidFill>
                          <a:latin typeface="Calibri"/>
                        </a:rPr>
                        <a:t>4.17</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200 MHz</a:t>
                      </a:r>
                    </a:p>
                  </a:txBody>
                  <a:tcPr marL="91440" marR="73152" marT="27432" marB="27432" anchor="ctr">
                    <a:solidFill>
                      <a:srgbClr val="FFFFFF"/>
                    </a:solidFill>
                  </a:tcPr>
                </a:tc>
                <a:tc>
                  <a:txBody>
                    <a:bodyPr wrap="square"/>
                    <a:lstStyle/>
                    <a:p>
                      <a:pPr algn="r"/>
                      <a:r>
                        <a:rPr sz="1150" b="0">
                          <a:solidFill>
                            <a:srgbClr val="3D4756"/>
                          </a:solidFill>
                          <a:latin typeface="Calibri"/>
                        </a:rPr>
                        <a:t>13.01</a:t>
                      </a:r>
                    </a:p>
                  </a:txBody>
                  <a:tcPr marL="91440" marR="73152" marT="27432" marB="27432" anchor="ctr">
                    <a:solidFill>
                      <a:srgbClr val="FFFFFF"/>
                    </a:solidFill>
                  </a:tcPr>
                </a:tc>
                <a:tc>
                  <a:txBody>
                    <a:bodyPr wrap="square"/>
                    <a:lstStyle/>
                    <a:p>
                      <a:pPr algn="r"/>
                      <a:r>
                        <a:rPr sz="1150" b="0">
                          <a:solidFill>
                            <a:srgbClr val="3D4756"/>
                          </a:solidFill>
                          <a:latin typeface="Calibri"/>
                        </a:rPr>
                        <a:t>11.93</a:t>
                      </a:r>
                    </a:p>
                  </a:txBody>
                  <a:tcPr marL="91440" marR="73152" marT="27432" marB="27432" anchor="ctr">
                    <a:solidFill>
                      <a:srgbClr val="FFFFFF"/>
                    </a:solidFill>
                  </a:tcPr>
                </a:tc>
                <a:tc>
                  <a:txBody>
                    <a:bodyPr wrap="square"/>
                    <a:lstStyle/>
                    <a:p>
                      <a:pPr algn="r"/>
                      <a:r>
                        <a:rPr sz="1150" b="0">
                          <a:solidFill>
                            <a:srgbClr val="3D4756"/>
                          </a:solidFill>
                          <a:latin typeface="Calibri"/>
                        </a:rPr>
                        <a:t>10.96</a:t>
                      </a:r>
                    </a:p>
                  </a:txBody>
                  <a:tcPr marL="91440" marR="73152" marT="27432" marB="27432" anchor="ctr">
                    <a:solidFill>
                      <a:srgbClr val="FFFFFF"/>
                    </a:solidFill>
                  </a:tcPr>
                </a:tc>
                <a:tc>
                  <a:txBody>
                    <a:bodyPr wrap="square"/>
                    <a:lstStyle/>
                    <a:p>
                      <a:pPr algn="r"/>
                      <a:r>
                        <a:rPr sz="1150" b="0">
                          <a:solidFill>
                            <a:srgbClr val="3D4756"/>
                          </a:solidFill>
                          <a:latin typeface="Calibri"/>
                        </a:rPr>
                        <a:t>9.44</a:t>
                      </a:r>
                    </a:p>
                  </a:txBody>
                  <a:tcPr marL="91440" marR="73152" marT="27432" marB="27432" anchor="ctr">
                    <a:solidFill>
                      <a:srgbClr val="FFFFFF"/>
                    </a:solidFill>
                  </a:tcPr>
                </a:tc>
                <a:tc>
                  <a:txBody>
                    <a:bodyPr wrap="square"/>
                    <a:lstStyle/>
                    <a:p>
                      <a:pPr algn="r"/>
                      <a:r>
                        <a:rPr sz="1150" b="0">
                          <a:solidFill>
                            <a:srgbClr val="3D4756"/>
                          </a:solidFill>
                          <a:latin typeface="Calibri"/>
                        </a:rPr>
                        <a:t>8.75</a:t>
                      </a:r>
                    </a:p>
                  </a:txBody>
                  <a:tcPr marL="91440" marR="73152" marT="27432" marB="27432" anchor="ctr">
                    <a:solidFill>
                      <a:srgbClr val="FFFFFF"/>
                    </a:solidFill>
                  </a:tcPr>
                </a:tc>
                <a:tc>
                  <a:txBody>
                    <a:bodyPr wrap="square"/>
                    <a:lstStyle/>
                    <a:p>
                      <a:pPr algn="r"/>
                      <a:r>
                        <a:rPr sz="1150" b="0">
                          <a:solidFill>
                            <a:srgbClr val="3D4756"/>
                          </a:solidFill>
                          <a:latin typeface="Calibri"/>
                        </a:rPr>
                        <a:t>8.06</a:t>
                      </a:r>
                    </a:p>
                  </a:txBody>
                  <a:tcPr marL="91440" marR="73152" marT="27432" marB="27432" anchor="ctr">
                    <a:solidFill>
                      <a:srgbClr val="FFFFFF"/>
                    </a:solidFill>
                  </a:tcPr>
                </a:tc>
              </a:tr>
              <a:tr h="342900">
                <a:tc>
                  <a:txBody>
                    <a:bodyPr wrap="square"/>
                    <a:lstStyle/>
                    <a:p>
                      <a:pPr algn="l"/>
                      <a:r>
                        <a:rPr sz="1150" b="0">
                          <a:solidFill>
                            <a:srgbClr val="3D4756"/>
                          </a:solidFill>
                          <a:latin typeface="Calibri"/>
                        </a:rPr>
                        <a:t>500 MHz</a:t>
                      </a:r>
                    </a:p>
                  </a:txBody>
                  <a:tcPr marL="91440" marR="73152" marT="27432" marB="27432" anchor="ctr">
                    <a:solidFill>
                      <a:srgbClr val="F4F6F9"/>
                    </a:solidFill>
                  </a:tcPr>
                </a:tc>
                <a:tc>
                  <a:txBody>
                    <a:bodyPr wrap="square"/>
                    <a:lstStyle/>
                    <a:p>
                      <a:pPr algn="r"/>
                      <a:r>
                        <a:rPr sz="1150" b="0">
                          <a:solidFill>
                            <a:srgbClr val="3D4756"/>
                          </a:solidFill>
                          <a:latin typeface="Calibri"/>
                        </a:rPr>
                        <a:t>28.81</a:t>
                      </a:r>
                    </a:p>
                  </a:txBody>
                  <a:tcPr marL="91440" marR="73152" marT="27432" marB="27432" anchor="ctr">
                    <a:solidFill>
                      <a:srgbClr val="F4F6F9"/>
                    </a:solidFill>
                  </a:tcPr>
                </a:tc>
                <a:tc>
                  <a:txBody>
                    <a:bodyPr wrap="square"/>
                    <a:lstStyle/>
                    <a:p>
                      <a:pPr algn="r"/>
                      <a:r>
                        <a:rPr sz="1150" b="0">
                          <a:solidFill>
                            <a:srgbClr val="3D4756"/>
                          </a:solidFill>
                          <a:latin typeface="Calibri"/>
                        </a:rPr>
                        <a:t>26.49</a:t>
                      </a:r>
                    </a:p>
                  </a:txBody>
                  <a:tcPr marL="91440" marR="73152" marT="27432" marB="27432" anchor="ctr">
                    <a:solidFill>
                      <a:srgbClr val="F4F6F9"/>
                    </a:solidFill>
                  </a:tcPr>
                </a:tc>
                <a:tc>
                  <a:txBody>
                    <a:bodyPr wrap="square"/>
                    <a:lstStyle/>
                    <a:p>
                      <a:pPr algn="r"/>
                      <a:r>
                        <a:rPr sz="1150" b="0">
                          <a:solidFill>
                            <a:srgbClr val="3D4756"/>
                          </a:solidFill>
                          <a:latin typeface="Calibri"/>
                        </a:rPr>
                        <a:t>24.59</a:t>
                      </a:r>
                    </a:p>
                  </a:txBody>
                  <a:tcPr marL="91440" marR="73152" marT="27432" marB="27432" anchor="ctr">
                    <a:solidFill>
                      <a:srgbClr val="F4F6F9"/>
                    </a:solidFill>
                  </a:tcPr>
                </a:tc>
                <a:tc>
                  <a:txBody>
                    <a:bodyPr wrap="square"/>
                    <a:lstStyle/>
                    <a:p>
                      <a:pPr algn="r"/>
                      <a:r>
                        <a:rPr sz="1150" b="0">
                          <a:solidFill>
                            <a:srgbClr val="3D4756"/>
                          </a:solidFill>
                          <a:latin typeface="Calibri"/>
                        </a:rPr>
                        <a:t>21.59</a:t>
                      </a:r>
                    </a:p>
                  </a:txBody>
                  <a:tcPr marL="91440" marR="73152" marT="27432" marB="27432" anchor="ctr">
                    <a:solidFill>
                      <a:srgbClr val="F4F6F9"/>
                    </a:solidFill>
                  </a:tcPr>
                </a:tc>
                <a:tc>
                  <a:txBody>
                    <a:bodyPr wrap="square"/>
                    <a:lstStyle/>
                    <a:p>
                      <a:pPr algn="r"/>
                      <a:r>
                        <a:rPr sz="1150" b="0">
                          <a:solidFill>
                            <a:srgbClr val="3D4756"/>
                          </a:solidFill>
                          <a:latin typeface="Calibri"/>
                        </a:rPr>
                        <a:t>20.06</a:t>
                      </a:r>
                    </a:p>
                  </a:txBody>
                  <a:tcPr marL="91440" marR="73152" marT="27432" marB="27432" anchor="ctr">
                    <a:solidFill>
                      <a:srgbClr val="F4F6F9"/>
                    </a:solidFill>
                  </a:tcPr>
                </a:tc>
                <a:tc>
                  <a:txBody>
                    <a:bodyPr wrap="square"/>
                    <a:lstStyle/>
                    <a:p>
                      <a:pPr algn="r"/>
                      <a:r>
                        <a:rPr sz="1150" b="0">
                          <a:solidFill>
                            <a:srgbClr val="3D4756"/>
                          </a:solidFill>
                          <a:latin typeface="Calibri"/>
                        </a:rPr>
                        <a:t>18.70</a:t>
                      </a:r>
                    </a:p>
                  </a:txBody>
                  <a:tcPr marL="91440" marR="73152" marT="27432" marB="27432" anchor="ctr">
                    <a:solidFill>
                      <a:srgbClr val="F4F6F9"/>
                    </a:solidFill>
                  </a:tcPr>
                </a:tc>
              </a:tr>
              <a:tr h="342900">
                <a:tc>
                  <a:txBody>
                    <a:bodyPr wrap="square"/>
                    <a:lstStyle/>
                    <a:p>
                      <a:pPr algn="l"/>
                      <a:r>
                        <a:rPr sz="1150" b="0">
                          <a:solidFill>
                            <a:srgbClr val="3D4756"/>
                          </a:solidFill>
                          <a:latin typeface="Calibri"/>
                        </a:rPr>
                        <a:t>1000 MHz</a:t>
                      </a:r>
                    </a:p>
                  </a:txBody>
                  <a:tcPr marL="91440" marR="73152" marT="27432" marB="27432" anchor="ctr">
                    <a:solidFill>
                      <a:srgbClr val="FFFFFF"/>
                    </a:solidFill>
                  </a:tcPr>
                </a:tc>
                <a:tc>
                  <a:txBody>
                    <a:bodyPr wrap="square"/>
                    <a:lstStyle/>
                    <a:p>
                      <a:pPr algn="r"/>
                      <a:r>
                        <a:rPr sz="1150" b="0">
                          <a:solidFill>
                            <a:srgbClr val="3D4756"/>
                          </a:solidFill>
                          <a:latin typeface="Calibri"/>
                        </a:rPr>
                        <a:t>50.30</a:t>
                      </a:r>
                    </a:p>
                  </a:txBody>
                  <a:tcPr marL="91440" marR="73152" marT="27432" marB="27432" anchor="ctr">
                    <a:solidFill>
                      <a:srgbClr val="FFFFFF"/>
                    </a:solidFill>
                  </a:tcPr>
                </a:tc>
                <a:tc>
                  <a:txBody>
                    <a:bodyPr wrap="square"/>
                    <a:lstStyle/>
                    <a:p>
                      <a:pPr algn="r"/>
                      <a:r>
                        <a:rPr sz="1150" b="0">
                          <a:solidFill>
                            <a:srgbClr val="3D4756"/>
                          </a:solidFill>
                          <a:latin typeface="Calibri"/>
                        </a:rPr>
                        <a:t>46.10</a:t>
                      </a:r>
                    </a:p>
                  </a:txBody>
                  <a:tcPr marL="91440" marR="73152" marT="27432" marB="27432" anchor="ctr">
                    <a:solidFill>
                      <a:srgbClr val="FFFFFF"/>
                    </a:solidFill>
                  </a:tcPr>
                </a:tc>
                <a:tc>
                  <a:txBody>
                    <a:bodyPr wrap="square"/>
                    <a:lstStyle/>
                    <a:p>
                      <a:pPr algn="r"/>
                      <a:r>
                        <a:rPr sz="1150" b="0">
                          <a:solidFill>
                            <a:srgbClr val="3D4756"/>
                          </a:solidFill>
                          <a:latin typeface="Calibri"/>
                        </a:rPr>
                        <a:t>43.05</a:t>
                      </a:r>
                    </a:p>
                  </a:txBody>
                  <a:tcPr marL="91440" marR="73152" marT="27432" marB="27432" anchor="ctr">
                    <a:solidFill>
                      <a:srgbClr val="FFFFFF"/>
                    </a:solidFill>
                  </a:tcPr>
                </a:tc>
                <a:tc>
                  <a:txBody>
                    <a:bodyPr wrap="square"/>
                    <a:lstStyle/>
                    <a:p>
                      <a:pPr algn="r"/>
                      <a:r>
                        <a:rPr sz="1150" b="0">
                          <a:solidFill>
                            <a:srgbClr val="3D4756"/>
                          </a:solidFill>
                          <a:latin typeface="Calibri"/>
                        </a:rPr>
                        <a:t>38.42</a:t>
                      </a:r>
                    </a:p>
                  </a:txBody>
                  <a:tcPr marL="91440" marR="73152" marT="27432" marB="27432" anchor="ctr">
                    <a:solidFill>
                      <a:srgbClr val="FFFFFF"/>
                    </a:solidFill>
                  </a:tcPr>
                </a:tc>
                <a:tc>
                  <a:txBody>
                    <a:bodyPr wrap="square"/>
                    <a:lstStyle/>
                    <a:p>
                      <a:pPr algn="r"/>
                      <a:r>
                        <a:rPr sz="1150" b="0">
                          <a:solidFill>
                            <a:srgbClr val="3D4756"/>
                          </a:solidFill>
                          <a:latin typeface="Calibri"/>
                        </a:rPr>
                        <a:t>35.91</a:t>
                      </a:r>
                    </a:p>
                  </a:txBody>
                  <a:tcPr marL="91440" marR="73152" marT="27432" marB="27432" anchor="ctr">
                    <a:solidFill>
                      <a:srgbClr val="FFFFFF"/>
                    </a:solidFill>
                  </a:tcPr>
                </a:tc>
                <a:tc>
                  <a:txBody>
                    <a:bodyPr wrap="square"/>
                    <a:lstStyle/>
                    <a:p>
                      <a:pPr algn="r"/>
                      <a:r>
                        <a:rPr sz="1150" b="0">
                          <a:solidFill>
                            <a:srgbClr val="3D4756"/>
                          </a:solidFill>
                          <a:latin typeface="Calibri"/>
                        </a:rPr>
                        <a:t>33.95</a:t>
                      </a:r>
                    </a:p>
                  </a:txBody>
                  <a:tcPr marL="91440" marR="73152" marT="27432" marB="27432" anchor="ctr">
                    <a:solidFill>
                      <a:srgbClr val="FFFFFF"/>
                    </a:solidFill>
                  </a:tcPr>
                </a:tc>
              </a:tr>
            </a:tbl>
          </a:graphicData>
        </a:graphic>
      </p:graphicFrame>
      <p:sp>
        <p:nvSpPr>
          <p:cNvPr id="12" name="TextBox 11"/>
          <p:cNvSpPr txBox="1"/>
          <p:nvPr/>
        </p:nvSpPr>
        <p:spPr>
          <a:xfrm>
            <a:off x="658368" y="5138928"/>
            <a:ext cx="10874959" cy="822960"/>
          </a:xfrm>
          <a:prstGeom prst="rect">
            <a:avLst/>
          </a:prstGeom>
          <a:noFill/>
        </p:spPr>
        <p:txBody>
          <a:bodyPr wrap="square" lIns="0" rIns="0" tIns="0" bIns="0" anchor="t">
            <a:spAutoFit/>
          </a:bodyPr>
          <a:lstStyle/>
          <a:p>
            <a:pPr algn="l">
              <a:lnSpc>
                <a:spcPct val="114000"/>
              </a:lnSpc>
            </a:pPr>
            <a:r>
              <a:rPr sz="1300" b="0" i="0">
                <a:solidFill>
                  <a:srgbClr val="3D4756"/>
                </a:solidFill>
                <a:latin typeface="Calibri"/>
              </a:rPr>
              <a:t>Note the width trend. ECRL improves with width at high frequency and is nearly flat at low frequency. 2LAL improves with width at every frequency down to 50 MHz; at 20 and 10 MHz it bottoms out near W = 1.5 µm and the widest devices cost more again.</a:t>
            </a:r>
          </a:p>
          <a:p>
            <a:pPr algn="l">
              <a:lnSpc>
                <a:spcPct val="114000"/>
              </a:lnSpc>
              <a:spcBef>
                <a:spcPts val="600"/>
              </a:spcBef>
            </a:pPr>
            <a:r>
              <a:rPr sz="1250" b="0" i="0">
                <a:solidFill>
                  <a:srgbClr val="768295"/>
                </a:solidFill>
                <a:latin typeface="Calibri"/>
              </a:rPr>
              <a:t>All values are E_C, the average of the 0→1 and 1→0 cycles. In both families those two agreed to within the last printed digit, which is why no switching-activity correction was applied.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