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simulate two adiabatic logic families and report energy per operation. This deck explains, in plain terms, why we believe those energy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any one of these fails, the energy numbers mean nothing. We check all four, and the checks run automatically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from a circuit that computes the wrong answer is worthless, so logic is checked first. One broken circuit, a stage that does not invert, uses exactly the same energy as the correct one (6.29 fJ). Only the logic checks can catch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trusting the meter on adiabatic circuits, we point it at circuits whose answer we already know. Static CMOS must give VDD squared per femtofarad, whatever its parasitics. A resistor and capacitor on our clock ramp has an exact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Adiabatic theory makes specific predictions: energy proportional to 1 over T for 2LAL, a fixed floor for ECRL, and C squared growth with load. All three show up, with numbers that agree with separate measurements of the transistors.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only published 2LAL energy we found at a stated operating point. Matching it to within 17 percent, in a different process, is strong evidence our 2LAL circuit and meter behave like the real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bugs changed our conclusions. The 2LAL one made the two families look tied; the ECRL one made ECRL look better than it is. Each was found by a check, and each check now runs on every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Anyone can repeat every check with one command. The last line is the honest scope: this verifies the simulation, not silicon.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Arial"/>
              </a:rPr>
              <a:t>Can we trust the energy numbers?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063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9D3DC"/>
                </a:solidFill>
                <a:latin typeface="Arial"/>
              </a:rPr>
              <a:t>How the ECRL and 2LAL inverter results were checked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C99A6"/>
                </a:solidFill>
                <a:latin typeface="Arial"/>
              </a:rPr>
              <a:t>SKY130 tt  ·  ngspice  ·  1.8 V  ·  25 fF load  ·  Adiabatic_sweep repository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12B"/>
                </a:solidFill>
                <a:latin typeface="Arial"/>
              </a:rPr>
              <a:t>Four questions, four checks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587752" cy="32918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59" y="1920240"/>
            <a:ext cx="566928" cy="566928"/>
          </a:xfrm>
          <a:prstGeom prst="ellipse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202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43200"/>
            <a:ext cx="2039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12B"/>
                </a:solidFill>
                <a:latin typeface="Arial"/>
              </a:rPr>
              <a:t>Is the logic right?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039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D4752"/>
                </a:solidFill>
                <a:latin typeface="Arial"/>
              </a:rPr>
              <a:t>Every point is checked before its energy is kept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600200"/>
            <a:ext cx="2587752" cy="32918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30168" y="1920240"/>
            <a:ext cx="566928" cy="566928"/>
          </a:xfrm>
          <a:prstGeom prst="ellipse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9202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743200"/>
            <a:ext cx="2039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12B"/>
                </a:solidFill>
                <a:latin typeface="Arial"/>
              </a:rPr>
              <a:t>Is the energy meter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3886200"/>
            <a:ext cx="2039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D4752"/>
                </a:solidFill>
                <a:latin typeface="Arial"/>
              </a:rPr>
              <a:t>It gives the textbook answer on circuits we can solve by hand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600200"/>
            <a:ext cx="2587752" cy="32918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37376" y="1920240"/>
            <a:ext cx="566928" cy="566928"/>
          </a:xfrm>
          <a:prstGeom prst="ellipse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9202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743200"/>
            <a:ext cx="2039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12B"/>
                </a:solidFill>
                <a:latin typeface="Arial"/>
              </a:rPr>
              <a:t>Does it follow the physics?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886200"/>
            <a:ext cx="2039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D4752"/>
                </a:solidFill>
                <a:latin typeface="Arial"/>
              </a:rPr>
              <a:t>Energy changes with speed and load the way theory says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264" y="1600200"/>
            <a:ext cx="2587752" cy="329184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44584" y="1920240"/>
            <a:ext cx="566928" cy="566928"/>
          </a:xfrm>
          <a:prstGeom prst="ellipse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584" y="19202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743200"/>
            <a:ext cx="2039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12B"/>
                </a:solidFill>
                <a:latin typeface="Arial"/>
              </a:rPr>
              <a:t>Does it match published work?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3886200"/>
            <a:ext cx="2039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D4752"/>
                </a:solidFill>
                <a:latin typeface="Arial"/>
              </a:rPr>
              <a:t>Same operating point, close to the published number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B7682"/>
                </a:solidFill>
                <a:latin typeface="Arial"/>
              </a:rPr>
              <a:t>All four pass. One script reruns everything in about four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103171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12B"/>
                </a:solidFill>
                <a:latin typeface="Arial"/>
              </a:rPr>
              <a:t>Is the logic right?</a:t>
            </a:r>
          </a:p>
        </p:txBody>
      </p:sp>
      <p:pic>
        <p:nvPicPr>
          <p:cNvPr id="5" name="Picture 4" descr="2lal_inverter_stage_T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6400800" cy="33886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89204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682"/>
                </a:solidFill>
                <a:latin typeface="Arial"/>
              </a:rPr>
              <a:t>One 2LAL stage at 10 ns: the output (bottom) is the input (middle) inverted, one phase later. Red digits are read from the waveform.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4630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12B"/>
                </a:solidFill>
                <a:latin typeface="Arial"/>
              </a:rPr>
              <a:t>Checked at every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847088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D4752"/>
                </a:solidFill>
                <a:latin typeface="Arial"/>
              </a:rPr>
              <a:t>An ECRL point is kept only if both outputs reach the rails. A 2LAL point needs all 96 of its checks to 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9260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12B"/>
                </a:solidFill>
                <a:latin typeface="Arial"/>
              </a:rPr>
              <a:t>Checked a second 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3310128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D4752"/>
                </a:solidFill>
                <a:latin typeface="Arial"/>
              </a:rPr>
              <a:t>A separate program reads the raw waveforms and agrees: every stage inverts, 154 of 154 times.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43891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12B"/>
                </a:solidFill>
                <a:latin typeface="Arial"/>
              </a:rPr>
              <a:t>The checks can fail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4773168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D4752"/>
                </a:solidFill>
                <a:latin typeface="Arial"/>
              </a:rPr>
              <a:t>We broke the circuit on purpose in 6 ways. Every break was caught.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103171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12B"/>
                </a:solidFill>
                <a:latin typeface="Arial"/>
              </a:rPr>
              <a:t>Is the energy meter right?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A7F5A"/>
                </a:solidFill>
                <a:latin typeface="Arial"/>
              </a:rPr>
              <a:t>+0.3 %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12B"/>
                </a:solidFill>
                <a:latin typeface="Arial"/>
              </a:rPr>
              <a:t>Static CMOS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2880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D4752"/>
                </a:solidFill>
                <a:latin typeface="Arial"/>
              </a:rPr>
              <a:t>Energy per fF of load must be VDD² = 3.240 fJ/fF. We measure 3.250.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0020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92024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A7F5A"/>
                </a:solidFill>
                <a:latin typeface="Arial"/>
              </a:rPr>
              <a:t>0.01 %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3017520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12B"/>
                </a:solidFill>
                <a:latin typeface="Arial"/>
              </a:rPr>
              <a:t>Resistor + capacitor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3520440"/>
            <a:ext cx="2880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D4752"/>
                </a:solidFill>
                <a:latin typeface="Arial"/>
              </a:rPr>
              <a:t>A case with an exact answer, driven by our clock ramp. We match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60020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3336" y="1920240"/>
            <a:ext cx="2880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A7F5A"/>
                </a:solidFill>
                <a:latin typeface="Arial"/>
              </a:rPr>
              <a:t>0.06 %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3017520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12B"/>
                </a:solidFill>
                <a:latin typeface="Arial"/>
              </a:rPr>
              <a:t>Smaller time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3520440"/>
            <a:ext cx="2880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3D4752"/>
                </a:solidFill>
                <a:latin typeface="Arial"/>
              </a:rPr>
              <a:t>4× finer steps and tighter tolerance move no result by more than this.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682"/>
                </a:solidFill>
                <a:latin typeface="Arial"/>
              </a:rPr>
              <a:t>The numbers are the error of the meter against the known answer. All three are far smaller than any difference we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103171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12B"/>
                </a:solidFill>
                <a:latin typeface="Arial"/>
              </a:rPr>
              <a:t>Does it follow the physics?</a:t>
            </a:r>
          </a:p>
        </p:txBody>
      </p:sp>
      <p:pic>
        <p:nvPicPr>
          <p:cNvPr id="5" name="Picture 4" descr="2lal_energy_vs_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943600" cy="41064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682"/>
                </a:solidFill>
                <a:latin typeface="Arial"/>
              </a:rPr>
              <a:t>2LAL energy vs load. Dashed: C and C² slopes.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12B"/>
                </a:solidFill>
                <a:latin typeface="Arial"/>
              </a:rPr>
              <a:t>Slower clock, less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801368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D4752"/>
                </a:solidFill>
                <a:latin typeface="Arial"/>
              </a:rPr>
              <a:t>2LAL energy falls almost as 1/T. Its fixed leftover loss is 0.11 fJ: essentially zero, as a fully adiabatic circuit should be.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8803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12B"/>
                </a:solidFill>
                <a:latin typeface="Arial"/>
              </a:rPr>
              <a:t>ECRL stops improving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264408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D4752"/>
                </a:solidFill>
                <a:latin typeface="Arial"/>
              </a:rPr>
              <a:t>It levels off near 15 fJ, the threshold-voltage loss the theory predicts for ECRL.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43434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7212B"/>
                </a:solidFill>
                <a:latin typeface="Arial"/>
              </a:rPr>
              <a:t>Bigger load, steeper 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4727448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D4752"/>
                </a:solidFill>
                <a:latin typeface="Arial"/>
              </a:rPr>
              <a:t>2LAL energy grows as C². The resistance this implies, 4.54 kΩ, matches the transmission gate measured on its own, 4.92 kΩ.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A7F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57200"/>
            <a:ext cx="1031717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12B"/>
                </a:solidFill>
                <a:latin typeface="Arial"/>
              </a:rPr>
              <a:t>Does it match published work?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B7682"/>
                </a:solidFill>
                <a:latin typeface="Arial"/>
              </a:rPr>
              <a:t>Published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7212B"/>
                </a:solidFill>
                <a:latin typeface="Arial"/>
              </a:rPr>
              <a:t>6.9 aJ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D4752"/>
                </a:solidFill>
                <a:latin typeface="Arial"/>
              </a:rPr>
              <a:t>Frank et al., ICRC 2020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3D4752"/>
                </a:solidFill>
                <a:latin typeface="Arial"/>
              </a:rPr>
              <a:t>Sandia 180 nm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E8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B7682"/>
                </a:solidFill>
                <a:latin typeface="Arial"/>
              </a:rPr>
              <a:t>Our circuit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8600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A7F5A"/>
                </a:solidFill>
                <a:latin typeface="Arial"/>
              </a:rPr>
              <a:t>8.1 aJ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7472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D4752"/>
                </a:solidFill>
                <a:latin typeface="Arial"/>
              </a:rPr>
              <a:t>Same operating point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3D4752"/>
                </a:solidFill>
                <a:latin typeface="Arial"/>
              </a:rPr>
              <a:t>SKY130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73736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A7F5A"/>
                </a:solidFill>
                <a:latin typeface="Arial"/>
              </a:rPr>
              <a:t>1.17×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65176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D4752"/>
                </a:solidFill>
                <a:latin typeface="Arial"/>
              </a:rPr>
              <a:t>Energy per transistor per clock cycle, for a 2LAL shift register at 1 MHz with a 10 fF load. Different process, same order and close.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682"/>
                </a:solidFill>
                <a:latin typeface="Arial"/>
              </a:rPr>
              <a:t>Our ring at their settings (W = 0.48 µm, L = 0.18 µm) also passes all 96 logic checks. We found no published ECRL or 2LAL result in SKY130 to compare against directly.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7212B"/>
                </a:solidFill>
                <a:latin typeface="Arial"/>
              </a:rPr>
              <a:t>What the checks caught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5394960" cy="40690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12B"/>
                </a:solidFill>
                <a:latin typeface="Arial"/>
              </a:rPr>
              <a:t>The 2LAL chain had a loose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D4752"/>
                </a:solidFill>
                <a:latin typeface="Arial"/>
              </a:rPr>
              <a:t>The last stage had nothing after it to reset it. It disturbed the stages we were measuring.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004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23A2E"/>
                </a:solidFill>
                <a:latin typeface="Arial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747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B23A2E"/>
                </a:solidFill>
                <a:latin typeface="Arial"/>
              </a:rPr>
              <a:t>44.05 fJ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004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7F5A"/>
                </a:solidFill>
                <a:latin typeface="Arial"/>
              </a:rPr>
              <a:t>After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4747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7F5A"/>
                </a:solidFill>
                <a:latin typeface="Arial"/>
              </a:rPr>
              <a:t>0.93 fJ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682"/>
                </a:solidFill>
                <a:latin typeface="Arial"/>
              </a:rPr>
              <a:t>at 100 ns: 47× too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006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12B"/>
                </a:solidFill>
                <a:latin typeface="Arial"/>
              </a:rPr>
              <a:t>Fix: close the chain into an 8-stage 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463040"/>
            <a:ext cx="5394960" cy="4069080"/>
          </a:xfrm>
          <a:prstGeom prst="roundRect">
            <a:avLst>
              <a:gd name="adj" fmla="val 6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916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7212B"/>
                </a:solidFill>
                <a:latin typeface="Arial"/>
              </a:rPr>
              <a:t>ECRL measured the wrong 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19456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3D4752"/>
                </a:solidFill>
                <a:latin typeface="Arial"/>
              </a:rPr>
              <a:t>The measured clock cycle had no data change in it, so it missed the loss that happens when the data flips.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2004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23A2E"/>
                </a:solidFill>
                <a:latin typeface="Arial"/>
              </a:rPr>
              <a:t>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4747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B23A2E"/>
                </a:solidFill>
                <a:latin typeface="Arial"/>
              </a:rPr>
              <a:t>5.36 fJ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32004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7F5A"/>
                </a:solidFill>
                <a:latin typeface="Arial"/>
              </a:rPr>
              <a:t>After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347472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7F5A"/>
                </a:solidFill>
                <a:latin typeface="Arial"/>
              </a:rPr>
              <a:t>12.46 fJ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160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682"/>
                </a:solidFill>
                <a:latin typeface="Arial"/>
              </a:rPr>
              <a:t>at 100 ns: 2.3× too 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48006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7212B"/>
                </a:solidFill>
                <a:latin typeface="Arial"/>
              </a:rPr>
              <a:t>Fix: change the data every cycle, measure that cycle.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Rerun it yourself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74519"/>
            <a:ext cx="6583680" cy="685800"/>
          </a:xfrm>
          <a:prstGeom prst="roundRect">
            <a:avLst>
              <a:gd name="adj" fmla="val 6000"/>
            </a:avLst>
          </a:prstGeom>
          <a:solidFill>
            <a:srgbClr val="263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874519"/>
            <a:ext cx="6217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E6EDF3"/>
                </a:solidFill>
                <a:latin typeface="Courier New"/>
              </a:rPr>
              <a:t>verification/verify_all.sh      (about 4 minutes)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FB0BF"/>
                </a:solidFill>
                <a:latin typeface="Arial"/>
              </a:rPr>
              <a:t>Logic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7FD1AE"/>
                </a:solidFill>
                <a:latin typeface="Arial"/>
              </a:rPr>
              <a:t>pass at every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9272" y="306324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FB0BF"/>
                </a:solidFill>
                <a:latin typeface="Arial"/>
              </a:rPr>
              <a:t>Broken-circuit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9272" y="34747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7FD1AE"/>
                </a:solidFill>
                <a:latin typeface="Arial"/>
              </a:rPr>
              <a:t>6 of 6 caught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9903" y="306324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FB0BF"/>
                </a:solidFill>
                <a:latin typeface="Arial"/>
              </a:rPr>
              <a:t>Meter and physics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9903" y="34747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7FD1AE"/>
                </a:solidFill>
                <a:latin typeface="Arial"/>
              </a:rPr>
              <a:t>28 of 28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0536" y="306324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FB0BF"/>
                </a:solidFill>
                <a:latin typeface="Arial"/>
              </a:rPr>
              <a:t>Length and load sweeps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0536" y="347472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7FD1AE"/>
                </a:solidFill>
                <a:latin typeface="Arial"/>
              </a:rPr>
              <a:t>11 of 11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8C4CF"/>
                </a:solidFill>
                <a:latin typeface="Arial"/>
              </a:rPr>
              <a:t>Limits: simulation only, one process corner (tt, 27 °C), inverters only, ideal clock source. The checks show the numbers are right for this setup, not that a chip would behave the same.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we trust the energy numbers?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